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43.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60" r:id="rId3"/>
  </p:sldMasterIdLst>
  <p:notesMasterIdLst>
    <p:notesMasterId r:id="rId5"/>
  </p:notesMasterIdLst>
  <p:sldIdLst>
    <p:sldId id="290" r:id="rId4"/>
    <p:sldId id="256" r:id="rId6"/>
    <p:sldId id="257" r:id="rId7"/>
    <p:sldId id="258" r:id="rId8"/>
    <p:sldId id="259" r:id="rId9"/>
    <p:sldId id="260" r:id="rId10"/>
    <p:sldId id="261" r:id="rId11"/>
    <p:sldId id="262" r:id="rId12"/>
    <p:sldId id="263" r:id="rId13"/>
    <p:sldId id="267" r:id="rId14"/>
    <p:sldId id="278" r:id="rId15"/>
    <p:sldId id="279" r:id="rId16"/>
    <p:sldId id="280" r:id="rId17"/>
    <p:sldId id="272" r:id="rId18"/>
    <p:sldId id="277" r:id="rId19"/>
    <p:sldId id="266" r:id="rId20"/>
    <p:sldId id="270" r:id="rId21"/>
    <p:sldId id="271" r:id="rId22"/>
    <p:sldId id="273" r:id="rId23"/>
    <p:sldId id="326" r:id="rId24"/>
    <p:sldId id="274" r:id="rId25"/>
    <p:sldId id="275" r:id="rId26"/>
    <p:sldId id="287" r:id="rId27"/>
    <p:sldId id="276" r:id="rId28"/>
    <p:sldId id="288" r:id="rId29"/>
    <p:sldId id="329" r:id="rId30"/>
    <p:sldId id="330" r:id="rId31"/>
    <p:sldId id="331" r:id="rId32"/>
    <p:sldId id="328" r:id="rId33"/>
    <p:sldId id="289" r:id="rId34"/>
    <p:sldId id="340" r:id="rId35"/>
    <p:sldId id="264" r:id="rId36"/>
    <p:sldId id="265" r:id="rId37"/>
  </p:sldIdLst>
  <p:sldSz cx="14630400" cy="8229600"/>
  <p:notesSz cx="8229600" cy="14630400"/>
  <p:embeddedFontLst>
    <p:embeddedFont>
      <p:font typeface="Barlow" panose="00000800000000000000" pitchFamily="34" charset="0"/>
      <p:bold r:id="rId41"/>
    </p:embeddedFont>
    <p:embeddedFont>
      <p:font typeface="Barlow" panose="00000800000000000000" pitchFamily="34" charset="-122"/>
      <p:bold r:id="rId42"/>
    </p:embeddedFont>
    <p:embeddedFont>
      <p:font typeface="Barlow" panose="00000800000000000000" pitchFamily="34" charset="-120"/>
      <p:bold r:id="rId43"/>
    </p:embeddedFont>
    <p:embeddedFont>
      <p:font typeface="Calibri" panose="020F0502020204030204" charset="0"/>
      <p:regular r:id="rId44"/>
      <p:bold r:id="rId45"/>
      <p:italic r:id="rId46"/>
      <p:boldItalic r:id="rId4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ableStyles" Target="tableStyles.xml"/><Relationship Id="rId41" Type="http://schemas.openxmlformats.org/officeDocument/2006/relationships/font" Target="fonts/font1.fntdata"/><Relationship Id="rId42" Type="http://schemas.openxmlformats.org/officeDocument/2006/relationships/font" Target="fonts/font2.fntdata"/><Relationship Id="rId43" Type="http://schemas.openxmlformats.org/officeDocument/2006/relationships/font" Target="fonts/font3.fntdata"/><Relationship Id="rId44" Type="http://schemas.openxmlformats.org/officeDocument/2006/relationships/font" Target="fonts/font4.fntdata"/><Relationship Id="rId45" Type="http://schemas.openxmlformats.org/officeDocument/2006/relationships/font" Target="fonts/font5.fntdata"/><Relationship Id="rId46" Type="http://schemas.openxmlformats.org/officeDocument/2006/relationships/font" Target="fonts/font6.fntdata"/><Relationship Id="rId47"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20.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slideLayout" Target="../slideLayouts/slideLayout6.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slideLayout" Target="../slideLayouts/slideLayout7.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8.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20.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20.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7.jpeg"/><Relationship Id="rId2" Type="http://schemas.openxmlformats.org/officeDocument/2006/relationships/slideLayout" Target="../slideLayouts/slideLayout20.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20.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slideLayout" Target="../slideLayouts/slideLayout20.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22.emf"/><Relationship Id="rId2" Type="http://schemas.openxmlformats.org/officeDocument/2006/relationships/image" Target="../media/image23.emf"/><Relationship Id="rId3" Type="http://schemas.openxmlformats.org/officeDocument/2006/relationships/slideLayout" Target="../slideLayouts/slideLayout20.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24.emf"/><Relationship Id="rId2" Type="http://schemas.openxmlformats.org/officeDocument/2006/relationships/slideLayout" Target="../slideLayouts/slideLayout20.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25.emf"/><Relationship Id="rId2" Type="http://schemas.openxmlformats.org/officeDocument/2006/relationships/image" Target="../media/image26.emf"/><Relationship Id="rId3" Type="http://schemas.openxmlformats.org/officeDocument/2006/relationships/image" Target="../media/image27.emf"/><Relationship Id="rId4" Type="http://schemas.openxmlformats.org/officeDocument/2006/relationships/slideLayout" Target="../slideLayouts/slideLayout20.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20.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slideLayout" Target="../slideLayouts/slideLayout20.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33.jpeg"/><Relationship Id="rId2"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image" Target="../media/image34.png"/><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slideLayout" Target="../slideLayouts/slideLayout20.xml"/><Relationship Id="rId6"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slideLayout" Target="../slideLayouts/slideLayout20.xml"/><Relationship Id="rId6"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image" Target="../media/image42.jpeg"/><Relationship Id="rId2" Type="http://schemas.openxmlformats.org/officeDocument/2006/relationships/image" Target="../media/image43.webp"/><Relationship Id="rId3" Type="http://schemas.openxmlformats.org/officeDocument/2006/relationships/slideLayout" Target="../slideLayouts/slideLayout20.xml"/><Relationship Id="rId4"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20.xml"/><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image" Target="../media/image44.png"/><Relationship Id="rId2" Type="http://schemas.openxmlformats.org/officeDocument/2006/relationships/slideLayout" Target="../slideLayouts/slideLayout20.xml"/><Relationship Id="rId3"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image" Target="../media/image45.png"/><Relationship Id="rId2" Type="http://schemas.openxmlformats.org/officeDocument/2006/relationships/slideLayout" Target="../slideLayouts/slideLayout9.xml"/><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image" Target="../media/image46.png"/><Relationship Id="rId2" Type="http://schemas.openxmlformats.org/officeDocument/2006/relationships/slideLayout" Target="../slideLayouts/slideLayout9.xml"/><Relationship Id="rId3"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image" Target="../media/image47.png"/><Relationship Id="rId2" Type="http://schemas.openxmlformats.org/officeDocument/2006/relationships/slideLayout" Target="../slideLayouts/slideLayout9.xml"/><Relationship Id="rId3"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image" Target="../media/image48.png"/><Relationship Id="rId2" Type="http://schemas.openxmlformats.org/officeDocument/2006/relationships/slideLayout" Target="../slideLayouts/slideLayout9.xml"/><Relationship Id="rId3"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image" Target="../media/image49.png"/><Relationship Id="rId2" Type="http://schemas.openxmlformats.org/officeDocument/2006/relationships/slideLayout" Target="../slideLayouts/slideLayout20.xml"/><Relationship Id="rId3"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image" Target="../media/image50.png"/><Relationship Id="rId2" Type="http://schemas.openxmlformats.org/officeDocument/2006/relationships/slideLayout" Target="../slideLayouts/slideLayout9.xml"/><Relationship Id="rId3"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0.xml"/><Relationship Id="rId3"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1"/>
          <a:stretch>
            <a:fillRect/>
          </a:stretch>
        </p:blipFill>
        <p:spPr>
          <a:xfrm>
            <a:off x="7598410" y="3175"/>
            <a:ext cx="7031990" cy="8227060"/>
          </a:xfrm>
          <a:prstGeom prst="rect">
            <a:avLst/>
          </a:prstGeom>
        </p:spPr>
      </p:pic>
      <p:pic>
        <p:nvPicPr>
          <p:cNvPr id="2" name="Image 1"/>
          <p:cNvPicPr/>
          <p:nvPr/>
        </p:nvPicPr>
        <p:blipFill>
          <a:blip r:embed="rId2"/>
          <a:stretch>
            <a:fillRect/>
          </a:stretch>
        </p:blipFill>
        <p:spPr>
          <a:xfrm>
            <a:off x="216535" y="0"/>
            <a:ext cx="3404235" cy="2356485"/>
          </a:xfrm>
          <a:prstGeom prst="rect">
            <a:avLst/>
          </a:prstGeom>
        </p:spPr>
      </p:pic>
      <p:sp>
        <p:nvSpPr>
          <p:cNvPr id="3" name="Zone de texte 2"/>
          <p:cNvSpPr txBox="1"/>
          <p:nvPr/>
        </p:nvSpPr>
        <p:spPr>
          <a:xfrm>
            <a:off x="881380" y="3079115"/>
            <a:ext cx="5851525" cy="1162685"/>
          </a:xfrm>
          <a:prstGeom prst="rect">
            <a:avLst/>
          </a:prstGeom>
          <a:noFill/>
        </p:spPr>
        <p:txBody>
          <a:bodyPr wrap="square" rtlCol="0" anchor="t">
            <a:noAutofit/>
          </a:bodyPr>
          <a:p>
            <a:r>
              <a:rPr lang="fr-BE" altLang="en-US" sz="3200" b="1" i="1">
                <a:solidFill>
                  <a:srgbClr val="C00000"/>
                </a:solidFill>
                <a:sym typeface="+mn-ea"/>
              </a:rPr>
              <a:t>Projet de fin d’étude : </a:t>
            </a:r>
            <a:r>
              <a:rPr lang="en-US" altLang="fr-CA" sz="3200" b="1" i="1">
                <a:solidFill>
                  <a:schemeClr val="bg1"/>
                </a:solidFill>
                <a:sym typeface="+mn-ea"/>
              </a:rPr>
              <a:t>Conception d’une Maison Intelligente avec IA : S</a:t>
            </a:r>
            <a:r>
              <a:rPr lang="en-US" altLang="en-US" sz="3200" b="1" i="1">
                <a:solidFill>
                  <a:schemeClr val="bg1"/>
                </a:solidFill>
                <a:sym typeface="+mn-ea"/>
              </a:rPr>
              <a:t>é</a:t>
            </a:r>
            <a:r>
              <a:rPr lang="en-US" altLang="fr-CA" sz="3200" b="1" i="1">
                <a:solidFill>
                  <a:schemeClr val="bg1"/>
                </a:solidFill>
                <a:sym typeface="+mn-ea"/>
              </a:rPr>
              <a:t>curit</a:t>
            </a:r>
            <a:r>
              <a:rPr lang="en-US" altLang="en-US" sz="3200" b="1" i="1">
                <a:solidFill>
                  <a:schemeClr val="bg1"/>
                </a:solidFill>
                <a:sym typeface="+mn-ea"/>
              </a:rPr>
              <a:t>é</a:t>
            </a:r>
            <a:r>
              <a:rPr lang="en-US" altLang="fr-CA" sz="3200" b="1" i="1">
                <a:solidFill>
                  <a:schemeClr val="bg1"/>
                </a:solidFill>
                <a:sym typeface="+mn-ea"/>
              </a:rPr>
              <a:t>, Bien-</a:t>
            </a:r>
            <a:r>
              <a:rPr lang="en-US" altLang="en-US" sz="3200" b="1" i="1">
                <a:solidFill>
                  <a:schemeClr val="bg1"/>
                </a:solidFill>
                <a:sym typeface="+mn-ea"/>
              </a:rPr>
              <a:t>ê</a:t>
            </a:r>
            <a:r>
              <a:rPr lang="en-US" altLang="fr-CA" sz="3200" b="1" i="1">
                <a:solidFill>
                  <a:schemeClr val="bg1"/>
                </a:solidFill>
                <a:sym typeface="+mn-ea"/>
              </a:rPr>
              <a:t>tre et Efficacit</a:t>
            </a:r>
            <a:r>
              <a:rPr lang="en-US" altLang="en-US" sz="3200" b="1" i="1">
                <a:solidFill>
                  <a:schemeClr val="bg1"/>
                </a:solidFill>
                <a:sym typeface="+mn-ea"/>
              </a:rPr>
              <a:t>é</a:t>
            </a:r>
            <a:r>
              <a:rPr lang="en-US" altLang="fr-CA" sz="3200" b="1" i="1">
                <a:solidFill>
                  <a:schemeClr val="bg1"/>
                </a:solidFill>
                <a:sym typeface="+mn-ea"/>
              </a:rPr>
              <a:t> </a:t>
            </a:r>
            <a:r>
              <a:rPr lang="en-US" altLang="en-US" sz="3200" b="1" i="1">
                <a:solidFill>
                  <a:schemeClr val="bg1"/>
                </a:solidFill>
                <a:sym typeface="+mn-ea"/>
              </a:rPr>
              <a:t>É</a:t>
            </a:r>
            <a:r>
              <a:rPr lang="en-US" altLang="fr-CA" sz="3200" b="1" i="1">
                <a:solidFill>
                  <a:schemeClr val="bg1"/>
                </a:solidFill>
                <a:sym typeface="+mn-ea"/>
              </a:rPr>
              <a:t>nerg</a:t>
            </a:r>
            <a:r>
              <a:rPr lang="en-US" altLang="en-US" sz="3200" b="1" i="1">
                <a:solidFill>
                  <a:schemeClr val="bg1"/>
                </a:solidFill>
                <a:sym typeface="+mn-ea"/>
              </a:rPr>
              <a:t>é</a:t>
            </a:r>
            <a:r>
              <a:rPr lang="en-US" altLang="fr-CA" sz="3200" b="1" i="1">
                <a:solidFill>
                  <a:schemeClr val="bg1"/>
                </a:solidFill>
                <a:sym typeface="+mn-ea"/>
              </a:rPr>
              <a:t>tique</a:t>
            </a:r>
            <a:endParaRPr lang="en-US" altLang="fr-CA" sz="3200" b="1" i="1">
              <a:solidFill>
                <a:srgbClr val="C00000"/>
              </a:solidFill>
              <a:sym typeface="+mn-ea"/>
            </a:endParaRPr>
          </a:p>
          <a:p>
            <a:endParaRPr lang="en-US" altLang="fr-CA" sz="3200" b="1">
              <a:solidFill>
                <a:srgbClr val="C00000"/>
              </a:solidFill>
              <a:sym typeface="+mn-ea"/>
            </a:endParaRPr>
          </a:p>
          <a:p>
            <a:endParaRPr lang="en-US" altLang="fr-CA" sz="3200" b="1">
              <a:solidFill>
                <a:srgbClr val="C00000"/>
              </a:solidFill>
              <a:sym typeface="+mn-ea"/>
            </a:endParaRPr>
          </a:p>
          <a:p>
            <a:endParaRPr lang="en-US" altLang="fr-CA" sz="3200" b="1">
              <a:solidFill>
                <a:srgbClr val="C00000"/>
              </a:solidFill>
              <a:sym typeface="+mn-ea"/>
            </a:endParaRPr>
          </a:p>
          <a:p>
            <a:endParaRPr lang="en-US" altLang="fr-CA" sz="3200" b="1">
              <a:solidFill>
                <a:srgbClr val="C00000"/>
              </a:solidFill>
              <a:sym typeface="+mn-ea"/>
            </a:endParaRPr>
          </a:p>
          <a:p>
            <a:endParaRPr lang="en-US" altLang="fr-CA" sz="3200" b="1">
              <a:solidFill>
                <a:srgbClr val="C00000"/>
              </a:solidFill>
              <a:sym typeface="+mn-ea"/>
            </a:endParaRPr>
          </a:p>
          <a:p>
            <a:endParaRPr lang="en-US" altLang="fr-CA" sz="3200" b="1">
              <a:solidFill>
                <a:srgbClr val="C00000"/>
              </a:solidFill>
              <a:sym typeface="+mn-ea"/>
            </a:endParaRPr>
          </a:p>
          <a:p>
            <a:endParaRPr lang="en-US" altLang="fr-CA" sz="3200" b="1">
              <a:solidFill>
                <a:srgbClr val="C00000"/>
              </a:solidFill>
              <a:sym typeface="+mn-ea"/>
            </a:endParaRPr>
          </a:p>
          <a:p>
            <a:endParaRPr lang="en-US" altLang="fr-CA" sz="3200" b="1">
              <a:solidFill>
                <a:srgbClr val="C00000"/>
              </a:solidFill>
              <a:sym typeface="+mn-ea"/>
            </a:endParaRPr>
          </a:p>
        </p:txBody>
      </p:sp>
      <p:sp>
        <p:nvSpPr>
          <p:cNvPr id="5" name="Zone de texte 4"/>
          <p:cNvSpPr txBox="1"/>
          <p:nvPr/>
        </p:nvSpPr>
        <p:spPr>
          <a:xfrm>
            <a:off x="39370" y="5598795"/>
            <a:ext cx="4304030" cy="2426335"/>
          </a:xfrm>
          <a:prstGeom prst="rect">
            <a:avLst/>
          </a:prstGeom>
          <a:noFill/>
        </p:spPr>
        <p:txBody>
          <a:bodyPr wrap="square" rtlCol="0" anchor="t">
            <a:noAutofit/>
          </a:bodyPr>
          <a:p>
            <a:r>
              <a:rPr lang="fr-BE" altLang="en-US" sz="2400" b="1" i="1">
                <a:solidFill>
                  <a:srgbClr val="C00000"/>
                </a:solidFill>
                <a:sym typeface="+mn-ea"/>
              </a:rPr>
              <a:t>Proposé à l'événement State Competition for Youth Urban Innovation</a:t>
            </a:r>
            <a:endParaRPr lang="fr-BE" altLang="en-US" sz="2400" b="1" i="1">
              <a:solidFill>
                <a:srgbClr val="C00000"/>
              </a:solidFill>
              <a:sym typeface="+mn-ea"/>
            </a:endParaRPr>
          </a:p>
          <a:p>
            <a:endParaRPr lang="fr-BE" altLang="en-US" sz="2400" b="1" i="1">
              <a:solidFill>
                <a:schemeClr val="bg1"/>
              </a:solidFill>
              <a:sym typeface="+mn-ea"/>
            </a:endParaRPr>
          </a:p>
          <a:p>
            <a:r>
              <a:rPr lang="fr-BE" altLang="en-US" sz="2400" b="1" i="1">
                <a:solidFill>
                  <a:schemeClr val="bg1"/>
                </a:solidFill>
                <a:sym typeface="+mn-ea"/>
              </a:rPr>
              <a:t/>
            </a:r>
            <a:endParaRPr lang="fr-BE" altLang="en-US" sz="2400" b="1" i="1">
              <a:solidFill>
                <a:schemeClr val="bg1"/>
              </a:solidFill>
              <a:sym typeface="+mn-ea"/>
            </a:endParaRPr>
          </a:p>
          <a:p>
            <a:r>
              <a:rPr lang="fr-BE" altLang="en-US" sz="2400" b="1" i="1">
                <a:solidFill>
                  <a:schemeClr val="bg1"/>
                </a:solidFill>
                <a:sym typeface="+mn-ea"/>
              </a:rPr>
              <a:t/>
            </a:r>
            <a:endParaRPr lang="fr-BE" altLang="en-US" sz="2400" b="1" i="1">
              <a:solidFill>
                <a:schemeClr val="bg1"/>
              </a:solidFill>
              <a:sym typeface="+mn-ea"/>
            </a:endParaRPr>
          </a:p>
          <a:p>
            <a:r>
              <a:rPr lang="fr-BE" altLang="en-US" sz="2400" b="1" i="1">
                <a:solidFill>
                  <a:schemeClr val="bg1"/>
                </a:solidFill>
                <a:sym typeface="+mn-ea"/>
              </a:rPr>
              <a:t/>
            </a:r>
            <a:endParaRPr lang="fr-BE" altLang="en-US" sz="2400" b="1" i="1">
              <a:solidFill>
                <a:schemeClr val="bg1"/>
              </a:solidFill>
              <a:sym typeface="+mn-ea"/>
            </a:endParaRPr>
          </a:p>
        </p:txBody>
      </p:sp>
      <p:sp>
        <p:nvSpPr>
          <p:cNvPr id="6" name="Zone de texte 5"/>
          <p:cNvSpPr txBox="1"/>
          <p:nvPr/>
        </p:nvSpPr>
        <p:spPr>
          <a:xfrm>
            <a:off x="4343400" y="5781675"/>
            <a:ext cx="5059680" cy="2061210"/>
          </a:xfrm>
          <a:prstGeom prst="rect">
            <a:avLst/>
          </a:prstGeom>
          <a:noFill/>
        </p:spPr>
        <p:txBody>
          <a:bodyPr wrap="square" rtlCol="0" anchor="t">
            <a:spAutoFit/>
          </a:bodyPr>
          <a:p>
            <a:r>
              <a:rPr lang="fr-BE" altLang="en-US" sz="2400" b="1" i="1">
                <a:solidFill>
                  <a:srgbClr val="C00000"/>
                </a:solidFill>
                <a:sym typeface="+mn-ea"/>
              </a:rPr>
              <a:t/>
            </a:r>
            <a:endParaRPr lang="fr-BE" altLang="en-US" sz="2400" b="1" i="1">
              <a:solidFill>
                <a:srgbClr val="C00000"/>
              </a:solidFill>
              <a:sym typeface="+mn-ea"/>
            </a:endParaRPr>
          </a:p>
          <a:p>
            <a:endParaRPr lang="fr-BE" altLang="en-US" sz="2400" b="1" i="1">
              <a:solidFill>
                <a:srgbClr val="C00000"/>
              </a:solidFill>
              <a:sym typeface="+mn-ea"/>
            </a:endParaRPr>
          </a:p>
          <a:p>
            <a:endParaRPr lang="fr-BE" altLang="en-US" sz="2400" b="1" i="1">
              <a:solidFill>
                <a:srgbClr val="C00000"/>
              </a:solidFill>
              <a:sym typeface="+mn-ea"/>
            </a:endParaRPr>
          </a:p>
          <a:p>
            <a:r>
              <a:rPr lang="fr-BE" altLang="en-US" sz="2400" b="1" i="1">
                <a:solidFill>
                  <a:schemeClr val="bg1"/>
                </a:solidFill>
                <a:sym typeface="+mn-ea"/>
              </a:rPr>
              <a:t/>
            </a:r>
            <a:endParaRPr lang="fr-BE" altLang="en-US" sz="2400" b="1" i="1">
              <a:solidFill>
                <a:schemeClr val="bg1"/>
              </a:solidFill>
              <a:sym typeface="+mn-ea"/>
            </a:endParaRPr>
          </a:p>
          <a:p>
            <a:r>
              <a:rPr lang="fr-BE" altLang="en-US" sz="2400" b="1" i="1">
                <a:solidFill>
                  <a:schemeClr val="bg1"/>
                </a:solidFill>
                <a:sym typeface="+mn-ea"/>
              </a:rPr>
              <a:t/>
            </a:r>
            <a:r>
              <a:rPr lang="fr-BE" altLang="en-US" sz="3200" b="1" i="1">
                <a:solidFill>
                  <a:srgbClr val="C00000"/>
                </a:solidFill>
                <a:sym typeface="+mn-ea"/>
              </a:rPr>
              <a:t/>
            </a:r>
            <a:endParaRPr lang="fr-BE" altLang="en-US" sz="3200" b="1" i="1">
              <a:solidFill>
                <a:srgbClr val="C00000"/>
              </a:solidFill>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4892040" cy="8229600"/>
          </a:xfrm>
          <a:prstGeom prst="rect">
            <a:avLst/>
          </a:prstGeom>
        </p:spPr>
      </p:pic>
      <p:sp>
        <p:nvSpPr>
          <p:cNvPr id="3" name="Text 0"/>
          <p:cNvSpPr/>
          <p:nvPr/>
        </p:nvSpPr>
        <p:spPr>
          <a:xfrm>
            <a:off x="6118860" y="0"/>
            <a:ext cx="8470900" cy="3422015"/>
          </a:xfrm>
          <a:prstGeom prst="rect">
            <a:avLst/>
          </a:prstGeom>
          <a:noFill/>
        </p:spPr>
        <p:txBody>
          <a:bodyPr wrap="square" lIns="0" tIns="0" rIns="0" bIns="0" rtlCol="0" anchor="t"/>
          <a:lstStyle/>
          <a:p>
            <a:pPr marL="0" indent="0">
              <a:lnSpc>
                <a:spcPts val="6700"/>
              </a:lnSpc>
              <a:buNone/>
            </a:pPr>
            <a:r>
              <a:rPr lang="en-US" altLang="fr-CA" sz="4400" dirty="0">
                <a:solidFill>
                  <a:schemeClr val="bg1"/>
                </a:solidFill>
              </a:rPr>
              <a:t>L'IoT pour une Maison Intelligente et une Gestion </a:t>
            </a:r>
            <a:r>
              <a:rPr lang="en-US" altLang="en-US" sz="4400" dirty="0">
                <a:solidFill>
                  <a:schemeClr val="bg1"/>
                </a:solidFill>
              </a:rPr>
              <a:t>É</a:t>
            </a:r>
            <a:r>
              <a:rPr lang="en-US" altLang="fr-CA" sz="4400" dirty="0">
                <a:solidFill>
                  <a:schemeClr val="bg1"/>
                </a:solidFill>
              </a:rPr>
              <a:t>nerg</a:t>
            </a:r>
            <a:r>
              <a:rPr lang="en-US" altLang="en-US" sz="4400" dirty="0">
                <a:solidFill>
                  <a:schemeClr val="bg1"/>
                </a:solidFill>
              </a:rPr>
              <a:t>é</a:t>
            </a:r>
            <a:r>
              <a:rPr lang="en-US" altLang="fr-CA" sz="4400" dirty="0">
                <a:solidFill>
                  <a:schemeClr val="bg1"/>
                </a:solidFill>
              </a:rPr>
              <a:t>tique Optimis</a:t>
            </a:r>
            <a:r>
              <a:rPr lang="en-US" altLang="en-US" sz="4400" dirty="0">
                <a:solidFill>
                  <a:schemeClr val="bg1"/>
                </a:solidFill>
              </a:rPr>
              <a:t>é</a:t>
            </a:r>
            <a:r>
              <a:rPr lang="en-US" altLang="fr-CA" sz="4400" dirty="0">
                <a:solidFill>
                  <a:schemeClr val="bg1"/>
                </a:solidFill>
              </a:rPr>
              <a:t>e</a:t>
            </a:r>
            <a:endParaRPr lang="en-US" altLang="fr-CA" sz="4400" dirty="0">
              <a:solidFill>
                <a:schemeClr val="bg1"/>
              </a:solidFill>
            </a:endParaRPr>
          </a:p>
        </p:txBody>
      </p:sp>
      <p:sp>
        <p:nvSpPr>
          <p:cNvPr id="4" name="Text 1"/>
          <p:cNvSpPr/>
          <p:nvPr/>
        </p:nvSpPr>
        <p:spPr>
          <a:xfrm>
            <a:off x="4893310" y="2278380"/>
            <a:ext cx="9737725" cy="4431030"/>
          </a:xfrm>
          <a:prstGeom prst="rect">
            <a:avLst/>
          </a:prstGeom>
          <a:noFill/>
        </p:spPr>
        <p:txBody>
          <a:bodyPr wrap="square" lIns="0" tIns="0" rIns="0" bIns="0" rtlCol="0" anchor="t"/>
          <a:lstStyle/>
          <a:p>
            <a:pPr marL="0" indent="0">
              <a:lnSpc>
                <a:spcPts val="2800"/>
              </a:lnSpc>
              <a:buNone/>
            </a:pPr>
            <a:r>
              <a:rPr lang="en-US" altLang="en-US" sz="2400" dirty="0">
                <a:gradFill>
                  <a:gsLst>
                    <a:gs pos="0">
                      <a:srgbClr val="14CD68"/>
                    </a:gs>
                    <a:gs pos="100000">
                      <a:srgbClr val="0B6E38"/>
                    </a:gs>
                  </a:gsLst>
                  <a:lin scaled="0"/>
                </a:gradFill>
              </a:rPr>
              <a:t>✅</a:t>
            </a:r>
            <a:r>
              <a:rPr lang="en-US" altLang="fr-CA" sz="2400" dirty="0">
                <a:gradFill>
                  <a:gsLst>
                    <a:gs pos="0">
                      <a:srgbClr val="14CD68"/>
                    </a:gs>
                    <a:gs pos="100000">
                      <a:srgbClr val="0B6E38"/>
                    </a:gs>
                  </a:gsLst>
                  <a:lin scaled="0"/>
                </a:gradFill>
              </a:rPr>
              <a:t> Transformation par l’IoT : </a:t>
            </a:r>
            <a:r>
              <a:rPr lang="en-US" altLang="fr-CA" sz="2400" dirty="0">
                <a:solidFill>
                  <a:schemeClr val="bg1"/>
                </a:solidFill>
              </a:rPr>
              <a:t>Am</a:t>
            </a:r>
            <a:r>
              <a:rPr lang="en-US" altLang="en-US" sz="2400" dirty="0">
                <a:solidFill>
                  <a:schemeClr val="bg1"/>
                </a:solidFill>
              </a:rPr>
              <a:t>é</a:t>
            </a:r>
            <a:r>
              <a:rPr lang="en-US" altLang="fr-CA" sz="2400" dirty="0">
                <a:solidFill>
                  <a:schemeClr val="bg1"/>
                </a:solidFill>
              </a:rPr>
              <a:t>lioration de l’interaction avec les maisons et la gestion de l’</a:t>
            </a:r>
            <a:r>
              <a:rPr lang="en-US" altLang="en-US" sz="2400" dirty="0">
                <a:solidFill>
                  <a:schemeClr val="bg1"/>
                </a:solidFill>
              </a:rPr>
              <a:t>é</a:t>
            </a:r>
            <a:r>
              <a:rPr lang="en-US" altLang="fr-CA" sz="2400" dirty="0">
                <a:solidFill>
                  <a:schemeClr val="bg1"/>
                </a:solidFill>
              </a:rPr>
              <a:t>nergie.</a:t>
            </a:r>
            <a:endParaRPr lang="en-US" altLang="fr-CA" sz="2400" dirty="0">
              <a:solidFill>
                <a:schemeClr val="bg1"/>
              </a:solidFill>
            </a:endParaRPr>
          </a:p>
          <a:p>
            <a:pPr marL="0" indent="0">
              <a:lnSpc>
                <a:spcPts val="2800"/>
              </a:lnSpc>
              <a:buNone/>
            </a:pPr>
            <a:endParaRPr lang="en-US" altLang="fr-CA" sz="2400" dirty="0">
              <a:solidFill>
                <a:schemeClr val="bg1"/>
              </a:solidFill>
            </a:endParaRPr>
          </a:p>
          <a:p>
            <a:pPr marL="0" indent="0">
              <a:lnSpc>
                <a:spcPts val="2800"/>
              </a:lnSpc>
              <a:buNone/>
            </a:pPr>
            <a:r>
              <a:rPr lang="en-US" altLang="en-US" sz="2400" dirty="0">
                <a:gradFill>
                  <a:gsLst>
                    <a:gs pos="0">
                      <a:srgbClr val="14CD68"/>
                    </a:gs>
                    <a:gs pos="100000">
                      <a:srgbClr val="0B6E38"/>
                    </a:gs>
                  </a:gsLst>
                  <a:lin scaled="0"/>
                </a:gradFill>
              </a:rPr>
              <a:t>✅</a:t>
            </a:r>
            <a:r>
              <a:rPr lang="en-US" altLang="fr-CA" sz="2400" dirty="0">
                <a:gradFill>
                  <a:gsLst>
                    <a:gs pos="0">
                      <a:srgbClr val="14CD68"/>
                    </a:gs>
                    <a:gs pos="100000">
                      <a:srgbClr val="0B6E38"/>
                    </a:gs>
                  </a:gsLst>
                  <a:lin scaled="0"/>
                </a:gradFill>
              </a:rPr>
              <a:t> Connectivit</a:t>
            </a:r>
            <a:r>
              <a:rPr lang="en-US" altLang="en-US" sz="2400" dirty="0">
                <a:gradFill>
                  <a:gsLst>
                    <a:gs pos="0">
                      <a:srgbClr val="14CD68"/>
                    </a:gs>
                    <a:gs pos="100000">
                      <a:srgbClr val="0B6E38"/>
                    </a:gs>
                  </a:gsLst>
                  <a:lin scaled="0"/>
                </a:gradFill>
              </a:rPr>
              <a:t>é</a:t>
            </a:r>
            <a:r>
              <a:rPr lang="en-US" altLang="fr-CA" sz="2400" dirty="0">
                <a:gradFill>
                  <a:gsLst>
                    <a:gs pos="0">
                      <a:srgbClr val="14CD68"/>
                    </a:gs>
                    <a:gs pos="100000">
                      <a:srgbClr val="0B6E38"/>
                    </a:gs>
                  </a:gsLst>
                  <a:lin scaled="0"/>
                </a:gradFill>
              </a:rPr>
              <a:t> intelligente :</a:t>
            </a:r>
            <a:r>
              <a:rPr lang="en-US" altLang="fr-CA" sz="2400" dirty="0">
                <a:solidFill>
                  <a:schemeClr val="bg1"/>
                </a:solidFill>
              </a:rPr>
              <a:t> Utilisation d’appareils et de capteurs pour automatiser les foyers.</a:t>
            </a:r>
            <a:endParaRPr lang="en-US" altLang="fr-CA" sz="2400" dirty="0">
              <a:solidFill>
                <a:schemeClr val="bg1"/>
              </a:solidFill>
            </a:endParaRPr>
          </a:p>
          <a:p>
            <a:pPr marL="0" indent="0">
              <a:lnSpc>
                <a:spcPts val="2800"/>
              </a:lnSpc>
              <a:buNone/>
            </a:pPr>
            <a:endParaRPr lang="en-US" altLang="fr-CA" sz="2400" dirty="0">
              <a:solidFill>
                <a:schemeClr val="bg1"/>
              </a:solidFill>
            </a:endParaRPr>
          </a:p>
          <a:p>
            <a:pPr marL="0" indent="0">
              <a:lnSpc>
                <a:spcPts val="2800"/>
              </a:lnSpc>
              <a:buNone/>
            </a:pPr>
            <a:r>
              <a:rPr lang="en-US" altLang="en-US" sz="2400" dirty="0">
                <a:gradFill>
                  <a:gsLst>
                    <a:gs pos="0">
                      <a:srgbClr val="14CD68"/>
                    </a:gs>
                    <a:gs pos="100000">
                      <a:srgbClr val="0B6E38"/>
                    </a:gs>
                  </a:gsLst>
                  <a:lin scaled="0"/>
                </a:gradFill>
              </a:rPr>
              <a:t>✅</a:t>
            </a:r>
            <a:r>
              <a:rPr lang="en-US" altLang="fr-CA" sz="2400" dirty="0">
                <a:gradFill>
                  <a:gsLst>
                    <a:gs pos="0">
                      <a:srgbClr val="14CD68"/>
                    </a:gs>
                    <a:gs pos="100000">
                      <a:srgbClr val="0B6E38"/>
                    </a:gs>
                  </a:gsLst>
                  <a:lin scaled="0"/>
                </a:gradFill>
              </a:rPr>
              <a:t> Avantages :</a:t>
            </a:r>
            <a:endParaRPr lang="en-US" altLang="fr-CA" sz="2400" dirty="0">
              <a:solidFill>
                <a:schemeClr val="bg1"/>
              </a:solidFill>
            </a:endParaRPr>
          </a:p>
          <a:p>
            <a:pPr marL="0" indent="0">
              <a:lnSpc>
                <a:spcPts val="2800"/>
              </a:lnSpc>
              <a:buNone/>
            </a:pPr>
            <a:r>
              <a:rPr lang="en-US" altLang="fr-CA" sz="2400" dirty="0">
                <a:solidFill>
                  <a:schemeClr val="bg1"/>
                </a:solidFill>
              </a:rPr>
              <a:t>Maisons plus intelligentes</a:t>
            </a:r>
            <a:endParaRPr lang="en-US" altLang="fr-CA" sz="2400" dirty="0">
              <a:solidFill>
                <a:schemeClr val="bg1"/>
              </a:solidFill>
            </a:endParaRPr>
          </a:p>
          <a:p>
            <a:pPr marL="0" indent="0">
              <a:lnSpc>
                <a:spcPts val="2800"/>
              </a:lnSpc>
              <a:buNone/>
            </a:pPr>
            <a:r>
              <a:rPr lang="en-US" altLang="fr-CA" sz="2400" dirty="0">
                <a:solidFill>
                  <a:schemeClr val="bg1"/>
                </a:solidFill>
              </a:rPr>
              <a:t>R</a:t>
            </a:r>
            <a:r>
              <a:rPr lang="en-US" altLang="en-US" sz="2400" dirty="0">
                <a:solidFill>
                  <a:schemeClr val="bg1"/>
                </a:solidFill>
              </a:rPr>
              <a:t>é</a:t>
            </a:r>
            <a:r>
              <a:rPr lang="en-US" altLang="fr-CA" sz="2400" dirty="0">
                <a:solidFill>
                  <a:schemeClr val="bg1"/>
                </a:solidFill>
              </a:rPr>
              <a:t>duction de la consommation d’</a:t>
            </a:r>
            <a:r>
              <a:rPr lang="en-US" altLang="en-US" sz="2400" dirty="0">
                <a:solidFill>
                  <a:schemeClr val="bg1"/>
                </a:solidFill>
              </a:rPr>
              <a:t>é</a:t>
            </a:r>
            <a:r>
              <a:rPr lang="en-US" altLang="fr-CA" sz="2400" dirty="0">
                <a:solidFill>
                  <a:schemeClr val="bg1"/>
                </a:solidFill>
              </a:rPr>
              <a:t>nergie</a:t>
            </a:r>
            <a:endParaRPr lang="en-US" altLang="fr-CA" sz="2400" dirty="0">
              <a:solidFill>
                <a:schemeClr val="bg1"/>
              </a:solidFill>
            </a:endParaRPr>
          </a:p>
          <a:p>
            <a:pPr marL="0" indent="0">
              <a:lnSpc>
                <a:spcPts val="2800"/>
              </a:lnSpc>
              <a:buNone/>
            </a:pPr>
            <a:r>
              <a:rPr lang="en-US" altLang="fr-CA" sz="2400" dirty="0">
                <a:solidFill>
                  <a:schemeClr val="bg1"/>
                </a:solidFill>
              </a:rPr>
              <a:t>Confort am</a:t>
            </a:r>
            <a:r>
              <a:rPr lang="en-US" altLang="en-US" sz="2400" dirty="0">
                <a:solidFill>
                  <a:schemeClr val="bg1"/>
                </a:solidFill>
              </a:rPr>
              <a:t>é</a:t>
            </a:r>
            <a:r>
              <a:rPr lang="en-US" altLang="fr-CA" sz="2400" dirty="0">
                <a:solidFill>
                  <a:schemeClr val="bg1"/>
                </a:solidFill>
              </a:rPr>
              <a:t>lior</a:t>
            </a:r>
            <a:r>
              <a:rPr lang="en-US" altLang="en-US" sz="2400" dirty="0">
                <a:solidFill>
                  <a:schemeClr val="bg1"/>
                </a:solidFill>
              </a:rPr>
              <a:t>é</a:t>
            </a:r>
            <a:endParaRPr lang="en-US" altLang="en-US" sz="2400" dirty="0">
              <a:solidFill>
                <a:schemeClr val="bg1"/>
              </a:solidFill>
            </a:endParaRPr>
          </a:p>
          <a:p>
            <a:pPr marL="0" indent="0">
              <a:lnSpc>
                <a:spcPts val="2800"/>
              </a:lnSpc>
              <a:buNone/>
            </a:pPr>
            <a:endParaRPr lang="en-US" altLang="en-US" sz="2400" dirty="0">
              <a:solidFill>
                <a:schemeClr val="bg1"/>
              </a:solidFill>
            </a:endParaRPr>
          </a:p>
          <a:p>
            <a:pPr marL="0" indent="0">
              <a:lnSpc>
                <a:spcPts val="2800"/>
              </a:lnSpc>
              <a:buNone/>
            </a:pPr>
            <a:r>
              <a:rPr lang="en-US" altLang="en-US" sz="2400" dirty="0">
                <a:gradFill>
                  <a:gsLst>
                    <a:gs pos="0">
                      <a:srgbClr val="14CD68"/>
                    </a:gs>
                    <a:gs pos="100000">
                      <a:srgbClr val="0B6E38"/>
                    </a:gs>
                  </a:gsLst>
                  <a:lin scaled="0"/>
                </a:gradFill>
              </a:rPr>
              <a:t>✅</a:t>
            </a:r>
            <a:r>
              <a:rPr lang="en-US" altLang="fr-CA" sz="2400" dirty="0">
                <a:gradFill>
                  <a:gsLst>
                    <a:gs pos="0">
                      <a:srgbClr val="14CD68"/>
                    </a:gs>
                    <a:gs pos="100000">
                      <a:srgbClr val="0B6E38"/>
                    </a:gs>
                  </a:gsLst>
                  <a:lin scaled="0"/>
                </a:gradFill>
              </a:rPr>
              <a:t> Applications :</a:t>
            </a:r>
            <a:r>
              <a:rPr lang="en-US" altLang="fr-CA" sz="2400" dirty="0">
                <a:solidFill>
                  <a:schemeClr val="bg1"/>
                </a:solidFill>
              </a:rPr>
              <a:t> Gestion </a:t>
            </a:r>
            <a:r>
              <a:rPr lang="en-US" altLang="en-US" sz="2400" dirty="0">
                <a:solidFill>
                  <a:schemeClr val="bg1"/>
                </a:solidFill>
              </a:rPr>
              <a:t>é</a:t>
            </a:r>
            <a:r>
              <a:rPr lang="en-US" altLang="fr-CA" sz="2400" dirty="0">
                <a:solidFill>
                  <a:schemeClr val="bg1"/>
                </a:solidFill>
              </a:rPr>
              <a:t>nerg</a:t>
            </a:r>
            <a:r>
              <a:rPr lang="en-US" altLang="en-US" sz="2400" dirty="0">
                <a:solidFill>
                  <a:schemeClr val="bg1"/>
                </a:solidFill>
              </a:rPr>
              <a:t>é</a:t>
            </a:r>
            <a:r>
              <a:rPr lang="en-US" altLang="fr-CA" sz="2400" dirty="0">
                <a:solidFill>
                  <a:schemeClr val="bg1"/>
                </a:solidFill>
              </a:rPr>
              <a:t>tique optimis</a:t>
            </a:r>
            <a:r>
              <a:rPr lang="en-US" altLang="en-US" sz="2400" dirty="0">
                <a:solidFill>
                  <a:schemeClr val="bg1"/>
                </a:solidFill>
              </a:rPr>
              <a:t>é</a:t>
            </a:r>
            <a:r>
              <a:rPr lang="en-US" altLang="fr-CA" sz="2400" dirty="0">
                <a:solidFill>
                  <a:schemeClr val="bg1"/>
                </a:solidFill>
              </a:rPr>
              <a:t>e et automatisation des t</a:t>
            </a:r>
            <a:r>
              <a:rPr lang="en-US" altLang="en-US" sz="2400" dirty="0">
                <a:solidFill>
                  <a:schemeClr val="bg1"/>
                </a:solidFill>
              </a:rPr>
              <a:t>â</a:t>
            </a:r>
            <a:r>
              <a:rPr lang="en-US" altLang="fr-CA" sz="2400" dirty="0">
                <a:solidFill>
                  <a:schemeClr val="bg1"/>
                </a:solidFill>
              </a:rPr>
              <a:t>ches domestiques.</a:t>
            </a:r>
            <a:endParaRPr lang="en-US" altLang="fr-CA" sz="2400" dirty="0">
              <a:solidFill>
                <a:schemeClr val="bg1"/>
              </a:solidFill>
            </a:endParaRPr>
          </a:p>
          <a:p>
            <a:pPr marL="0" indent="0">
              <a:lnSpc>
                <a:spcPts val="2800"/>
              </a:lnSpc>
              <a:buNone/>
            </a:pPr>
            <a:endParaRPr lang="en-US" altLang="en-US" sz="2400" dirty="0">
              <a:gradFill>
                <a:gsLst>
                  <a:gs pos="0">
                    <a:srgbClr val="E30000"/>
                  </a:gs>
                  <a:gs pos="100000">
                    <a:srgbClr val="760303"/>
                  </a:gs>
                </a:gsLst>
                <a:lin scaled="0"/>
              </a:gradFill>
            </a:endParaRPr>
          </a:p>
          <a:p>
            <a:pPr marL="0" indent="0">
              <a:lnSpc>
                <a:spcPts val="2800"/>
              </a:lnSpc>
              <a:buNone/>
            </a:pPr>
            <a:r>
              <a:rPr lang="en-US" altLang="en-US" sz="2400" dirty="0">
                <a:gradFill>
                  <a:gsLst>
                    <a:gs pos="0">
                      <a:srgbClr val="E30000"/>
                    </a:gs>
                    <a:gs pos="100000">
                      <a:srgbClr val="760303"/>
                    </a:gs>
                  </a:gsLst>
                  <a:lin scaled="0"/>
                </a:gradFill>
              </a:rPr>
              <a:t>✅</a:t>
            </a:r>
            <a:r>
              <a:rPr lang="en-US" altLang="fr-CA" sz="2400" dirty="0">
                <a:gradFill>
                  <a:gsLst>
                    <a:gs pos="0">
                      <a:srgbClr val="E30000"/>
                    </a:gs>
                    <a:gs pos="100000">
                      <a:srgbClr val="760303"/>
                    </a:gs>
                  </a:gsLst>
                  <a:lin scaled="0"/>
                </a:gradFill>
              </a:rPr>
              <a:t> Technologies et enjeux : </a:t>
            </a:r>
            <a:r>
              <a:rPr lang="en-US" altLang="fr-CA" sz="2400" dirty="0">
                <a:solidFill>
                  <a:schemeClr val="bg1"/>
                </a:solidFill>
              </a:rPr>
              <a:t>D</a:t>
            </a:r>
            <a:r>
              <a:rPr lang="en-US" altLang="en-US" sz="2400" dirty="0">
                <a:solidFill>
                  <a:schemeClr val="bg1"/>
                </a:solidFill>
              </a:rPr>
              <a:t>é</a:t>
            </a:r>
            <a:r>
              <a:rPr lang="en-US" altLang="fr-CA" sz="2400" dirty="0">
                <a:solidFill>
                  <a:schemeClr val="bg1"/>
                </a:solidFill>
              </a:rPr>
              <a:t>fis li</a:t>
            </a:r>
            <a:r>
              <a:rPr lang="en-US" altLang="en-US" sz="2400" dirty="0">
                <a:solidFill>
                  <a:schemeClr val="bg1"/>
                </a:solidFill>
              </a:rPr>
              <a:t>é</a:t>
            </a:r>
            <a:r>
              <a:rPr lang="en-US" altLang="fr-CA" sz="2400" dirty="0">
                <a:solidFill>
                  <a:schemeClr val="bg1"/>
                </a:solidFill>
              </a:rPr>
              <a:t>s à l’adoption de l’IoT et son impact sur le quotidien.</a:t>
            </a:r>
            <a:endParaRPr lang="en-US" altLang="fr-CA" sz="2400"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4861" y="806887"/>
            <a:ext cx="7972306" cy="630793"/>
          </a:xfrm>
          <a:prstGeom prst="rect">
            <a:avLst/>
          </a:prstGeom>
          <a:noFill/>
        </p:spPr>
        <p:txBody>
          <a:bodyPr wrap="none" lIns="0" tIns="0" rIns="0" bIns="0" rtlCol="0" anchor="t"/>
          <a:lstStyle/>
          <a:p>
            <a:pPr marL="0" indent="0" algn="l">
              <a:lnSpc>
                <a:spcPts val="4950"/>
              </a:lnSpc>
              <a:buNone/>
            </a:pPr>
            <a:r>
              <a:rPr lang="en-US" altLang="fr-CA" sz="3950" b="1" dirty="0">
                <a:gradFill>
                  <a:gsLst>
                    <a:gs pos="0">
                      <a:srgbClr val="14CD68"/>
                    </a:gs>
                    <a:gs pos="100000">
                      <a:srgbClr val="0B6E38"/>
                    </a:gs>
                  </a:gsLst>
                  <a:lin scaled="0"/>
                </a:gradFill>
              </a:rPr>
              <a:t>Introduction : Qu'est-ce que l'IoT ?</a:t>
            </a:r>
            <a:endParaRPr lang="en-US" altLang="fr-CA" sz="3950" b="1" dirty="0">
              <a:gradFill>
                <a:gsLst>
                  <a:gs pos="0">
                    <a:srgbClr val="14CD68"/>
                  </a:gs>
                  <a:gs pos="100000">
                    <a:srgbClr val="0B6E38"/>
                  </a:gs>
                </a:gsLst>
                <a:lin scaled="0"/>
              </a:gradFill>
            </a:endParaRPr>
          </a:p>
        </p:txBody>
      </p:sp>
      <p:sp>
        <p:nvSpPr>
          <p:cNvPr id="3" name="Text 1"/>
          <p:cNvSpPr/>
          <p:nvPr/>
        </p:nvSpPr>
        <p:spPr>
          <a:xfrm>
            <a:off x="795020" y="1891665"/>
            <a:ext cx="13040360" cy="982345"/>
          </a:xfrm>
          <a:prstGeom prst="rect">
            <a:avLst/>
          </a:prstGeom>
          <a:noFill/>
        </p:spPr>
        <p:txBody>
          <a:bodyPr wrap="square" lIns="0" tIns="0" rIns="0" bIns="0" rtlCol="0" anchor="t"/>
          <a:lstStyle/>
          <a:p>
            <a:pPr marL="0" indent="0">
              <a:lnSpc>
                <a:spcPts val="2850"/>
              </a:lnSpc>
              <a:buNone/>
            </a:pPr>
            <a:r>
              <a:rPr lang="en-US" altLang="fr-CA" sz="2800" dirty="0">
                <a:solidFill>
                  <a:schemeClr val="bg1"/>
                </a:solidFill>
              </a:rPr>
              <a:t>L'IoT connecte des objets physiques à Internet pour collecter, </a:t>
            </a:r>
            <a:r>
              <a:rPr lang="en-US" altLang="en-US" sz="2800" dirty="0">
                <a:solidFill>
                  <a:schemeClr val="bg1"/>
                </a:solidFill>
              </a:rPr>
              <a:t>é</a:t>
            </a:r>
            <a:r>
              <a:rPr lang="en-US" altLang="fr-CA" sz="2800" dirty="0">
                <a:solidFill>
                  <a:schemeClr val="bg1"/>
                </a:solidFill>
              </a:rPr>
              <a:t>changer et analyser des donn</a:t>
            </a:r>
            <a:r>
              <a:rPr lang="en-US" altLang="en-US" sz="2800" dirty="0">
                <a:solidFill>
                  <a:schemeClr val="bg1"/>
                </a:solidFill>
              </a:rPr>
              <a:t>é</a:t>
            </a:r>
            <a:r>
              <a:rPr lang="en-US" altLang="fr-CA" sz="2800" dirty="0">
                <a:solidFill>
                  <a:schemeClr val="bg1"/>
                </a:solidFill>
              </a:rPr>
              <a:t>es, automatisant ainsi les t</a:t>
            </a:r>
            <a:r>
              <a:rPr lang="en-US" altLang="en-US" sz="2800" dirty="0">
                <a:solidFill>
                  <a:schemeClr val="bg1"/>
                </a:solidFill>
              </a:rPr>
              <a:t>â</a:t>
            </a:r>
            <a:r>
              <a:rPr lang="en-US" altLang="fr-CA" sz="2800" dirty="0">
                <a:solidFill>
                  <a:schemeClr val="bg1"/>
                </a:solidFill>
              </a:rPr>
              <a:t>ches et optimisant l'efficacit</a:t>
            </a:r>
            <a:r>
              <a:rPr lang="en-US" altLang="en-US" sz="2800" dirty="0">
                <a:solidFill>
                  <a:schemeClr val="bg1"/>
                </a:solidFill>
              </a:rPr>
              <a:t>é</a:t>
            </a:r>
            <a:r>
              <a:rPr lang="en-US" altLang="fr-CA" sz="2800" dirty="0">
                <a:solidFill>
                  <a:schemeClr val="bg1"/>
                </a:solidFill>
              </a:rPr>
              <a:t> </a:t>
            </a:r>
            <a:r>
              <a:rPr lang="en-US" altLang="en-US" sz="2800" dirty="0">
                <a:solidFill>
                  <a:schemeClr val="bg1"/>
                </a:solidFill>
              </a:rPr>
              <a:t>é</a:t>
            </a:r>
            <a:r>
              <a:rPr lang="en-US" altLang="fr-CA" sz="2800" dirty="0">
                <a:solidFill>
                  <a:schemeClr val="bg1"/>
                </a:solidFill>
              </a:rPr>
              <a:t>nerg</a:t>
            </a:r>
            <a:r>
              <a:rPr lang="en-US" altLang="en-US" sz="2800" dirty="0">
                <a:solidFill>
                  <a:schemeClr val="bg1"/>
                </a:solidFill>
              </a:rPr>
              <a:t>é</a:t>
            </a:r>
            <a:r>
              <a:rPr lang="en-US" altLang="fr-CA" sz="2800" dirty="0">
                <a:solidFill>
                  <a:schemeClr val="bg1"/>
                </a:solidFill>
              </a:rPr>
              <a:t>tique.</a:t>
            </a:r>
            <a:endParaRPr lang="en-US" altLang="fr-CA" sz="2800" dirty="0">
              <a:solidFill>
                <a:schemeClr val="bg1"/>
              </a:solidFill>
            </a:endParaRPr>
          </a:p>
          <a:p>
            <a:pPr marL="0" indent="0">
              <a:lnSpc>
                <a:spcPts val="2850"/>
              </a:lnSpc>
              <a:buNone/>
            </a:pPr>
            <a:endParaRPr lang="en-US" altLang="fr-CA" sz="2800" dirty="0">
              <a:solidFill>
                <a:schemeClr val="bg1"/>
              </a:solidFill>
            </a:endParaRPr>
          </a:p>
          <a:p>
            <a:pPr marL="0" indent="0">
              <a:lnSpc>
                <a:spcPts val="2850"/>
              </a:lnSpc>
              <a:buNone/>
            </a:pPr>
            <a:endParaRPr lang="en-US" altLang="fr-CA" sz="2800" dirty="0">
              <a:solidFill>
                <a:schemeClr val="bg1"/>
              </a:solidFill>
            </a:endParaRPr>
          </a:p>
          <a:p>
            <a:pPr marL="0" indent="0">
              <a:lnSpc>
                <a:spcPts val="2850"/>
              </a:lnSpc>
              <a:buNone/>
            </a:pPr>
            <a:endParaRPr lang="en-US" altLang="fr-CA" sz="2800" dirty="0">
              <a:solidFill>
                <a:schemeClr val="bg1"/>
              </a:solidFill>
            </a:endParaRPr>
          </a:p>
          <a:p>
            <a:pPr marL="0" indent="0">
              <a:lnSpc>
                <a:spcPts val="2850"/>
              </a:lnSpc>
              <a:buNone/>
            </a:pPr>
            <a:endParaRPr lang="en-US" altLang="fr-CA" sz="2800" dirty="0">
              <a:solidFill>
                <a:schemeClr val="bg1"/>
              </a:solidFill>
            </a:endParaRPr>
          </a:p>
          <a:p>
            <a:pPr marL="0" indent="0">
              <a:lnSpc>
                <a:spcPts val="2850"/>
              </a:lnSpc>
              <a:buNone/>
            </a:pPr>
            <a:endParaRPr lang="en-US" altLang="fr-CA" sz="2800" dirty="0">
              <a:solidFill>
                <a:schemeClr val="bg1"/>
              </a:solidFill>
            </a:endParaRPr>
          </a:p>
          <a:p>
            <a:pPr marL="0" indent="0">
              <a:lnSpc>
                <a:spcPts val="2850"/>
              </a:lnSpc>
              <a:buNone/>
            </a:pPr>
            <a:endParaRPr lang="en-US" altLang="fr-CA" sz="2800" dirty="0">
              <a:solidFill>
                <a:schemeClr val="bg1"/>
              </a:solidFill>
            </a:endParaRPr>
          </a:p>
          <a:p>
            <a:pPr marL="0" indent="0">
              <a:lnSpc>
                <a:spcPts val="2850"/>
              </a:lnSpc>
              <a:buNone/>
            </a:pPr>
            <a:endParaRPr lang="en-US" altLang="fr-CA" sz="2800" dirty="0">
              <a:solidFill>
                <a:schemeClr val="bg1"/>
              </a:solidFill>
            </a:endParaRPr>
          </a:p>
          <a:p>
            <a:pPr marL="0" indent="0">
              <a:lnSpc>
                <a:spcPts val="2850"/>
              </a:lnSpc>
              <a:buNone/>
            </a:pPr>
            <a:endParaRPr lang="en-US" altLang="fr-CA" sz="2800" dirty="0">
              <a:solidFill>
                <a:schemeClr val="bg1"/>
              </a:solidFill>
            </a:endParaRPr>
          </a:p>
        </p:txBody>
      </p:sp>
      <p:sp>
        <p:nvSpPr>
          <p:cNvPr id="4" name="Shape 2"/>
          <p:cNvSpPr/>
          <p:nvPr/>
        </p:nvSpPr>
        <p:spPr>
          <a:xfrm>
            <a:off x="707866" y="2955528"/>
            <a:ext cx="511016" cy="511016"/>
          </a:xfrm>
          <a:prstGeom prst="roundRect">
            <a:avLst>
              <a:gd name="adj" fmla="val 66667"/>
            </a:avLst>
          </a:prstGeom>
          <a:solidFill>
            <a:srgbClr val="0A081B"/>
          </a:solidFill>
          <a:ln w="22860">
            <a:solidFill>
              <a:srgbClr val="16FFBB"/>
            </a:solidFill>
            <a:prstDash val="solid"/>
          </a:ln>
        </p:spPr>
      </p:sp>
      <p:sp>
        <p:nvSpPr>
          <p:cNvPr id="5" name="Text 3"/>
          <p:cNvSpPr/>
          <p:nvPr/>
        </p:nvSpPr>
        <p:spPr>
          <a:xfrm>
            <a:off x="897890" y="3059589"/>
            <a:ext cx="130969" cy="302776"/>
          </a:xfrm>
          <a:prstGeom prst="rect">
            <a:avLst/>
          </a:prstGeom>
          <a:noFill/>
        </p:spPr>
        <p:txBody>
          <a:bodyPr wrap="none" lIns="0" tIns="0" rIns="0" bIns="0" rtlCol="0" anchor="t"/>
          <a:lstStyle/>
          <a:p>
            <a:pPr marL="0" indent="0" algn="ctr">
              <a:lnSpc>
                <a:spcPts val="2350"/>
              </a:lnSpc>
              <a:buNone/>
            </a:pPr>
            <a:r>
              <a:rPr lang="en-US" sz="2350" b="1" dirty="0">
                <a:solidFill>
                  <a:srgbClr val="E0E4E6"/>
                </a:solidFill>
                <a:latin typeface="Spline Sans Bold" pitchFamily="34" charset="0"/>
                <a:ea typeface="Spline Sans Bold" pitchFamily="34" charset="-122"/>
                <a:cs typeface="Spline Sans Bold" pitchFamily="34" charset="-120"/>
              </a:rPr>
              <a:t>1</a:t>
            </a:r>
            <a:endParaRPr lang="en-US" sz="2350" dirty="0"/>
          </a:p>
        </p:txBody>
      </p:sp>
      <p:sp>
        <p:nvSpPr>
          <p:cNvPr id="6" name="Text 4"/>
          <p:cNvSpPr/>
          <p:nvPr/>
        </p:nvSpPr>
        <p:spPr>
          <a:xfrm>
            <a:off x="1445935" y="3183493"/>
            <a:ext cx="2523530" cy="315516"/>
          </a:xfrm>
          <a:prstGeom prst="rect">
            <a:avLst/>
          </a:prstGeom>
          <a:noFill/>
        </p:spPr>
        <p:txBody>
          <a:bodyPr wrap="none" lIns="0" tIns="0" rIns="0" bIns="0" rtlCol="0" anchor="t"/>
          <a:lstStyle/>
          <a:p>
            <a:pPr marL="0" indent="0" algn="l">
              <a:lnSpc>
                <a:spcPts val="2450"/>
              </a:lnSpc>
              <a:buNone/>
            </a:pPr>
            <a:r>
              <a:rPr lang="en-US" altLang="fr-CA" sz="3600" dirty="0">
                <a:gradFill>
                  <a:gsLst>
                    <a:gs pos="0">
                      <a:srgbClr val="14CD68"/>
                    </a:gs>
                    <a:gs pos="100000">
                      <a:srgbClr val="0B6E38"/>
                    </a:gs>
                  </a:gsLst>
                  <a:lin scaled="0"/>
                </a:gradFill>
              </a:rPr>
              <a:t>Connectivit</a:t>
            </a:r>
            <a:r>
              <a:rPr lang="en-US" altLang="en-US" sz="3600" dirty="0">
                <a:gradFill>
                  <a:gsLst>
                    <a:gs pos="0">
                      <a:srgbClr val="14CD68"/>
                    </a:gs>
                    <a:gs pos="100000">
                      <a:srgbClr val="0B6E38"/>
                    </a:gs>
                  </a:gsLst>
                  <a:lin scaled="0"/>
                </a:gradFill>
              </a:rPr>
              <a:t>é</a:t>
            </a:r>
            <a:endParaRPr lang="en-US" altLang="en-US" sz="3600" dirty="0">
              <a:gradFill>
                <a:gsLst>
                  <a:gs pos="0">
                    <a:srgbClr val="14CD68"/>
                  </a:gs>
                  <a:gs pos="100000">
                    <a:srgbClr val="0B6E38"/>
                  </a:gs>
                </a:gsLst>
                <a:lin scaled="0"/>
              </a:gradFill>
            </a:endParaRPr>
          </a:p>
        </p:txBody>
      </p:sp>
      <p:sp>
        <p:nvSpPr>
          <p:cNvPr id="7" name="Text 5"/>
          <p:cNvSpPr/>
          <p:nvPr/>
        </p:nvSpPr>
        <p:spPr>
          <a:xfrm>
            <a:off x="1028740" y="3666966"/>
            <a:ext cx="5668804" cy="726758"/>
          </a:xfrm>
          <a:prstGeom prst="rect">
            <a:avLst/>
          </a:prstGeom>
          <a:noFill/>
        </p:spPr>
        <p:txBody>
          <a:bodyPr wrap="square" lIns="0" tIns="0" rIns="0" bIns="0" rtlCol="0" anchor="t"/>
          <a:lstStyle/>
          <a:p>
            <a:pPr marL="0" indent="0">
              <a:lnSpc>
                <a:spcPts val="2850"/>
              </a:lnSpc>
              <a:buNone/>
            </a:pPr>
            <a:r>
              <a:rPr lang="en-US" sz="1750" dirty="0">
                <a:solidFill>
                  <a:srgbClr val="E0E4E6"/>
                </a:solidFill>
                <a:latin typeface="Barlow" panose="00000800000000000000" pitchFamily="34" charset="0"/>
                <a:ea typeface="Barlow" panose="00000800000000000000" pitchFamily="34" charset="-122"/>
                <a:cs typeface="Barlow" panose="00000800000000000000" pitchFamily="34" charset="-120"/>
              </a:rPr>
              <a:t>L'IoT relie des objets physiques au monde numérique, permettant une communication bidirectionnelle.</a:t>
            </a:r>
            <a:endParaRPr lang="en-US" sz="1750" dirty="0"/>
          </a:p>
        </p:txBody>
      </p:sp>
      <p:sp>
        <p:nvSpPr>
          <p:cNvPr id="8" name="Shape 6"/>
          <p:cNvSpPr/>
          <p:nvPr/>
        </p:nvSpPr>
        <p:spPr>
          <a:xfrm>
            <a:off x="7428786" y="2987913"/>
            <a:ext cx="511016" cy="511016"/>
          </a:xfrm>
          <a:prstGeom prst="roundRect">
            <a:avLst>
              <a:gd name="adj" fmla="val 66667"/>
            </a:avLst>
          </a:prstGeom>
          <a:solidFill>
            <a:srgbClr val="0A081B"/>
          </a:solidFill>
          <a:ln w="22860">
            <a:solidFill>
              <a:srgbClr val="29DDDA"/>
            </a:solidFill>
            <a:prstDash val="solid"/>
          </a:ln>
        </p:spPr>
      </p:sp>
      <p:sp>
        <p:nvSpPr>
          <p:cNvPr id="9" name="Text 7"/>
          <p:cNvSpPr/>
          <p:nvPr/>
        </p:nvSpPr>
        <p:spPr>
          <a:xfrm>
            <a:off x="7600117" y="3151029"/>
            <a:ext cx="168354" cy="302776"/>
          </a:xfrm>
          <a:prstGeom prst="rect">
            <a:avLst/>
          </a:prstGeom>
          <a:noFill/>
        </p:spPr>
        <p:txBody>
          <a:bodyPr wrap="none" lIns="0" tIns="0" rIns="0" bIns="0" rtlCol="0" anchor="t"/>
          <a:lstStyle/>
          <a:p>
            <a:pPr marL="0" indent="0" algn="ctr">
              <a:lnSpc>
                <a:spcPts val="2350"/>
              </a:lnSpc>
              <a:buNone/>
            </a:pPr>
            <a:r>
              <a:rPr lang="en-US" sz="2350" b="1" dirty="0">
                <a:solidFill>
                  <a:srgbClr val="E0E4E6"/>
                </a:solidFill>
                <a:latin typeface="Spline Sans Bold" pitchFamily="34" charset="0"/>
                <a:ea typeface="Spline Sans Bold" pitchFamily="34" charset="-122"/>
                <a:cs typeface="Spline Sans Bold" pitchFamily="34" charset="-120"/>
              </a:rPr>
              <a:t>2</a:t>
            </a:r>
            <a:endParaRPr lang="en-US" sz="2350" dirty="0"/>
          </a:p>
        </p:txBody>
      </p:sp>
      <p:sp>
        <p:nvSpPr>
          <p:cNvPr id="10" name="Text 8"/>
          <p:cNvSpPr/>
          <p:nvPr/>
        </p:nvSpPr>
        <p:spPr>
          <a:xfrm>
            <a:off x="8166854" y="3046968"/>
            <a:ext cx="2523530" cy="315516"/>
          </a:xfrm>
          <a:prstGeom prst="rect">
            <a:avLst/>
          </a:prstGeom>
          <a:noFill/>
        </p:spPr>
        <p:txBody>
          <a:bodyPr wrap="none" lIns="0" tIns="0" rIns="0" bIns="0" rtlCol="0" anchor="t"/>
          <a:lstStyle/>
          <a:p>
            <a:pPr marL="0" indent="0" algn="l">
              <a:lnSpc>
                <a:spcPts val="2450"/>
              </a:lnSpc>
              <a:buNone/>
            </a:pPr>
            <a:r>
              <a:rPr lang="en-US" altLang="fr-CA" sz="3600" b="1" dirty="0">
                <a:gradFill>
                  <a:gsLst>
                    <a:gs pos="0">
                      <a:srgbClr val="14CD68"/>
                    </a:gs>
                    <a:gs pos="100000">
                      <a:srgbClr val="0B6E38"/>
                    </a:gs>
                  </a:gsLst>
                  <a:lin scaled="0"/>
                </a:gradFill>
              </a:rPr>
              <a:t>Collecte </a:t>
            </a:r>
            <a:r>
              <a:rPr lang="en-US" altLang="fr-CA" sz="3600" b="1" dirty="0">
                <a:gradFill>
                  <a:gsLst>
                    <a:gs pos="0">
                      <a:srgbClr val="14CD68"/>
                    </a:gs>
                    <a:gs pos="100000">
                      <a:srgbClr val="0B6E38"/>
                    </a:gs>
                  </a:gsLst>
                  <a:lin scaled="0"/>
                </a:gradFill>
              </a:rPr>
              <a:t>de Donn</a:t>
            </a:r>
            <a:r>
              <a:rPr lang="en-US" altLang="en-US" sz="3600" b="1" dirty="0">
                <a:gradFill>
                  <a:gsLst>
                    <a:gs pos="0">
                      <a:srgbClr val="14CD68"/>
                    </a:gs>
                    <a:gs pos="100000">
                      <a:srgbClr val="0B6E38"/>
                    </a:gs>
                  </a:gsLst>
                  <a:lin scaled="0"/>
                </a:gradFill>
              </a:rPr>
              <a:t>é</a:t>
            </a:r>
            <a:r>
              <a:rPr lang="en-US" altLang="fr-CA" sz="3600" b="1" dirty="0">
                <a:gradFill>
                  <a:gsLst>
                    <a:gs pos="0">
                      <a:srgbClr val="14CD68"/>
                    </a:gs>
                    <a:gs pos="100000">
                      <a:srgbClr val="0B6E38"/>
                    </a:gs>
                  </a:gsLst>
                  <a:lin scaled="0"/>
                </a:gradFill>
              </a:rPr>
              <a:t>es</a:t>
            </a:r>
            <a:endParaRPr lang="en-US" altLang="fr-CA" sz="3600" b="1" dirty="0">
              <a:gradFill>
                <a:gsLst>
                  <a:gs pos="0">
                    <a:srgbClr val="14CD68"/>
                  </a:gs>
                  <a:gs pos="100000">
                    <a:srgbClr val="0B6E38"/>
                  </a:gs>
                </a:gsLst>
                <a:lin scaled="0"/>
              </a:gradFill>
            </a:endParaRPr>
          </a:p>
        </p:txBody>
      </p:sp>
      <p:sp>
        <p:nvSpPr>
          <p:cNvPr id="11" name="Text 9"/>
          <p:cNvSpPr/>
          <p:nvPr/>
        </p:nvSpPr>
        <p:spPr>
          <a:xfrm>
            <a:off x="8166854" y="3498691"/>
            <a:ext cx="5668804" cy="726758"/>
          </a:xfrm>
          <a:prstGeom prst="rect">
            <a:avLst/>
          </a:prstGeom>
          <a:noFill/>
        </p:spPr>
        <p:txBody>
          <a:bodyPr wrap="square" lIns="0" tIns="0" rIns="0" bIns="0" rtlCol="0" anchor="t"/>
          <a:lstStyle/>
          <a:p>
            <a:pPr marL="0" indent="0">
              <a:lnSpc>
                <a:spcPts val="2850"/>
              </a:lnSpc>
              <a:buNone/>
            </a:pPr>
            <a:r>
              <a:rPr lang="en-US" sz="1750" dirty="0">
                <a:solidFill>
                  <a:srgbClr val="E0E4E6"/>
                </a:solidFill>
                <a:latin typeface="Barlow" panose="00000800000000000000" pitchFamily="34" charset="0"/>
                <a:ea typeface="Barlow" panose="00000800000000000000" pitchFamily="34" charset="-122"/>
                <a:cs typeface="Barlow" panose="00000800000000000000" pitchFamily="34" charset="-120"/>
              </a:rPr>
              <a:t>Les objets IoT collectent des données sur leur état, leur environnement et leur utilisation.</a:t>
            </a:r>
            <a:endParaRPr lang="en-US" sz="1750" dirty="0"/>
          </a:p>
        </p:txBody>
      </p:sp>
      <p:sp>
        <p:nvSpPr>
          <p:cNvPr id="12" name="Shape 10"/>
          <p:cNvSpPr/>
          <p:nvPr/>
        </p:nvSpPr>
        <p:spPr>
          <a:xfrm>
            <a:off x="794861" y="5880854"/>
            <a:ext cx="511016" cy="511016"/>
          </a:xfrm>
          <a:prstGeom prst="roundRect">
            <a:avLst>
              <a:gd name="adj" fmla="val 66667"/>
            </a:avLst>
          </a:prstGeom>
          <a:solidFill>
            <a:srgbClr val="0A081B"/>
          </a:solidFill>
          <a:ln w="22860">
            <a:solidFill>
              <a:srgbClr val="37A7E7"/>
            </a:solidFill>
            <a:prstDash val="solid"/>
          </a:ln>
        </p:spPr>
      </p:sp>
      <p:sp>
        <p:nvSpPr>
          <p:cNvPr id="13" name="Text 11"/>
          <p:cNvSpPr/>
          <p:nvPr/>
        </p:nvSpPr>
        <p:spPr>
          <a:xfrm>
            <a:off x="961668" y="5984915"/>
            <a:ext cx="177284" cy="302776"/>
          </a:xfrm>
          <a:prstGeom prst="rect">
            <a:avLst/>
          </a:prstGeom>
          <a:noFill/>
        </p:spPr>
        <p:txBody>
          <a:bodyPr wrap="none" lIns="0" tIns="0" rIns="0" bIns="0" rtlCol="0" anchor="t"/>
          <a:lstStyle/>
          <a:p>
            <a:pPr marL="0" indent="0" algn="ctr">
              <a:lnSpc>
                <a:spcPts val="2350"/>
              </a:lnSpc>
              <a:buNone/>
            </a:pPr>
            <a:r>
              <a:rPr lang="en-US" sz="2350" b="1" dirty="0">
                <a:solidFill>
                  <a:srgbClr val="E0E4E6"/>
                </a:solidFill>
                <a:latin typeface="Spline Sans Bold" pitchFamily="34" charset="0"/>
                <a:ea typeface="Spline Sans Bold" pitchFamily="34" charset="-122"/>
                <a:cs typeface="Spline Sans Bold" pitchFamily="34" charset="-120"/>
              </a:rPr>
              <a:t>3</a:t>
            </a:r>
            <a:endParaRPr lang="en-US" sz="2350" dirty="0"/>
          </a:p>
        </p:txBody>
      </p:sp>
      <p:sp>
        <p:nvSpPr>
          <p:cNvPr id="14" name="Text 12"/>
          <p:cNvSpPr/>
          <p:nvPr/>
        </p:nvSpPr>
        <p:spPr>
          <a:xfrm>
            <a:off x="1532930" y="5880854"/>
            <a:ext cx="2523530" cy="315516"/>
          </a:xfrm>
          <a:prstGeom prst="rect">
            <a:avLst/>
          </a:prstGeom>
          <a:noFill/>
        </p:spPr>
        <p:txBody>
          <a:bodyPr wrap="none" lIns="0" tIns="0" rIns="0" bIns="0" rtlCol="0" anchor="t"/>
          <a:lstStyle/>
          <a:p>
            <a:pPr marL="0" indent="0" algn="l">
              <a:lnSpc>
                <a:spcPts val="2450"/>
              </a:lnSpc>
              <a:buNone/>
            </a:pPr>
            <a:r>
              <a:rPr lang="en-US" altLang="fr-CA" sz="3600" dirty="0">
                <a:gradFill>
                  <a:gsLst>
                    <a:gs pos="0">
                      <a:srgbClr val="14CD68"/>
                    </a:gs>
                    <a:gs pos="100000">
                      <a:srgbClr val="0B6E38"/>
                    </a:gs>
                  </a:gsLst>
                  <a:lin scaled="0"/>
                </a:gradFill>
              </a:rPr>
              <a:t>Automatisation</a:t>
            </a:r>
            <a:endParaRPr lang="en-US" altLang="fr-CA" sz="3600" dirty="0">
              <a:gradFill>
                <a:gsLst>
                  <a:gs pos="0">
                    <a:srgbClr val="14CD68"/>
                  </a:gs>
                  <a:gs pos="100000">
                    <a:srgbClr val="0B6E38"/>
                  </a:gs>
                </a:gsLst>
                <a:lin scaled="0"/>
              </a:gradFill>
            </a:endParaRPr>
          </a:p>
        </p:txBody>
      </p:sp>
      <p:sp>
        <p:nvSpPr>
          <p:cNvPr id="15" name="Text 13"/>
          <p:cNvSpPr/>
          <p:nvPr/>
        </p:nvSpPr>
        <p:spPr>
          <a:xfrm>
            <a:off x="1532930" y="6332577"/>
            <a:ext cx="5668804" cy="726758"/>
          </a:xfrm>
          <a:prstGeom prst="rect">
            <a:avLst/>
          </a:prstGeom>
          <a:noFill/>
        </p:spPr>
        <p:txBody>
          <a:bodyPr wrap="square" lIns="0" tIns="0" rIns="0" bIns="0" rtlCol="0" anchor="t"/>
          <a:lstStyle/>
          <a:p>
            <a:pPr marL="0" indent="0">
              <a:lnSpc>
                <a:spcPts val="2850"/>
              </a:lnSpc>
              <a:buNone/>
            </a:pPr>
            <a:r>
              <a:rPr lang="en-US" sz="1750" dirty="0">
                <a:solidFill>
                  <a:srgbClr val="E0E4E6"/>
                </a:solidFill>
                <a:latin typeface="Barlow" panose="00000800000000000000" pitchFamily="34" charset="0"/>
                <a:ea typeface="Barlow" panose="00000800000000000000" pitchFamily="34" charset="-122"/>
                <a:cs typeface="Barlow" panose="00000800000000000000" pitchFamily="34" charset="-120"/>
              </a:rPr>
              <a:t>L'IoT automatise des tâches et des processus en fonction des données collectées et des paramètres définis.</a:t>
            </a:r>
            <a:endParaRPr lang="en-US" sz="1750" dirty="0"/>
          </a:p>
        </p:txBody>
      </p:sp>
      <p:sp>
        <p:nvSpPr>
          <p:cNvPr id="16" name="Shape 14"/>
          <p:cNvSpPr/>
          <p:nvPr/>
        </p:nvSpPr>
        <p:spPr>
          <a:xfrm>
            <a:off x="7428786" y="5880854"/>
            <a:ext cx="511016" cy="511016"/>
          </a:xfrm>
          <a:prstGeom prst="roundRect">
            <a:avLst>
              <a:gd name="adj" fmla="val 66667"/>
            </a:avLst>
          </a:prstGeom>
          <a:solidFill>
            <a:srgbClr val="0A081B"/>
          </a:solidFill>
          <a:ln w="22860">
            <a:solidFill>
              <a:srgbClr val="091231"/>
            </a:solidFill>
            <a:prstDash val="solid"/>
          </a:ln>
        </p:spPr>
      </p:sp>
      <p:sp>
        <p:nvSpPr>
          <p:cNvPr id="17" name="Text 15"/>
          <p:cNvSpPr/>
          <p:nvPr/>
        </p:nvSpPr>
        <p:spPr>
          <a:xfrm>
            <a:off x="7598688" y="5984915"/>
            <a:ext cx="171093" cy="302776"/>
          </a:xfrm>
          <a:prstGeom prst="rect">
            <a:avLst/>
          </a:prstGeom>
          <a:noFill/>
        </p:spPr>
        <p:txBody>
          <a:bodyPr wrap="none" lIns="0" tIns="0" rIns="0" bIns="0" rtlCol="0" anchor="t"/>
          <a:lstStyle/>
          <a:p>
            <a:pPr marL="0" indent="0" algn="ctr">
              <a:lnSpc>
                <a:spcPts val="2350"/>
              </a:lnSpc>
              <a:buNone/>
            </a:pPr>
            <a:r>
              <a:rPr lang="en-US" sz="2350" b="1" dirty="0">
                <a:solidFill>
                  <a:srgbClr val="E0E4E6"/>
                </a:solidFill>
                <a:latin typeface="Spline Sans Bold" pitchFamily="34" charset="0"/>
                <a:ea typeface="Spline Sans Bold" pitchFamily="34" charset="-122"/>
                <a:cs typeface="Spline Sans Bold" pitchFamily="34" charset="-120"/>
              </a:rPr>
              <a:t>4</a:t>
            </a:r>
            <a:endParaRPr lang="en-US" sz="2350" dirty="0"/>
          </a:p>
        </p:txBody>
      </p:sp>
      <p:sp>
        <p:nvSpPr>
          <p:cNvPr id="18" name="Text 16"/>
          <p:cNvSpPr/>
          <p:nvPr/>
        </p:nvSpPr>
        <p:spPr>
          <a:xfrm>
            <a:off x="8166854" y="5880854"/>
            <a:ext cx="2523530" cy="315516"/>
          </a:xfrm>
          <a:prstGeom prst="rect">
            <a:avLst/>
          </a:prstGeom>
          <a:noFill/>
        </p:spPr>
        <p:txBody>
          <a:bodyPr wrap="none" lIns="0" tIns="0" rIns="0" bIns="0" rtlCol="0" anchor="t"/>
          <a:lstStyle/>
          <a:p>
            <a:pPr marL="0" indent="0" algn="l">
              <a:lnSpc>
                <a:spcPts val="2450"/>
              </a:lnSpc>
              <a:buNone/>
            </a:pPr>
            <a:r>
              <a:rPr lang="en-US" altLang="fr-CA" sz="3600" dirty="0">
                <a:gradFill>
                  <a:gsLst>
                    <a:gs pos="0">
                      <a:srgbClr val="14CD68"/>
                    </a:gs>
                    <a:gs pos="100000">
                      <a:srgbClr val="0B6E38"/>
                    </a:gs>
                  </a:gsLst>
                  <a:lin scaled="0"/>
                </a:gradFill>
              </a:rPr>
              <a:t>Analyse et Contrôle</a:t>
            </a:r>
            <a:endParaRPr lang="en-US" altLang="fr-CA" sz="3600" dirty="0">
              <a:gradFill>
                <a:gsLst>
                  <a:gs pos="0">
                    <a:srgbClr val="14CD68"/>
                  </a:gs>
                  <a:gs pos="100000">
                    <a:srgbClr val="0B6E38"/>
                  </a:gs>
                </a:gsLst>
                <a:lin scaled="0"/>
              </a:gradFill>
            </a:endParaRPr>
          </a:p>
        </p:txBody>
      </p:sp>
      <p:sp>
        <p:nvSpPr>
          <p:cNvPr id="19" name="Text 17"/>
          <p:cNvSpPr/>
          <p:nvPr/>
        </p:nvSpPr>
        <p:spPr>
          <a:xfrm>
            <a:off x="8166854" y="6332577"/>
            <a:ext cx="5668804" cy="1090136"/>
          </a:xfrm>
          <a:prstGeom prst="rect">
            <a:avLst/>
          </a:prstGeom>
          <a:noFill/>
        </p:spPr>
        <p:txBody>
          <a:bodyPr wrap="square" lIns="0" tIns="0" rIns="0" bIns="0" rtlCol="0" anchor="t"/>
          <a:lstStyle/>
          <a:p>
            <a:pPr marL="0" indent="0">
              <a:lnSpc>
                <a:spcPts val="2850"/>
              </a:lnSpc>
              <a:buNone/>
            </a:pPr>
            <a:r>
              <a:rPr lang="en-US" sz="1750" dirty="0">
                <a:solidFill>
                  <a:srgbClr val="E0E4E6"/>
                </a:solidFill>
                <a:latin typeface="Barlow" panose="00000800000000000000" pitchFamily="34" charset="0"/>
                <a:ea typeface="Barlow" panose="00000800000000000000" pitchFamily="34" charset="-122"/>
                <a:cs typeface="Barlow" panose="00000800000000000000" pitchFamily="34" charset="-120"/>
              </a:rPr>
              <a:t>Les données collectées permettent d'analyser les performances, de prendre des décisions éclairées et d'optimiser l'utilisation des ressources.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4037" y="1276588"/>
            <a:ext cx="11571208" cy="685800"/>
          </a:xfrm>
          <a:prstGeom prst="rect">
            <a:avLst/>
          </a:prstGeom>
          <a:noFill/>
        </p:spPr>
        <p:txBody>
          <a:bodyPr wrap="none" lIns="0" tIns="0" rIns="0" bIns="0" rtlCol="0" anchor="t"/>
          <a:lstStyle/>
          <a:p>
            <a:pPr marL="0" indent="0" algn="l">
              <a:lnSpc>
                <a:spcPts val="5400"/>
              </a:lnSpc>
              <a:buNone/>
            </a:pPr>
            <a:r>
              <a:rPr lang="en-US" altLang="fr-CA" sz="4300" dirty="0">
                <a:gradFill>
                  <a:gsLst>
                    <a:gs pos="0">
                      <a:srgbClr val="14CD68"/>
                    </a:gs>
                    <a:gs pos="100000">
                      <a:srgbClr val="0B6E38"/>
                    </a:gs>
                  </a:gsLst>
                  <a:lin scaled="0"/>
                </a:gradFill>
              </a:rPr>
              <a:t>Avantages de l'IoT pour la Maison Intelligente</a:t>
            </a:r>
            <a:endParaRPr lang="en-US" altLang="fr-CA" sz="4300" dirty="0">
              <a:gradFill>
                <a:gsLst>
                  <a:gs pos="0">
                    <a:srgbClr val="14CD68"/>
                  </a:gs>
                  <a:gs pos="100000">
                    <a:srgbClr val="0B6E38"/>
                  </a:gs>
                </a:gsLst>
                <a:lin scaled="0"/>
              </a:gradFill>
            </a:endParaRPr>
          </a:p>
        </p:txBody>
      </p:sp>
      <p:sp>
        <p:nvSpPr>
          <p:cNvPr id="3" name="Text 1"/>
          <p:cNvSpPr/>
          <p:nvPr/>
        </p:nvSpPr>
        <p:spPr>
          <a:xfrm>
            <a:off x="864037" y="2456140"/>
            <a:ext cx="12902327" cy="790099"/>
          </a:xfrm>
          <a:prstGeom prst="rect">
            <a:avLst/>
          </a:prstGeom>
          <a:noFill/>
        </p:spPr>
        <p:txBody>
          <a:bodyPr wrap="square" lIns="0" tIns="0" rIns="0" bIns="0" rtlCol="0" anchor="t"/>
          <a:lstStyle/>
          <a:p>
            <a:pPr marL="0" indent="0">
              <a:lnSpc>
                <a:spcPts val="3100"/>
              </a:lnSpc>
              <a:buNone/>
            </a:pPr>
            <a:r>
              <a:rPr lang="en-US" sz="1900" dirty="0">
                <a:solidFill>
                  <a:srgbClr val="E0E4E6"/>
                </a:solidFill>
                <a:latin typeface="Barlow" panose="00000800000000000000" pitchFamily="34" charset="0"/>
                <a:ea typeface="Barlow" panose="00000800000000000000" pitchFamily="34" charset="-122"/>
                <a:cs typeface="Barlow" panose="00000800000000000000" pitchFamily="34" charset="-120"/>
              </a:rPr>
              <a:t>L'IoT offre une multitude d'avantages pour la maison intelligente, améliorant le confort, la sécurité et l'efficacité énergétique.</a:t>
            </a:r>
            <a:endParaRPr lang="en-US" sz="1900" dirty="0"/>
          </a:p>
        </p:txBody>
      </p:sp>
      <p:sp>
        <p:nvSpPr>
          <p:cNvPr id="4" name="Text 2"/>
          <p:cNvSpPr/>
          <p:nvPr/>
        </p:nvSpPr>
        <p:spPr>
          <a:xfrm>
            <a:off x="449580" y="3770630"/>
            <a:ext cx="1879600" cy="596900"/>
          </a:xfrm>
          <a:prstGeom prst="rect">
            <a:avLst/>
          </a:prstGeom>
          <a:noFill/>
        </p:spPr>
        <p:txBody>
          <a:bodyPr wrap="none" lIns="0" tIns="0" rIns="0" bIns="0" rtlCol="0" anchor="t"/>
          <a:lstStyle/>
          <a:p>
            <a:pPr marL="0" indent="0" algn="l">
              <a:lnSpc>
                <a:spcPts val="2700"/>
              </a:lnSpc>
              <a:buNone/>
            </a:pPr>
            <a:r>
              <a:rPr lang="en-US" altLang="fr-CA" sz="3200" dirty="0">
                <a:gradFill>
                  <a:gsLst>
                    <a:gs pos="0">
                      <a:srgbClr val="14CD68"/>
                    </a:gs>
                    <a:gs pos="100000">
                      <a:srgbClr val="0B6E38"/>
                    </a:gs>
                  </a:gsLst>
                  <a:lin scaled="0"/>
                </a:gradFill>
              </a:rPr>
              <a:t>Confort et Automatisation</a:t>
            </a:r>
            <a:endParaRPr lang="en-US" altLang="fr-CA" sz="3200" dirty="0">
              <a:gradFill>
                <a:gsLst>
                  <a:gs pos="0">
                    <a:srgbClr val="14CD68"/>
                  </a:gs>
                  <a:gs pos="100000">
                    <a:srgbClr val="0B6E38"/>
                  </a:gs>
                </a:gsLst>
                <a:lin scaled="0"/>
              </a:gradFill>
            </a:endParaRPr>
          </a:p>
        </p:txBody>
      </p:sp>
      <p:sp>
        <p:nvSpPr>
          <p:cNvPr id="5" name="Text 3"/>
          <p:cNvSpPr/>
          <p:nvPr/>
        </p:nvSpPr>
        <p:spPr>
          <a:xfrm>
            <a:off x="864037" y="4360426"/>
            <a:ext cx="3898821" cy="2370296"/>
          </a:xfrm>
          <a:prstGeom prst="rect">
            <a:avLst/>
          </a:prstGeom>
          <a:noFill/>
        </p:spPr>
        <p:txBody>
          <a:bodyPr wrap="square" lIns="0" tIns="0" rIns="0" bIns="0" rtlCol="0" anchor="t"/>
          <a:lstStyle/>
          <a:p>
            <a:pPr marL="0" indent="0">
              <a:lnSpc>
                <a:spcPts val="3100"/>
              </a:lnSpc>
              <a:buNone/>
            </a:pPr>
            <a:r>
              <a:rPr lang="en-US" sz="1900" dirty="0">
                <a:solidFill>
                  <a:srgbClr val="E0E4E6"/>
                </a:solidFill>
                <a:latin typeface="Barlow" panose="00000800000000000000" pitchFamily="34" charset="0"/>
                <a:ea typeface="Barlow" panose="00000800000000000000" pitchFamily="34" charset="-122"/>
                <a:cs typeface="Barlow" panose="00000800000000000000" pitchFamily="34" charset="-120"/>
              </a:rPr>
              <a:t>Contrôle à distance des appareils, automatisation des tâches quotidiennes (éclairage, chauffage, sécurité), création de scénarios personnalisés, intégration avec des assistants vocaux.</a:t>
            </a:r>
            <a:endParaRPr lang="en-US" sz="1900" dirty="0"/>
          </a:p>
        </p:txBody>
      </p:sp>
      <p:sp>
        <p:nvSpPr>
          <p:cNvPr id="6" name="Text 4"/>
          <p:cNvSpPr/>
          <p:nvPr/>
        </p:nvSpPr>
        <p:spPr>
          <a:xfrm>
            <a:off x="5372695" y="3770709"/>
            <a:ext cx="2743200" cy="342900"/>
          </a:xfrm>
          <a:prstGeom prst="rect">
            <a:avLst/>
          </a:prstGeom>
          <a:noFill/>
        </p:spPr>
        <p:txBody>
          <a:bodyPr wrap="none" lIns="0" tIns="0" rIns="0" bIns="0" rtlCol="0" anchor="t"/>
          <a:lstStyle/>
          <a:p>
            <a:pPr marL="0" indent="0" algn="l">
              <a:lnSpc>
                <a:spcPts val="2700"/>
              </a:lnSpc>
              <a:buNone/>
            </a:pPr>
            <a:r>
              <a:rPr lang="en-US" altLang="fr-CA" sz="3600" dirty="0">
                <a:gradFill>
                  <a:gsLst>
                    <a:gs pos="0">
                      <a:srgbClr val="14CD68"/>
                    </a:gs>
                    <a:gs pos="100000">
                      <a:srgbClr val="0B6E38"/>
                    </a:gs>
                  </a:gsLst>
                  <a:lin scaled="0"/>
                </a:gradFill>
              </a:rPr>
              <a:t>S</a:t>
            </a:r>
            <a:r>
              <a:rPr lang="en-US" altLang="en-US" sz="3600" dirty="0">
                <a:gradFill>
                  <a:gsLst>
                    <a:gs pos="0">
                      <a:srgbClr val="14CD68"/>
                    </a:gs>
                    <a:gs pos="100000">
                      <a:srgbClr val="0B6E38"/>
                    </a:gs>
                  </a:gsLst>
                  <a:lin scaled="0"/>
                </a:gradFill>
              </a:rPr>
              <a:t>é</a:t>
            </a:r>
            <a:r>
              <a:rPr lang="en-US" altLang="fr-CA" sz="3600" dirty="0">
                <a:gradFill>
                  <a:gsLst>
                    <a:gs pos="0">
                      <a:srgbClr val="14CD68"/>
                    </a:gs>
                    <a:gs pos="100000">
                      <a:srgbClr val="0B6E38"/>
                    </a:gs>
                  </a:gsLst>
                  <a:lin scaled="0"/>
                </a:gradFill>
              </a:rPr>
              <a:t>curit</a:t>
            </a:r>
            <a:r>
              <a:rPr lang="en-US" altLang="en-US" sz="3600" dirty="0">
                <a:gradFill>
                  <a:gsLst>
                    <a:gs pos="0">
                      <a:srgbClr val="14CD68"/>
                    </a:gs>
                    <a:gs pos="100000">
                      <a:srgbClr val="0B6E38"/>
                    </a:gs>
                  </a:gsLst>
                  <a:lin scaled="0"/>
                </a:gradFill>
              </a:rPr>
              <a:t>é</a:t>
            </a:r>
            <a:endParaRPr lang="en-US" altLang="en-US" sz="3600" dirty="0">
              <a:gradFill>
                <a:gsLst>
                  <a:gs pos="0">
                    <a:srgbClr val="14CD68"/>
                  </a:gs>
                  <a:gs pos="100000">
                    <a:srgbClr val="0B6E38"/>
                  </a:gs>
                </a:gsLst>
                <a:lin scaled="0"/>
              </a:gradFill>
            </a:endParaRPr>
          </a:p>
        </p:txBody>
      </p:sp>
      <p:sp>
        <p:nvSpPr>
          <p:cNvPr id="7" name="Text 5"/>
          <p:cNvSpPr/>
          <p:nvPr/>
        </p:nvSpPr>
        <p:spPr>
          <a:xfrm>
            <a:off x="5372695" y="4360426"/>
            <a:ext cx="3898821" cy="1975247"/>
          </a:xfrm>
          <a:prstGeom prst="rect">
            <a:avLst/>
          </a:prstGeom>
          <a:noFill/>
        </p:spPr>
        <p:txBody>
          <a:bodyPr wrap="square" lIns="0" tIns="0" rIns="0" bIns="0" rtlCol="0" anchor="t"/>
          <a:lstStyle/>
          <a:p>
            <a:pPr marL="0" indent="0">
              <a:lnSpc>
                <a:spcPts val="3100"/>
              </a:lnSpc>
              <a:buNone/>
            </a:pPr>
            <a:r>
              <a:rPr lang="en-US" sz="1900" dirty="0">
                <a:solidFill>
                  <a:srgbClr val="E0E4E6"/>
                </a:solidFill>
                <a:latin typeface="Barlow" panose="00000800000000000000" pitchFamily="34" charset="0"/>
                <a:ea typeface="Barlow" panose="00000800000000000000" pitchFamily="34" charset="-122"/>
                <a:cs typeface="Barlow" panose="00000800000000000000" pitchFamily="34" charset="-120"/>
              </a:rPr>
              <a:t>Surveillance à distance, détection d'intrusion, alertes en cas d'événements inattendus, contrôle d'accès, gestion de la sécurité incendie.</a:t>
            </a:r>
            <a:endParaRPr lang="en-US" sz="1900" dirty="0"/>
          </a:p>
        </p:txBody>
      </p:sp>
      <p:sp>
        <p:nvSpPr>
          <p:cNvPr id="8" name="Text 6"/>
          <p:cNvSpPr/>
          <p:nvPr/>
        </p:nvSpPr>
        <p:spPr>
          <a:xfrm>
            <a:off x="9881354" y="3770709"/>
            <a:ext cx="2866906" cy="342900"/>
          </a:xfrm>
          <a:prstGeom prst="rect">
            <a:avLst/>
          </a:prstGeom>
          <a:noFill/>
        </p:spPr>
        <p:txBody>
          <a:bodyPr wrap="none" lIns="0" tIns="0" rIns="0" bIns="0" rtlCol="0" anchor="t"/>
          <a:lstStyle/>
          <a:p>
            <a:pPr marL="0" indent="0" algn="l">
              <a:lnSpc>
                <a:spcPts val="2700"/>
              </a:lnSpc>
              <a:buNone/>
            </a:pPr>
            <a:r>
              <a:rPr lang="en-US" altLang="fr-CA" sz="2800" dirty="0">
                <a:gradFill>
                  <a:gsLst>
                    <a:gs pos="0">
                      <a:srgbClr val="14CD68"/>
                    </a:gs>
                    <a:gs pos="100000">
                      <a:srgbClr val="0B6E38"/>
                    </a:gs>
                  </a:gsLst>
                  <a:lin scaled="0"/>
                </a:gradFill>
              </a:rPr>
              <a:t>Efficacit</a:t>
            </a:r>
            <a:r>
              <a:rPr lang="en-US" altLang="en-US" sz="2800" dirty="0">
                <a:gradFill>
                  <a:gsLst>
                    <a:gs pos="0">
                      <a:srgbClr val="14CD68"/>
                    </a:gs>
                    <a:gs pos="100000">
                      <a:srgbClr val="0B6E38"/>
                    </a:gs>
                  </a:gsLst>
                  <a:lin scaled="0"/>
                </a:gradFill>
              </a:rPr>
              <a:t>é</a:t>
            </a:r>
            <a:r>
              <a:rPr lang="en-US" altLang="fr-CA" sz="2800" dirty="0">
                <a:gradFill>
                  <a:gsLst>
                    <a:gs pos="0">
                      <a:srgbClr val="14CD68"/>
                    </a:gs>
                    <a:gs pos="100000">
                      <a:srgbClr val="0B6E38"/>
                    </a:gs>
                  </a:gsLst>
                  <a:lin scaled="0"/>
                </a:gradFill>
              </a:rPr>
              <a:t> </a:t>
            </a:r>
            <a:r>
              <a:rPr lang="en-US" altLang="en-US" sz="2800" dirty="0">
                <a:gradFill>
                  <a:gsLst>
                    <a:gs pos="0">
                      <a:srgbClr val="14CD68"/>
                    </a:gs>
                    <a:gs pos="100000">
                      <a:srgbClr val="0B6E38"/>
                    </a:gs>
                  </a:gsLst>
                  <a:lin scaled="0"/>
                </a:gradFill>
              </a:rPr>
              <a:t>É</a:t>
            </a:r>
            <a:r>
              <a:rPr lang="en-US" altLang="fr-CA" sz="2800" dirty="0">
                <a:gradFill>
                  <a:gsLst>
                    <a:gs pos="0">
                      <a:srgbClr val="14CD68"/>
                    </a:gs>
                    <a:gs pos="100000">
                      <a:srgbClr val="0B6E38"/>
                    </a:gs>
                  </a:gsLst>
                  <a:lin scaled="0"/>
                </a:gradFill>
              </a:rPr>
              <a:t>nerg</a:t>
            </a:r>
            <a:r>
              <a:rPr lang="en-US" altLang="en-US" sz="2800" dirty="0">
                <a:gradFill>
                  <a:gsLst>
                    <a:gs pos="0">
                      <a:srgbClr val="14CD68"/>
                    </a:gs>
                    <a:gs pos="100000">
                      <a:srgbClr val="0B6E38"/>
                    </a:gs>
                  </a:gsLst>
                  <a:lin scaled="0"/>
                </a:gradFill>
              </a:rPr>
              <a:t>é</a:t>
            </a:r>
            <a:r>
              <a:rPr lang="en-US" altLang="fr-CA" sz="2800" dirty="0">
                <a:gradFill>
                  <a:gsLst>
                    <a:gs pos="0">
                      <a:srgbClr val="14CD68"/>
                    </a:gs>
                    <a:gs pos="100000">
                      <a:srgbClr val="0B6E38"/>
                    </a:gs>
                  </a:gsLst>
                  <a:lin scaled="0"/>
                </a:gradFill>
              </a:rPr>
              <a:t>tique</a:t>
            </a:r>
            <a:endParaRPr lang="en-US" altLang="fr-CA" sz="2800" dirty="0">
              <a:gradFill>
                <a:gsLst>
                  <a:gs pos="0">
                    <a:srgbClr val="14CD68"/>
                  </a:gs>
                  <a:gs pos="100000">
                    <a:srgbClr val="0B6E38"/>
                  </a:gs>
                </a:gsLst>
                <a:lin scaled="0"/>
              </a:gradFill>
            </a:endParaRPr>
          </a:p>
        </p:txBody>
      </p:sp>
      <p:sp>
        <p:nvSpPr>
          <p:cNvPr id="9" name="Text 7"/>
          <p:cNvSpPr/>
          <p:nvPr/>
        </p:nvSpPr>
        <p:spPr>
          <a:xfrm>
            <a:off x="9881354" y="4360426"/>
            <a:ext cx="3898821" cy="1975247"/>
          </a:xfrm>
          <a:prstGeom prst="rect">
            <a:avLst/>
          </a:prstGeom>
          <a:noFill/>
        </p:spPr>
        <p:txBody>
          <a:bodyPr wrap="square" lIns="0" tIns="0" rIns="0" bIns="0" rtlCol="0" anchor="t"/>
          <a:lstStyle/>
          <a:p>
            <a:pPr marL="0" indent="0">
              <a:lnSpc>
                <a:spcPts val="3100"/>
              </a:lnSpc>
              <a:buNone/>
            </a:pPr>
            <a:r>
              <a:rPr lang="en-US" sz="1900" dirty="0">
                <a:solidFill>
                  <a:srgbClr val="E0E4E6"/>
                </a:solidFill>
                <a:latin typeface="Barlow" panose="00000800000000000000" pitchFamily="34" charset="0"/>
                <a:ea typeface="Barlow" panose="00000800000000000000" pitchFamily="34" charset="-122"/>
                <a:cs typeface="Barlow" panose="00000800000000000000" pitchFamily="34" charset="-120"/>
              </a:rPr>
              <a:t>Optimisation de la consommation d'énergie, régulation automatique du chauffage et de la climatisation, gestion intelligente de l'éclairage, suivi de la consommation d'énergie.</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86884" y="778431"/>
            <a:ext cx="11291768" cy="624602"/>
          </a:xfrm>
          <a:prstGeom prst="rect">
            <a:avLst/>
          </a:prstGeom>
          <a:noFill/>
        </p:spPr>
        <p:txBody>
          <a:bodyPr wrap="none" lIns="0" tIns="0" rIns="0" bIns="0" rtlCol="0" anchor="t"/>
          <a:lstStyle/>
          <a:p>
            <a:pPr marL="0" indent="0" algn="l">
              <a:lnSpc>
                <a:spcPts val="4900"/>
              </a:lnSpc>
              <a:buNone/>
            </a:pPr>
            <a:r>
              <a:rPr lang="en-US" altLang="fr-CA" sz="3900" dirty="0">
                <a:gradFill>
                  <a:gsLst>
                    <a:gs pos="0">
                      <a:srgbClr val="14CD68"/>
                    </a:gs>
                    <a:gs pos="100000">
                      <a:srgbClr val="0B6E38"/>
                    </a:gs>
                  </a:gsLst>
                  <a:lin scaled="0"/>
                </a:gradFill>
              </a:rPr>
              <a:t>Applications de l'IoT pour la Gestion </a:t>
            </a:r>
            <a:r>
              <a:rPr lang="en-US" altLang="en-US" sz="3900" dirty="0">
                <a:gradFill>
                  <a:gsLst>
                    <a:gs pos="0">
                      <a:srgbClr val="14CD68"/>
                    </a:gs>
                    <a:gs pos="100000">
                      <a:srgbClr val="0B6E38"/>
                    </a:gs>
                  </a:gsLst>
                  <a:lin scaled="0"/>
                </a:gradFill>
              </a:rPr>
              <a:t>É</a:t>
            </a:r>
            <a:r>
              <a:rPr lang="en-US" altLang="fr-CA" sz="3900" dirty="0">
                <a:gradFill>
                  <a:gsLst>
                    <a:gs pos="0">
                      <a:srgbClr val="14CD68"/>
                    </a:gs>
                    <a:gs pos="100000">
                      <a:srgbClr val="0B6E38"/>
                    </a:gs>
                  </a:gsLst>
                  <a:lin scaled="0"/>
                </a:gradFill>
              </a:rPr>
              <a:t>nerg</a:t>
            </a:r>
            <a:r>
              <a:rPr lang="en-US" altLang="en-US" sz="3900" dirty="0">
                <a:gradFill>
                  <a:gsLst>
                    <a:gs pos="0">
                      <a:srgbClr val="14CD68"/>
                    </a:gs>
                    <a:gs pos="100000">
                      <a:srgbClr val="0B6E38"/>
                    </a:gs>
                  </a:gsLst>
                  <a:lin scaled="0"/>
                </a:gradFill>
              </a:rPr>
              <a:t>é</a:t>
            </a:r>
            <a:r>
              <a:rPr lang="en-US" altLang="fr-CA" sz="3900" dirty="0">
                <a:gradFill>
                  <a:gsLst>
                    <a:gs pos="0">
                      <a:srgbClr val="14CD68"/>
                    </a:gs>
                    <a:gs pos="100000">
                      <a:srgbClr val="0B6E38"/>
                    </a:gs>
                  </a:gsLst>
                  <a:lin scaled="0"/>
                </a:gradFill>
              </a:rPr>
              <a:t>tique</a:t>
            </a:r>
            <a:endParaRPr lang="en-US" altLang="fr-CA" sz="3900" dirty="0">
              <a:gradFill>
                <a:gsLst>
                  <a:gs pos="0">
                    <a:srgbClr val="14CD68"/>
                  </a:gs>
                  <a:gs pos="100000">
                    <a:srgbClr val="0B6E38"/>
                  </a:gs>
                </a:gsLst>
                <a:lin scaled="0"/>
              </a:gradFill>
            </a:endParaRPr>
          </a:p>
        </p:txBody>
      </p:sp>
      <p:sp>
        <p:nvSpPr>
          <p:cNvPr id="3" name="Text 1"/>
          <p:cNvSpPr/>
          <p:nvPr/>
        </p:nvSpPr>
        <p:spPr>
          <a:xfrm>
            <a:off x="786884" y="1852613"/>
            <a:ext cx="13056632" cy="719138"/>
          </a:xfrm>
          <a:prstGeom prst="rect">
            <a:avLst/>
          </a:prstGeom>
          <a:noFill/>
        </p:spPr>
        <p:txBody>
          <a:bodyPr wrap="square" lIns="0" tIns="0" rIns="0" bIns="0" rtlCol="0" anchor="t"/>
          <a:lstStyle/>
          <a:p>
            <a:pPr marL="0" indent="0">
              <a:lnSpc>
                <a:spcPts val="2800"/>
              </a:lnSpc>
              <a:buNone/>
            </a:pPr>
            <a:r>
              <a:rPr lang="en-US" sz="1750" dirty="0">
                <a:solidFill>
                  <a:srgbClr val="E0E4E6"/>
                </a:solidFill>
                <a:latin typeface="Barlow" panose="00000800000000000000" pitchFamily="34" charset="0"/>
                <a:ea typeface="Barlow" panose="00000800000000000000" pitchFamily="34" charset="-122"/>
                <a:cs typeface="Barlow" panose="00000800000000000000" pitchFamily="34" charset="-120"/>
              </a:rPr>
              <a:t>L'IoT joue un rôle crucial dans la gestion énergétique des maisons. En connectant les appareils et les systèmes de production d'énergie, il est possible d'optimiser la consommation, de réduire les coûts et de minimiser l'impact environnemental.</a:t>
            </a:r>
            <a:endParaRPr lang="en-US" sz="1750" dirty="0"/>
          </a:p>
        </p:txBody>
      </p:sp>
      <p:sp>
        <p:nvSpPr>
          <p:cNvPr id="4" name="Shape 2"/>
          <p:cNvSpPr/>
          <p:nvPr/>
        </p:nvSpPr>
        <p:spPr>
          <a:xfrm>
            <a:off x="786884" y="2824639"/>
            <a:ext cx="6415921" cy="2021086"/>
          </a:xfrm>
          <a:prstGeom prst="roundRect">
            <a:avLst>
              <a:gd name="adj" fmla="val 16687"/>
            </a:avLst>
          </a:prstGeom>
          <a:solidFill>
            <a:srgbClr val="0A081B"/>
          </a:solidFill>
          <a:ln w="22860">
            <a:solidFill>
              <a:srgbClr val="16FFBB"/>
            </a:solidFill>
            <a:prstDash val="solid"/>
          </a:ln>
        </p:spPr>
      </p:sp>
      <p:sp>
        <p:nvSpPr>
          <p:cNvPr id="5" name="Text 3"/>
          <p:cNvSpPr/>
          <p:nvPr/>
        </p:nvSpPr>
        <p:spPr>
          <a:xfrm>
            <a:off x="1034534" y="3072289"/>
            <a:ext cx="4237792" cy="312182"/>
          </a:xfrm>
          <a:prstGeom prst="rect">
            <a:avLst/>
          </a:prstGeom>
          <a:noFill/>
        </p:spPr>
        <p:txBody>
          <a:bodyPr wrap="none" lIns="0" tIns="0" rIns="0" bIns="0" rtlCol="0" anchor="t"/>
          <a:lstStyle/>
          <a:p>
            <a:pPr marL="0" indent="0" algn="l">
              <a:lnSpc>
                <a:spcPts val="2450"/>
              </a:lnSpc>
              <a:buNone/>
            </a:pPr>
            <a:r>
              <a:rPr lang="en-US" altLang="fr-CA" sz="2800" dirty="0">
                <a:gradFill>
                  <a:gsLst>
                    <a:gs pos="0">
                      <a:srgbClr val="14CD68"/>
                    </a:gs>
                    <a:gs pos="100000">
                      <a:srgbClr val="0B6E38"/>
                    </a:gs>
                  </a:gsLst>
                  <a:lin scaled="0"/>
                </a:gradFill>
              </a:rPr>
              <a:t>Gestion des </a:t>
            </a:r>
            <a:r>
              <a:rPr lang="en-US" altLang="en-US" sz="2800" dirty="0">
                <a:gradFill>
                  <a:gsLst>
                    <a:gs pos="0">
                      <a:srgbClr val="14CD68"/>
                    </a:gs>
                    <a:gs pos="100000">
                      <a:srgbClr val="0B6E38"/>
                    </a:gs>
                  </a:gsLst>
                  <a:lin scaled="0"/>
                </a:gradFill>
              </a:rPr>
              <a:t>É</a:t>
            </a:r>
            <a:r>
              <a:rPr lang="en-US" altLang="fr-CA" sz="2800" dirty="0">
                <a:gradFill>
                  <a:gsLst>
                    <a:gs pos="0">
                      <a:srgbClr val="14CD68"/>
                    </a:gs>
                    <a:gs pos="100000">
                      <a:srgbClr val="0B6E38"/>
                    </a:gs>
                  </a:gsLst>
                  <a:lin scaled="0"/>
                </a:gradFill>
              </a:rPr>
              <a:t>nergies Renouvelables</a:t>
            </a:r>
            <a:endParaRPr lang="en-US" altLang="fr-CA" sz="2800" dirty="0">
              <a:gradFill>
                <a:gsLst>
                  <a:gs pos="0">
                    <a:srgbClr val="14CD68"/>
                  </a:gs>
                  <a:gs pos="100000">
                    <a:srgbClr val="0B6E38"/>
                  </a:gs>
                </a:gsLst>
                <a:lin scaled="0"/>
              </a:gradFill>
            </a:endParaRPr>
          </a:p>
        </p:txBody>
      </p:sp>
      <p:sp>
        <p:nvSpPr>
          <p:cNvPr id="6" name="Text 4"/>
          <p:cNvSpPr/>
          <p:nvPr/>
        </p:nvSpPr>
        <p:spPr>
          <a:xfrm>
            <a:off x="1034534" y="3519368"/>
            <a:ext cx="5920621" cy="1078706"/>
          </a:xfrm>
          <a:prstGeom prst="rect">
            <a:avLst/>
          </a:prstGeom>
          <a:noFill/>
        </p:spPr>
        <p:txBody>
          <a:bodyPr wrap="square" lIns="0" tIns="0" rIns="0" bIns="0" rtlCol="0" anchor="t"/>
          <a:lstStyle/>
          <a:p>
            <a:pPr marL="0" indent="0">
              <a:lnSpc>
                <a:spcPts val="2800"/>
              </a:lnSpc>
              <a:buNone/>
            </a:pPr>
            <a:r>
              <a:rPr lang="en-US" sz="1750" dirty="0">
                <a:solidFill>
                  <a:srgbClr val="E0E4E6"/>
                </a:solidFill>
                <a:latin typeface="Barlow" panose="00000800000000000000" pitchFamily="34" charset="0"/>
                <a:ea typeface="Barlow" panose="00000800000000000000" pitchFamily="34" charset="-122"/>
                <a:cs typeface="Barlow" panose="00000800000000000000" pitchFamily="34" charset="-120"/>
              </a:rPr>
              <a:t>Intégration des panneaux solaires, éoliennes domestiques et autres sources d'énergie renouvelable pour une auto-production d'énergie propre.</a:t>
            </a:r>
            <a:endParaRPr lang="en-US" sz="1750" dirty="0"/>
          </a:p>
        </p:txBody>
      </p:sp>
      <p:sp>
        <p:nvSpPr>
          <p:cNvPr id="7" name="Shape 5"/>
          <p:cNvSpPr/>
          <p:nvPr/>
        </p:nvSpPr>
        <p:spPr>
          <a:xfrm>
            <a:off x="7427595" y="2824639"/>
            <a:ext cx="6415921" cy="2021086"/>
          </a:xfrm>
          <a:prstGeom prst="roundRect">
            <a:avLst>
              <a:gd name="adj" fmla="val 16687"/>
            </a:avLst>
          </a:prstGeom>
          <a:solidFill>
            <a:srgbClr val="0A081B"/>
          </a:solidFill>
          <a:ln w="22860">
            <a:solidFill>
              <a:srgbClr val="29DDDA"/>
            </a:solidFill>
            <a:prstDash val="solid"/>
          </a:ln>
        </p:spPr>
      </p:sp>
      <p:sp>
        <p:nvSpPr>
          <p:cNvPr id="8" name="Text 6"/>
          <p:cNvSpPr/>
          <p:nvPr/>
        </p:nvSpPr>
        <p:spPr>
          <a:xfrm>
            <a:off x="7675245" y="3072289"/>
            <a:ext cx="5137785" cy="312182"/>
          </a:xfrm>
          <a:prstGeom prst="rect">
            <a:avLst/>
          </a:prstGeom>
          <a:noFill/>
        </p:spPr>
        <p:txBody>
          <a:bodyPr wrap="none" lIns="0" tIns="0" rIns="0" bIns="0" rtlCol="0" anchor="t"/>
          <a:lstStyle/>
          <a:p>
            <a:pPr marL="0" indent="0" algn="l">
              <a:lnSpc>
                <a:spcPts val="2450"/>
              </a:lnSpc>
              <a:buNone/>
            </a:pPr>
            <a:r>
              <a:rPr lang="en-US" altLang="fr-CA" sz="2800" dirty="0">
                <a:gradFill>
                  <a:gsLst>
                    <a:gs pos="0">
                      <a:srgbClr val="14CD68"/>
                    </a:gs>
                    <a:gs pos="100000">
                      <a:srgbClr val="0B6E38"/>
                    </a:gs>
                  </a:gsLst>
                  <a:lin scaled="0"/>
                </a:gradFill>
              </a:rPr>
              <a:t>Contrôle du Chauffage et de la Climatisation</a:t>
            </a:r>
            <a:endParaRPr lang="en-US" altLang="fr-CA" sz="2800" dirty="0">
              <a:gradFill>
                <a:gsLst>
                  <a:gs pos="0">
                    <a:srgbClr val="14CD68"/>
                  </a:gs>
                  <a:gs pos="100000">
                    <a:srgbClr val="0B6E38"/>
                  </a:gs>
                </a:gsLst>
                <a:lin scaled="0"/>
              </a:gradFill>
            </a:endParaRPr>
          </a:p>
        </p:txBody>
      </p:sp>
      <p:sp>
        <p:nvSpPr>
          <p:cNvPr id="9" name="Text 7"/>
          <p:cNvSpPr/>
          <p:nvPr/>
        </p:nvSpPr>
        <p:spPr>
          <a:xfrm>
            <a:off x="7675245" y="3519368"/>
            <a:ext cx="5920621" cy="1078706"/>
          </a:xfrm>
          <a:prstGeom prst="rect">
            <a:avLst/>
          </a:prstGeom>
          <a:noFill/>
        </p:spPr>
        <p:txBody>
          <a:bodyPr wrap="square" lIns="0" tIns="0" rIns="0" bIns="0" rtlCol="0" anchor="t"/>
          <a:lstStyle/>
          <a:p>
            <a:pPr marL="0" indent="0">
              <a:lnSpc>
                <a:spcPts val="2800"/>
              </a:lnSpc>
              <a:buNone/>
            </a:pPr>
            <a:r>
              <a:rPr lang="en-US" sz="1750" dirty="0">
                <a:solidFill>
                  <a:srgbClr val="E0E4E6"/>
                </a:solidFill>
                <a:latin typeface="Barlow" panose="00000800000000000000" pitchFamily="34" charset="0"/>
                <a:ea typeface="Barlow" panose="00000800000000000000" pitchFamily="34" charset="-122"/>
                <a:cs typeface="Barlow" panose="00000800000000000000" pitchFamily="34" charset="-120"/>
              </a:rPr>
              <a:t>Thermostats intelligents qui ajustent automatiquement la température en fonction de la présence ou de l'absence des occupants, et des conditions météorologiques.</a:t>
            </a:r>
            <a:endParaRPr lang="en-US" sz="1750" dirty="0"/>
          </a:p>
        </p:txBody>
      </p:sp>
      <p:sp>
        <p:nvSpPr>
          <p:cNvPr id="10" name="Shape 8"/>
          <p:cNvSpPr/>
          <p:nvPr/>
        </p:nvSpPr>
        <p:spPr>
          <a:xfrm>
            <a:off x="786884" y="5070515"/>
            <a:ext cx="6415921" cy="2380655"/>
          </a:xfrm>
          <a:prstGeom prst="roundRect">
            <a:avLst>
              <a:gd name="adj" fmla="val 14167"/>
            </a:avLst>
          </a:prstGeom>
          <a:solidFill>
            <a:srgbClr val="0A081B"/>
          </a:solidFill>
          <a:ln w="22860">
            <a:solidFill>
              <a:srgbClr val="37A7E7"/>
            </a:solidFill>
            <a:prstDash val="solid"/>
          </a:ln>
        </p:spPr>
      </p:sp>
      <p:sp>
        <p:nvSpPr>
          <p:cNvPr id="11" name="Text 9"/>
          <p:cNvSpPr/>
          <p:nvPr/>
        </p:nvSpPr>
        <p:spPr>
          <a:xfrm>
            <a:off x="1034534" y="5318165"/>
            <a:ext cx="2520315" cy="312182"/>
          </a:xfrm>
          <a:prstGeom prst="rect">
            <a:avLst/>
          </a:prstGeom>
          <a:noFill/>
        </p:spPr>
        <p:txBody>
          <a:bodyPr wrap="none" lIns="0" tIns="0" rIns="0" bIns="0" rtlCol="0" anchor="t"/>
          <a:lstStyle/>
          <a:p>
            <a:pPr marL="0" indent="0" algn="l">
              <a:lnSpc>
                <a:spcPts val="2450"/>
              </a:lnSpc>
              <a:buNone/>
            </a:pPr>
            <a:r>
              <a:rPr lang="en-US" altLang="fr-CA" sz="3200" dirty="0">
                <a:gradFill>
                  <a:gsLst>
                    <a:gs pos="0">
                      <a:srgbClr val="14CD68"/>
                    </a:gs>
                    <a:gs pos="100000">
                      <a:srgbClr val="0B6E38"/>
                    </a:gs>
                  </a:gsLst>
                  <a:lin scaled="0"/>
                </a:gradFill>
              </a:rPr>
              <a:t>Gestion de l'</a:t>
            </a:r>
            <a:r>
              <a:rPr lang="en-US" altLang="en-US" sz="3200" dirty="0">
                <a:gradFill>
                  <a:gsLst>
                    <a:gs pos="0">
                      <a:srgbClr val="14CD68"/>
                    </a:gs>
                    <a:gs pos="100000">
                      <a:srgbClr val="0B6E38"/>
                    </a:gs>
                  </a:gsLst>
                  <a:lin scaled="0"/>
                </a:gradFill>
              </a:rPr>
              <a:t>É</a:t>
            </a:r>
            <a:r>
              <a:rPr lang="en-US" altLang="fr-CA" sz="3200" dirty="0">
                <a:gradFill>
                  <a:gsLst>
                    <a:gs pos="0">
                      <a:srgbClr val="14CD68"/>
                    </a:gs>
                    <a:gs pos="100000">
                      <a:srgbClr val="0B6E38"/>
                    </a:gs>
                  </a:gsLst>
                  <a:lin scaled="0"/>
                </a:gradFill>
              </a:rPr>
              <a:t>clairage</a:t>
            </a:r>
            <a:endParaRPr lang="en-US" altLang="fr-CA" sz="3200" dirty="0">
              <a:gradFill>
                <a:gsLst>
                  <a:gs pos="0">
                    <a:srgbClr val="14CD68"/>
                  </a:gs>
                  <a:gs pos="100000">
                    <a:srgbClr val="0B6E38"/>
                  </a:gs>
                </a:gsLst>
                <a:lin scaled="0"/>
              </a:gradFill>
            </a:endParaRPr>
          </a:p>
        </p:txBody>
      </p:sp>
      <p:sp>
        <p:nvSpPr>
          <p:cNvPr id="12" name="Text 10"/>
          <p:cNvSpPr/>
          <p:nvPr/>
        </p:nvSpPr>
        <p:spPr>
          <a:xfrm>
            <a:off x="1034534" y="5765244"/>
            <a:ext cx="5920621" cy="1438275"/>
          </a:xfrm>
          <a:prstGeom prst="rect">
            <a:avLst/>
          </a:prstGeom>
          <a:noFill/>
        </p:spPr>
        <p:txBody>
          <a:bodyPr wrap="square" lIns="0" tIns="0" rIns="0" bIns="0" rtlCol="0" anchor="t"/>
          <a:lstStyle/>
          <a:p>
            <a:pPr marL="0" indent="0">
              <a:lnSpc>
                <a:spcPts val="2800"/>
              </a:lnSpc>
              <a:buNone/>
            </a:pPr>
            <a:r>
              <a:rPr lang="en-US" sz="1750" dirty="0">
                <a:solidFill>
                  <a:srgbClr val="E0E4E6"/>
                </a:solidFill>
                <a:latin typeface="Barlow" panose="00000800000000000000" pitchFamily="34" charset="0"/>
                <a:ea typeface="Barlow" panose="00000800000000000000" pitchFamily="34" charset="-122"/>
                <a:cs typeface="Barlow" panose="00000800000000000000" pitchFamily="34" charset="-120"/>
              </a:rPr>
              <a:t>Ampoules connectées qui s'adaptent à la luminosité ambiante, s'éteignent automatiquement lorsque les pièces sont vides, et permettent de créer des ambiances personnalisées.</a:t>
            </a:r>
            <a:endParaRPr lang="en-US" sz="1750" dirty="0"/>
          </a:p>
        </p:txBody>
      </p:sp>
      <p:sp>
        <p:nvSpPr>
          <p:cNvPr id="13" name="Shape 11"/>
          <p:cNvSpPr/>
          <p:nvPr/>
        </p:nvSpPr>
        <p:spPr>
          <a:xfrm>
            <a:off x="7427595" y="5070515"/>
            <a:ext cx="6415921" cy="2380655"/>
          </a:xfrm>
          <a:prstGeom prst="roundRect">
            <a:avLst>
              <a:gd name="adj" fmla="val 14167"/>
            </a:avLst>
          </a:prstGeom>
          <a:solidFill>
            <a:srgbClr val="0A081B"/>
          </a:solidFill>
          <a:ln w="22860">
            <a:solidFill>
              <a:srgbClr val="091231"/>
            </a:solidFill>
            <a:prstDash val="solid"/>
          </a:ln>
        </p:spPr>
      </p:sp>
      <p:sp>
        <p:nvSpPr>
          <p:cNvPr id="14" name="Text 12"/>
          <p:cNvSpPr/>
          <p:nvPr/>
        </p:nvSpPr>
        <p:spPr>
          <a:xfrm>
            <a:off x="7675245" y="5318165"/>
            <a:ext cx="3017520" cy="312182"/>
          </a:xfrm>
          <a:prstGeom prst="rect">
            <a:avLst/>
          </a:prstGeom>
          <a:noFill/>
        </p:spPr>
        <p:txBody>
          <a:bodyPr wrap="none" lIns="0" tIns="0" rIns="0" bIns="0" rtlCol="0" anchor="t"/>
          <a:lstStyle/>
          <a:p>
            <a:pPr marL="0" indent="0" algn="l">
              <a:lnSpc>
                <a:spcPts val="2450"/>
              </a:lnSpc>
              <a:buNone/>
            </a:pPr>
            <a:r>
              <a:rPr lang="en-US" altLang="fr-CA" sz="3200" dirty="0">
                <a:gradFill>
                  <a:gsLst>
                    <a:gs pos="0">
                      <a:srgbClr val="14CD68"/>
                    </a:gs>
                    <a:gs pos="100000">
                      <a:srgbClr val="0B6E38"/>
                    </a:gs>
                  </a:gsLst>
                  <a:lin scaled="0"/>
                </a:gradFill>
              </a:rPr>
              <a:t>Suivi de la Consommation</a:t>
            </a:r>
            <a:endParaRPr lang="en-US" altLang="fr-CA" sz="3200" dirty="0">
              <a:gradFill>
                <a:gsLst>
                  <a:gs pos="0">
                    <a:srgbClr val="14CD68"/>
                  </a:gs>
                  <a:gs pos="100000">
                    <a:srgbClr val="0B6E38"/>
                  </a:gs>
                </a:gsLst>
                <a:lin scaled="0"/>
              </a:gradFill>
            </a:endParaRPr>
          </a:p>
        </p:txBody>
      </p:sp>
      <p:sp>
        <p:nvSpPr>
          <p:cNvPr id="15" name="Text 13"/>
          <p:cNvSpPr/>
          <p:nvPr/>
        </p:nvSpPr>
        <p:spPr>
          <a:xfrm>
            <a:off x="7675245" y="5765244"/>
            <a:ext cx="5920621" cy="1078706"/>
          </a:xfrm>
          <a:prstGeom prst="rect">
            <a:avLst/>
          </a:prstGeom>
          <a:noFill/>
        </p:spPr>
        <p:txBody>
          <a:bodyPr wrap="square" lIns="0" tIns="0" rIns="0" bIns="0" rtlCol="0" anchor="t"/>
          <a:lstStyle/>
          <a:p>
            <a:pPr marL="0" indent="0">
              <a:lnSpc>
                <a:spcPts val="2800"/>
              </a:lnSpc>
              <a:buNone/>
            </a:pPr>
            <a:r>
              <a:rPr lang="en-US" sz="1750" dirty="0">
                <a:solidFill>
                  <a:srgbClr val="E0E4E6"/>
                </a:solidFill>
                <a:latin typeface="Barlow" panose="00000800000000000000" pitchFamily="34" charset="0"/>
                <a:ea typeface="Barlow" panose="00000800000000000000" pitchFamily="34" charset="-122"/>
                <a:cs typeface="Barlow" panose="00000800000000000000" pitchFamily="34" charset="-120"/>
              </a:rPr>
              <a:t>Capteurs et compteurs intelligents qui fournissent des données détaillées sur la consommation d'énergie des différents appareils et systèmes de la maison.</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07244" y="820341"/>
            <a:ext cx="13015913" cy="1281351"/>
          </a:xfrm>
          <a:prstGeom prst="rect">
            <a:avLst/>
          </a:prstGeom>
          <a:noFill/>
        </p:spPr>
        <p:txBody>
          <a:bodyPr wrap="square" lIns="0" tIns="0" rIns="0" bIns="0" rtlCol="0" anchor="t"/>
          <a:lstStyle/>
          <a:p>
            <a:pPr marL="0" indent="0">
              <a:lnSpc>
                <a:spcPts val="5000"/>
              </a:lnSpc>
              <a:buNone/>
            </a:pPr>
            <a:r>
              <a:rPr lang="en-US" altLang="fr-CA" sz="4000" b="1" dirty="0">
                <a:gradFill>
                  <a:gsLst>
                    <a:gs pos="0">
                      <a:srgbClr val="14CD68"/>
                    </a:gs>
                    <a:gs pos="100000">
                      <a:srgbClr val="0B6E38"/>
                    </a:gs>
                  </a:gsLst>
                  <a:lin scaled="0"/>
                </a:gradFill>
              </a:rPr>
              <a:t>Capteurs et Appareils Connect</a:t>
            </a:r>
            <a:r>
              <a:rPr lang="en-US" altLang="en-US" sz="4000" b="1" dirty="0">
                <a:gradFill>
                  <a:gsLst>
                    <a:gs pos="0">
                      <a:srgbClr val="14CD68"/>
                    </a:gs>
                    <a:gs pos="100000">
                      <a:srgbClr val="0B6E38"/>
                    </a:gs>
                  </a:gsLst>
                  <a:lin scaled="0"/>
                </a:gradFill>
              </a:rPr>
              <a:t>é</a:t>
            </a:r>
            <a:r>
              <a:rPr lang="en-US" altLang="fr-CA" sz="4000" b="1" dirty="0">
                <a:gradFill>
                  <a:gsLst>
                    <a:gs pos="0">
                      <a:srgbClr val="14CD68"/>
                    </a:gs>
                    <a:gs pos="100000">
                      <a:srgbClr val="0B6E38"/>
                    </a:gs>
                  </a:gsLst>
                  <a:lin scaled="0"/>
                </a:gradFill>
              </a:rPr>
              <a:t>s pour le Suivi de la Consommation</a:t>
            </a:r>
            <a:endParaRPr lang="en-US" altLang="fr-CA" sz="4000" b="1" dirty="0">
              <a:gradFill>
                <a:gsLst>
                  <a:gs pos="0">
                    <a:srgbClr val="14CD68"/>
                  </a:gs>
                  <a:gs pos="100000">
                    <a:srgbClr val="0B6E38"/>
                  </a:gs>
                </a:gsLst>
                <a:lin scaled="0"/>
              </a:gradFill>
            </a:endParaRPr>
          </a:p>
        </p:txBody>
      </p:sp>
      <p:sp>
        <p:nvSpPr>
          <p:cNvPr id="3" name="Text 1"/>
          <p:cNvSpPr/>
          <p:nvPr/>
        </p:nvSpPr>
        <p:spPr>
          <a:xfrm>
            <a:off x="807244" y="2562939"/>
            <a:ext cx="13015913" cy="1106924"/>
          </a:xfrm>
          <a:prstGeom prst="rect">
            <a:avLst/>
          </a:prstGeom>
          <a:noFill/>
        </p:spPr>
        <p:txBody>
          <a:bodyPr wrap="square" lIns="0" tIns="0" rIns="0" bIns="0" rtlCol="0" anchor="t"/>
          <a:lstStyle/>
          <a:p>
            <a:pPr marL="0" indent="0">
              <a:lnSpc>
                <a:spcPts val="2900"/>
              </a:lnSpc>
              <a:buNone/>
            </a:pPr>
            <a:r>
              <a:rPr lang="en-US" sz="1800" dirty="0">
                <a:solidFill>
                  <a:srgbClr val="E0E4E6"/>
                </a:solidFill>
                <a:latin typeface="Barlow" panose="00000800000000000000" pitchFamily="34" charset="0"/>
                <a:ea typeface="Barlow" panose="00000800000000000000" pitchFamily="34" charset="-122"/>
                <a:cs typeface="Barlow" panose="00000800000000000000" pitchFamily="34" charset="-120"/>
              </a:rPr>
              <a:t>L'IoT repose sur un réseau de capteurs et d'appareils connectés qui collectent et transmettent des données sur la consommation d'énergie. Ces données permettent de mieux comprendre les habitudes de consommation, d'identifier les appareils énergivores, et d'optimiser l'utilisation de l'énergie.</a:t>
            </a:r>
            <a:endParaRPr lang="en-US" sz="1800" dirty="0"/>
          </a:p>
        </p:txBody>
      </p:sp>
      <p:pic>
        <p:nvPicPr>
          <p:cNvPr id="4" name="Image 0" descr="preencoded.png"/>
          <p:cNvPicPr>
            <a:picLocks noChangeAspect="1"/>
          </p:cNvPicPr>
          <p:nvPr/>
        </p:nvPicPr>
        <p:blipFill>
          <a:blip r:embed="rId1"/>
          <a:stretch>
            <a:fillRect/>
          </a:stretch>
        </p:blipFill>
        <p:spPr>
          <a:xfrm>
            <a:off x="807244" y="3929301"/>
            <a:ext cx="576620" cy="576620"/>
          </a:xfrm>
          <a:prstGeom prst="rect">
            <a:avLst/>
          </a:prstGeom>
        </p:spPr>
      </p:pic>
      <p:sp>
        <p:nvSpPr>
          <p:cNvPr id="5" name="Text 2"/>
          <p:cNvSpPr/>
          <p:nvPr/>
        </p:nvSpPr>
        <p:spPr>
          <a:xfrm>
            <a:off x="807244" y="4736544"/>
            <a:ext cx="2772013" cy="320397"/>
          </a:xfrm>
          <a:prstGeom prst="rect">
            <a:avLst/>
          </a:prstGeom>
          <a:noFill/>
        </p:spPr>
        <p:txBody>
          <a:bodyPr wrap="none" lIns="0" tIns="0" rIns="0" bIns="0" rtlCol="0" anchor="t"/>
          <a:lstStyle/>
          <a:p>
            <a:pPr marL="0" indent="0" algn="l">
              <a:lnSpc>
                <a:spcPts val="2500"/>
              </a:lnSpc>
              <a:buNone/>
            </a:pPr>
            <a:r>
              <a:rPr lang="en-US" altLang="fr-CA" sz="2000" dirty="0">
                <a:solidFill>
                  <a:schemeClr val="bg1"/>
                </a:solidFill>
              </a:rPr>
              <a:t>Compteurs Intelligents</a:t>
            </a:r>
            <a:endParaRPr lang="en-US" altLang="fr-CA" sz="2000" dirty="0">
              <a:solidFill>
                <a:schemeClr val="bg1"/>
              </a:solidFill>
            </a:endParaRPr>
          </a:p>
        </p:txBody>
      </p:sp>
      <p:sp>
        <p:nvSpPr>
          <p:cNvPr id="6" name="Text 3"/>
          <p:cNvSpPr/>
          <p:nvPr/>
        </p:nvSpPr>
        <p:spPr>
          <a:xfrm>
            <a:off x="807244" y="5195292"/>
            <a:ext cx="2994541" cy="1475899"/>
          </a:xfrm>
          <a:prstGeom prst="rect">
            <a:avLst/>
          </a:prstGeom>
          <a:noFill/>
        </p:spPr>
        <p:txBody>
          <a:bodyPr wrap="square" lIns="0" tIns="0" rIns="0" bIns="0" rtlCol="0" anchor="t"/>
          <a:lstStyle/>
          <a:p>
            <a:pPr marL="0" indent="0" algn="l">
              <a:lnSpc>
                <a:spcPts val="2900"/>
              </a:lnSpc>
              <a:buNone/>
            </a:pPr>
            <a:r>
              <a:rPr lang="en-US" sz="1800" dirty="0">
                <a:solidFill>
                  <a:srgbClr val="E0E4E6"/>
                </a:solidFill>
                <a:latin typeface="Barlow" panose="00000800000000000000" pitchFamily="34" charset="0"/>
                <a:ea typeface="Barlow" panose="00000800000000000000" pitchFamily="34" charset="-122"/>
                <a:cs typeface="Barlow" panose="00000800000000000000" pitchFamily="34" charset="-120"/>
              </a:rPr>
              <a:t>Mesure la consommation d'énergie en temps réel et transmet les données à un système central.</a:t>
            </a:r>
            <a:endParaRPr lang="en-US" sz="1800" dirty="0"/>
          </a:p>
        </p:txBody>
      </p:sp>
      <p:pic>
        <p:nvPicPr>
          <p:cNvPr id="7" name="Image 1" descr="preencoded.png"/>
          <p:cNvPicPr>
            <a:picLocks noChangeAspect="1"/>
          </p:cNvPicPr>
          <p:nvPr/>
        </p:nvPicPr>
        <p:blipFill>
          <a:blip r:embed="rId2"/>
          <a:stretch>
            <a:fillRect/>
          </a:stretch>
        </p:blipFill>
        <p:spPr>
          <a:xfrm>
            <a:off x="4147661" y="3929301"/>
            <a:ext cx="576620" cy="576620"/>
          </a:xfrm>
          <a:prstGeom prst="rect">
            <a:avLst/>
          </a:prstGeom>
        </p:spPr>
      </p:pic>
      <p:sp>
        <p:nvSpPr>
          <p:cNvPr id="8" name="Text 4"/>
          <p:cNvSpPr/>
          <p:nvPr/>
        </p:nvSpPr>
        <p:spPr>
          <a:xfrm>
            <a:off x="4147661" y="4736544"/>
            <a:ext cx="2994541" cy="640794"/>
          </a:xfrm>
          <a:prstGeom prst="rect">
            <a:avLst/>
          </a:prstGeom>
          <a:noFill/>
        </p:spPr>
        <p:txBody>
          <a:bodyPr wrap="square" lIns="0" tIns="0" rIns="0" bIns="0" rtlCol="0" anchor="t"/>
          <a:lstStyle/>
          <a:p>
            <a:pPr marL="0" indent="0" algn="l">
              <a:lnSpc>
                <a:spcPts val="2500"/>
              </a:lnSpc>
              <a:buNone/>
            </a:pPr>
            <a:r>
              <a:rPr lang="en-US" altLang="fr-CA" sz="2000" dirty="0">
                <a:solidFill>
                  <a:schemeClr val="bg1"/>
                </a:solidFill>
              </a:rPr>
              <a:t>Capteurs de Temp</a:t>
            </a:r>
            <a:r>
              <a:rPr lang="en-US" altLang="en-US" sz="2000" dirty="0">
                <a:solidFill>
                  <a:schemeClr val="bg1"/>
                </a:solidFill>
              </a:rPr>
              <a:t>é</a:t>
            </a:r>
            <a:r>
              <a:rPr lang="en-US" altLang="fr-CA" sz="2000" dirty="0">
                <a:solidFill>
                  <a:schemeClr val="bg1"/>
                </a:solidFill>
              </a:rPr>
              <a:t>rature</a:t>
            </a:r>
            <a:endParaRPr lang="en-US" altLang="fr-CA" sz="2000" dirty="0">
              <a:solidFill>
                <a:schemeClr val="bg1"/>
              </a:solidFill>
            </a:endParaRPr>
          </a:p>
        </p:txBody>
      </p:sp>
      <p:sp>
        <p:nvSpPr>
          <p:cNvPr id="9" name="Text 5"/>
          <p:cNvSpPr/>
          <p:nvPr/>
        </p:nvSpPr>
        <p:spPr>
          <a:xfrm>
            <a:off x="4147661" y="5515689"/>
            <a:ext cx="2994541" cy="1475899"/>
          </a:xfrm>
          <a:prstGeom prst="rect">
            <a:avLst/>
          </a:prstGeom>
          <a:noFill/>
        </p:spPr>
        <p:txBody>
          <a:bodyPr wrap="square" lIns="0" tIns="0" rIns="0" bIns="0" rtlCol="0" anchor="t"/>
          <a:lstStyle/>
          <a:p>
            <a:pPr marL="0" indent="0" algn="l">
              <a:lnSpc>
                <a:spcPts val="2900"/>
              </a:lnSpc>
              <a:buNone/>
            </a:pPr>
            <a:r>
              <a:rPr lang="en-US" sz="1800" dirty="0">
                <a:solidFill>
                  <a:srgbClr val="E0E4E6"/>
                </a:solidFill>
                <a:latin typeface="Barlow" panose="00000800000000000000" pitchFamily="34" charset="0"/>
                <a:ea typeface="Barlow" panose="00000800000000000000" pitchFamily="34" charset="-122"/>
                <a:cs typeface="Barlow" panose="00000800000000000000" pitchFamily="34" charset="-120"/>
              </a:rPr>
              <a:t>Surveillent la température intérieure et extérieure pour ajuster automatiquement le chauffage et la climatisation.</a:t>
            </a:r>
            <a:endParaRPr lang="en-US" sz="1800" dirty="0"/>
          </a:p>
        </p:txBody>
      </p:sp>
      <p:pic>
        <p:nvPicPr>
          <p:cNvPr id="10" name="Image 2" descr="preencoded.png"/>
          <p:cNvPicPr>
            <a:picLocks noChangeAspect="1"/>
          </p:cNvPicPr>
          <p:nvPr/>
        </p:nvPicPr>
        <p:blipFill>
          <a:blip r:embed="rId3"/>
          <a:stretch>
            <a:fillRect/>
          </a:stretch>
        </p:blipFill>
        <p:spPr>
          <a:xfrm>
            <a:off x="7488079" y="3929301"/>
            <a:ext cx="576620" cy="576620"/>
          </a:xfrm>
          <a:prstGeom prst="rect">
            <a:avLst/>
          </a:prstGeom>
        </p:spPr>
      </p:pic>
      <p:sp>
        <p:nvSpPr>
          <p:cNvPr id="11" name="Text 6"/>
          <p:cNvSpPr/>
          <p:nvPr/>
        </p:nvSpPr>
        <p:spPr>
          <a:xfrm>
            <a:off x="7488079" y="4736544"/>
            <a:ext cx="2562820" cy="320397"/>
          </a:xfrm>
          <a:prstGeom prst="rect">
            <a:avLst/>
          </a:prstGeom>
          <a:noFill/>
        </p:spPr>
        <p:txBody>
          <a:bodyPr wrap="none" lIns="0" tIns="0" rIns="0" bIns="0" rtlCol="0" anchor="t"/>
          <a:lstStyle/>
          <a:p>
            <a:pPr marL="0" indent="0" algn="l">
              <a:lnSpc>
                <a:spcPts val="2500"/>
              </a:lnSpc>
              <a:buNone/>
            </a:pPr>
            <a:r>
              <a:rPr lang="en-US" altLang="fr-CA" sz="2000" dirty="0">
                <a:solidFill>
                  <a:schemeClr val="bg1"/>
                </a:solidFill>
              </a:rPr>
              <a:t>Prises Connect</a:t>
            </a:r>
            <a:r>
              <a:rPr lang="en-US" altLang="en-US" sz="2000" dirty="0">
                <a:solidFill>
                  <a:schemeClr val="bg1"/>
                </a:solidFill>
              </a:rPr>
              <a:t>é</a:t>
            </a:r>
            <a:r>
              <a:rPr lang="en-US" altLang="fr-CA" sz="2000" dirty="0">
                <a:solidFill>
                  <a:schemeClr val="bg1"/>
                </a:solidFill>
              </a:rPr>
              <a:t>es</a:t>
            </a:r>
            <a:endParaRPr lang="en-US" altLang="fr-CA" sz="2000" dirty="0">
              <a:solidFill>
                <a:schemeClr val="bg1"/>
              </a:solidFill>
            </a:endParaRPr>
          </a:p>
        </p:txBody>
      </p:sp>
      <p:sp>
        <p:nvSpPr>
          <p:cNvPr id="12" name="Text 7"/>
          <p:cNvSpPr/>
          <p:nvPr/>
        </p:nvSpPr>
        <p:spPr>
          <a:xfrm>
            <a:off x="7488079" y="5195292"/>
            <a:ext cx="2994541" cy="1475899"/>
          </a:xfrm>
          <a:prstGeom prst="rect">
            <a:avLst/>
          </a:prstGeom>
          <a:noFill/>
        </p:spPr>
        <p:txBody>
          <a:bodyPr wrap="square" lIns="0" tIns="0" rIns="0" bIns="0" rtlCol="0" anchor="t"/>
          <a:lstStyle/>
          <a:p>
            <a:pPr marL="0" indent="0" algn="l">
              <a:lnSpc>
                <a:spcPts val="2900"/>
              </a:lnSpc>
              <a:buNone/>
            </a:pPr>
            <a:r>
              <a:rPr lang="en-US" sz="1800" dirty="0">
                <a:solidFill>
                  <a:srgbClr val="E0E4E6"/>
                </a:solidFill>
                <a:latin typeface="Barlow" panose="00000800000000000000" pitchFamily="34" charset="0"/>
                <a:ea typeface="Barlow" panose="00000800000000000000" pitchFamily="34" charset="-122"/>
                <a:cs typeface="Barlow" panose="00000800000000000000" pitchFamily="34" charset="-120"/>
              </a:rPr>
              <a:t>Permettent de contrôler et de surveiller la consommation d'énergie des appareils branchés.</a:t>
            </a:r>
            <a:endParaRPr lang="en-US" sz="1800" dirty="0"/>
          </a:p>
        </p:txBody>
      </p:sp>
      <p:pic>
        <p:nvPicPr>
          <p:cNvPr id="13" name="Image 3" descr="preencoded.png"/>
          <p:cNvPicPr>
            <a:picLocks noChangeAspect="1"/>
          </p:cNvPicPr>
          <p:nvPr/>
        </p:nvPicPr>
        <p:blipFill>
          <a:blip r:embed="rId4"/>
          <a:stretch>
            <a:fillRect/>
          </a:stretch>
        </p:blipFill>
        <p:spPr>
          <a:xfrm>
            <a:off x="10828496" y="3929301"/>
            <a:ext cx="576620" cy="576620"/>
          </a:xfrm>
          <a:prstGeom prst="rect">
            <a:avLst/>
          </a:prstGeom>
        </p:spPr>
      </p:pic>
      <p:sp>
        <p:nvSpPr>
          <p:cNvPr id="14" name="Text 8"/>
          <p:cNvSpPr/>
          <p:nvPr/>
        </p:nvSpPr>
        <p:spPr>
          <a:xfrm>
            <a:off x="10828496" y="4736544"/>
            <a:ext cx="2726055" cy="320397"/>
          </a:xfrm>
          <a:prstGeom prst="rect">
            <a:avLst/>
          </a:prstGeom>
          <a:noFill/>
        </p:spPr>
        <p:txBody>
          <a:bodyPr wrap="none" lIns="0" tIns="0" rIns="0" bIns="0" rtlCol="0" anchor="t"/>
          <a:lstStyle/>
          <a:p>
            <a:pPr marL="0" indent="0" algn="l">
              <a:lnSpc>
                <a:spcPts val="2500"/>
              </a:lnSpc>
              <a:buNone/>
            </a:pPr>
            <a:r>
              <a:rPr lang="en-US" altLang="fr-CA" sz="2000" dirty="0">
                <a:solidFill>
                  <a:schemeClr val="bg1"/>
                </a:solidFill>
              </a:rPr>
              <a:t>mpoules Connect</a:t>
            </a:r>
            <a:r>
              <a:rPr lang="en-US" altLang="en-US" sz="2000" dirty="0">
                <a:solidFill>
                  <a:schemeClr val="bg1"/>
                </a:solidFill>
              </a:rPr>
              <a:t>é</a:t>
            </a:r>
            <a:r>
              <a:rPr lang="en-US" altLang="fr-CA" sz="2000" dirty="0">
                <a:solidFill>
                  <a:schemeClr val="bg1"/>
                </a:solidFill>
              </a:rPr>
              <a:t>es</a:t>
            </a:r>
            <a:endParaRPr lang="en-US" altLang="fr-CA" sz="2000" dirty="0">
              <a:solidFill>
                <a:schemeClr val="bg1"/>
              </a:solidFill>
            </a:endParaRPr>
          </a:p>
        </p:txBody>
      </p:sp>
      <p:sp>
        <p:nvSpPr>
          <p:cNvPr id="15" name="Text 9"/>
          <p:cNvSpPr/>
          <p:nvPr/>
        </p:nvSpPr>
        <p:spPr>
          <a:xfrm>
            <a:off x="10828496" y="5195292"/>
            <a:ext cx="2994660" cy="2213848"/>
          </a:xfrm>
          <a:prstGeom prst="rect">
            <a:avLst/>
          </a:prstGeom>
          <a:noFill/>
        </p:spPr>
        <p:txBody>
          <a:bodyPr wrap="square" lIns="0" tIns="0" rIns="0" bIns="0" rtlCol="0" anchor="t"/>
          <a:lstStyle/>
          <a:p>
            <a:pPr marL="0" indent="0" algn="l">
              <a:lnSpc>
                <a:spcPts val="2900"/>
              </a:lnSpc>
              <a:buNone/>
            </a:pPr>
            <a:r>
              <a:rPr lang="en-US" sz="1800" dirty="0">
                <a:solidFill>
                  <a:srgbClr val="E0E4E6"/>
                </a:solidFill>
                <a:latin typeface="Barlow" panose="00000800000000000000" pitchFamily="34" charset="0"/>
                <a:ea typeface="Barlow" panose="00000800000000000000" pitchFamily="34" charset="-122"/>
                <a:cs typeface="Barlow" panose="00000800000000000000" pitchFamily="34" charset="-120"/>
              </a:rPr>
              <a:t>Réduisent la consommation d'énergie en s'adaptant à la luminosité ambiante et en s'éteignant automatiquement lorsqu'elles ne sont pas utilisées.</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52078" y="525423"/>
            <a:ext cx="7812643" cy="1056561"/>
          </a:xfrm>
          <a:prstGeom prst="rect">
            <a:avLst/>
          </a:prstGeom>
          <a:noFill/>
        </p:spPr>
        <p:txBody>
          <a:bodyPr wrap="square" lIns="0" tIns="0" rIns="0" bIns="0" rtlCol="0" anchor="t"/>
          <a:lstStyle/>
          <a:p>
            <a:pPr marL="0" indent="0">
              <a:lnSpc>
                <a:spcPts val="4150"/>
              </a:lnSpc>
              <a:buNone/>
            </a:pPr>
            <a:r>
              <a:rPr lang="en-US" altLang="fr-CA" sz="3300" b="1" dirty="0">
                <a:gradFill>
                  <a:gsLst>
                    <a:gs pos="0">
                      <a:srgbClr val="14CD68"/>
                    </a:gs>
                    <a:gs pos="100000">
                      <a:srgbClr val="0B6E38"/>
                    </a:gs>
                  </a:gsLst>
                  <a:lin scaled="0"/>
                </a:gradFill>
              </a:rPr>
              <a:t>Automatisation et Optimisation de la Consommation d'</a:t>
            </a:r>
            <a:r>
              <a:rPr lang="en-US" altLang="en-US" sz="3300" b="1" dirty="0">
                <a:gradFill>
                  <a:gsLst>
                    <a:gs pos="0">
                      <a:srgbClr val="14CD68"/>
                    </a:gs>
                    <a:gs pos="100000">
                      <a:srgbClr val="0B6E38"/>
                    </a:gs>
                  </a:gsLst>
                  <a:lin scaled="0"/>
                </a:gradFill>
              </a:rPr>
              <a:t>É</a:t>
            </a:r>
            <a:r>
              <a:rPr lang="en-US" altLang="fr-CA" sz="3300" b="1" dirty="0">
                <a:gradFill>
                  <a:gsLst>
                    <a:gs pos="0">
                      <a:srgbClr val="14CD68"/>
                    </a:gs>
                    <a:gs pos="100000">
                      <a:srgbClr val="0B6E38"/>
                    </a:gs>
                  </a:gsLst>
                  <a:lin scaled="0"/>
                </a:gradFill>
              </a:rPr>
              <a:t>nergie</a:t>
            </a:r>
            <a:endParaRPr lang="en-US" altLang="fr-CA" sz="3300" b="1" dirty="0">
              <a:gradFill>
                <a:gsLst>
                  <a:gs pos="0">
                    <a:srgbClr val="14CD68"/>
                  </a:gs>
                  <a:gs pos="100000">
                    <a:srgbClr val="0B6E38"/>
                  </a:gs>
                </a:gsLst>
                <a:lin scaled="0"/>
              </a:gradFill>
            </a:endParaRPr>
          </a:p>
        </p:txBody>
      </p:sp>
      <p:sp>
        <p:nvSpPr>
          <p:cNvPr id="4" name="Text 1"/>
          <p:cNvSpPr/>
          <p:nvPr/>
        </p:nvSpPr>
        <p:spPr>
          <a:xfrm>
            <a:off x="6152078" y="1867257"/>
            <a:ext cx="7812643" cy="608648"/>
          </a:xfrm>
          <a:prstGeom prst="rect">
            <a:avLst/>
          </a:prstGeom>
          <a:noFill/>
        </p:spPr>
        <p:txBody>
          <a:bodyPr wrap="square" lIns="0" tIns="0" rIns="0" bIns="0" rtlCol="0" anchor="t"/>
          <a:lstStyle/>
          <a:p>
            <a:pPr marL="0" indent="0">
              <a:lnSpc>
                <a:spcPts val="2350"/>
              </a:lnSpc>
              <a:buNone/>
            </a:pPr>
            <a:r>
              <a:rPr lang="en-US" sz="1450" dirty="0">
                <a:solidFill>
                  <a:srgbClr val="E0E4E6"/>
                </a:solidFill>
                <a:latin typeface="Barlow" panose="00000800000000000000" pitchFamily="34" charset="0"/>
                <a:ea typeface="Barlow" panose="00000800000000000000" pitchFamily="34" charset="-122"/>
                <a:cs typeface="Barlow" panose="00000800000000000000" pitchFamily="34" charset="-120"/>
              </a:rPr>
              <a:t>L'IoT permet d'automatiser des tâches et de prendre des décisions éclairées pour optimiser la consommation d'énergie.</a:t>
            </a:r>
            <a:endParaRPr lang="en-US" sz="1450" dirty="0"/>
          </a:p>
        </p:txBody>
      </p:sp>
      <p:pic>
        <p:nvPicPr>
          <p:cNvPr id="5" name="Image 1" descr="preencoded.png"/>
          <p:cNvPicPr>
            <a:picLocks noChangeAspect="1"/>
          </p:cNvPicPr>
          <p:nvPr/>
        </p:nvPicPr>
        <p:blipFill>
          <a:blip r:embed="rId2"/>
          <a:stretch>
            <a:fillRect/>
          </a:stretch>
        </p:blipFill>
        <p:spPr>
          <a:xfrm>
            <a:off x="6152078" y="2689860"/>
            <a:ext cx="951071" cy="1671399"/>
          </a:xfrm>
          <a:prstGeom prst="rect">
            <a:avLst/>
          </a:prstGeom>
        </p:spPr>
      </p:pic>
      <p:sp>
        <p:nvSpPr>
          <p:cNvPr id="6" name="Text 2"/>
          <p:cNvSpPr/>
          <p:nvPr/>
        </p:nvSpPr>
        <p:spPr>
          <a:xfrm>
            <a:off x="7388423" y="2880003"/>
            <a:ext cx="2113598" cy="264081"/>
          </a:xfrm>
          <a:prstGeom prst="rect">
            <a:avLst/>
          </a:prstGeom>
          <a:noFill/>
        </p:spPr>
        <p:txBody>
          <a:bodyPr wrap="none" lIns="0" tIns="0" rIns="0" bIns="0" rtlCol="0" anchor="t"/>
          <a:lstStyle/>
          <a:p>
            <a:pPr marL="0" indent="0" algn="l">
              <a:lnSpc>
                <a:spcPts val="2050"/>
              </a:lnSpc>
              <a:buNone/>
            </a:pPr>
            <a:r>
              <a:rPr lang="en-US" altLang="fr-CA" sz="2800" dirty="0">
                <a:gradFill>
                  <a:gsLst>
                    <a:gs pos="0">
                      <a:srgbClr val="14CD68"/>
                    </a:gs>
                    <a:gs pos="100000">
                      <a:srgbClr val="0B6E38"/>
                    </a:gs>
                  </a:gsLst>
                  <a:lin scaled="0"/>
                </a:gradFill>
              </a:rPr>
              <a:t>Programmation</a:t>
            </a:r>
            <a:endParaRPr lang="en-US" altLang="fr-CA" sz="2800" dirty="0">
              <a:gradFill>
                <a:gsLst>
                  <a:gs pos="0">
                    <a:srgbClr val="14CD68"/>
                  </a:gs>
                  <a:gs pos="100000">
                    <a:srgbClr val="0B6E38"/>
                  </a:gs>
                </a:gsLst>
                <a:lin scaled="0"/>
              </a:gradFill>
            </a:endParaRPr>
          </a:p>
        </p:txBody>
      </p:sp>
      <p:sp>
        <p:nvSpPr>
          <p:cNvPr id="7" name="Text 3"/>
          <p:cNvSpPr/>
          <p:nvPr/>
        </p:nvSpPr>
        <p:spPr>
          <a:xfrm>
            <a:off x="7388423" y="3258145"/>
            <a:ext cx="6576298" cy="912971"/>
          </a:xfrm>
          <a:prstGeom prst="rect">
            <a:avLst/>
          </a:prstGeom>
          <a:noFill/>
        </p:spPr>
        <p:txBody>
          <a:bodyPr wrap="square" lIns="0" tIns="0" rIns="0" bIns="0" rtlCol="0" anchor="t"/>
          <a:lstStyle/>
          <a:p>
            <a:pPr marL="0" indent="0" algn="l">
              <a:lnSpc>
                <a:spcPts val="2350"/>
              </a:lnSpc>
              <a:buNone/>
            </a:pPr>
            <a:r>
              <a:rPr lang="en-US" sz="1450" dirty="0">
                <a:solidFill>
                  <a:srgbClr val="E0E4E6"/>
                </a:solidFill>
                <a:latin typeface="Barlow" panose="00000800000000000000" pitchFamily="34" charset="0"/>
                <a:ea typeface="Barlow" panose="00000800000000000000" pitchFamily="34" charset="-122"/>
                <a:cs typeface="Barlow" panose="00000800000000000000" pitchFamily="34" charset="-120"/>
              </a:rPr>
              <a:t>Paramétrer les appareils pour qu'ils fonctionnent à des heures spécifiques, par exemple, éteindre les lumières automatiquement la nuit ou régler le thermostat en fonction des habitudes des occupants.</a:t>
            </a:r>
            <a:endParaRPr lang="en-US" sz="1450" dirty="0"/>
          </a:p>
        </p:txBody>
      </p:sp>
      <p:pic>
        <p:nvPicPr>
          <p:cNvPr id="8" name="Image 2" descr="preencoded.png"/>
          <p:cNvPicPr>
            <a:picLocks noChangeAspect="1"/>
          </p:cNvPicPr>
          <p:nvPr/>
        </p:nvPicPr>
        <p:blipFill>
          <a:blip r:embed="rId3"/>
          <a:stretch>
            <a:fillRect/>
          </a:stretch>
        </p:blipFill>
        <p:spPr>
          <a:xfrm>
            <a:off x="6152078" y="4361259"/>
            <a:ext cx="951071" cy="1671399"/>
          </a:xfrm>
          <a:prstGeom prst="rect">
            <a:avLst/>
          </a:prstGeom>
        </p:spPr>
      </p:pic>
      <p:sp>
        <p:nvSpPr>
          <p:cNvPr id="9" name="Text 4"/>
          <p:cNvSpPr/>
          <p:nvPr/>
        </p:nvSpPr>
        <p:spPr>
          <a:xfrm>
            <a:off x="7388423" y="4551402"/>
            <a:ext cx="2225278" cy="264081"/>
          </a:xfrm>
          <a:prstGeom prst="rect">
            <a:avLst/>
          </a:prstGeom>
          <a:noFill/>
        </p:spPr>
        <p:txBody>
          <a:bodyPr wrap="none" lIns="0" tIns="0" rIns="0" bIns="0" rtlCol="0" anchor="t"/>
          <a:lstStyle/>
          <a:p>
            <a:pPr marL="0" indent="0" algn="l">
              <a:lnSpc>
                <a:spcPts val="2050"/>
              </a:lnSpc>
              <a:buNone/>
            </a:pPr>
            <a:r>
              <a:rPr lang="en-US" altLang="fr-CA" sz="2800" dirty="0">
                <a:gradFill>
                  <a:gsLst>
                    <a:gs pos="0">
                      <a:srgbClr val="14CD68"/>
                    </a:gs>
                    <a:gs pos="100000">
                      <a:srgbClr val="0B6E38"/>
                    </a:gs>
                  </a:gsLst>
                  <a:lin scaled="0"/>
                </a:gradFill>
              </a:rPr>
              <a:t>D</a:t>
            </a:r>
            <a:r>
              <a:rPr lang="en-US" altLang="en-US" sz="2800" dirty="0">
                <a:gradFill>
                  <a:gsLst>
                    <a:gs pos="0">
                      <a:srgbClr val="14CD68"/>
                    </a:gs>
                    <a:gs pos="100000">
                      <a:srgbClr val="0B6E38"/>
                    </a:gs>
                  </a:gsLst>
                  <a:lin scaled="0"/>
                </a:gradFill>
              </a:rPr>
              <a:t>é</a:t>
            </a:r>
            <a:r>
              <a:rPr lang="en-US" altLang="fr-CA" sz="2800" dirty="0">
                <a:gradFill>
                  <a:gsLst>
                    <a:gs pos="0">
                      <a:srgbClr val="14CD68"/>
                    </a:gs>
                    <a:gs pos="100000">
                      <a:srgbClr val="0B6E38"/>
                    </a:gs>
                  </a:gsLst>
                  <a:lin scaled="0"/>
                </a:gradFill>
              </a:rPr>
              <a:t>tection de Pr</a:t>
            </a:r>
            <a:r>
              <a:rPr lang="en-US" altLang="en-US" sz="2800" dirty="0">
                <a:gradFill>
                  <a:gsLst>
                    <a:gs pos="0">
                      <a:srgbClr val="14CD68"/>
                    </a:gs>
                    <a:gs pos="100000">
                      <a:srgbClr val="0B6E38"/>
                    </a:gs>
                  </a:gsLst>
                  <a:lin scaled="0"/>
                </a:gradFill>
              </a:rPr>
              <a:t>é</a:t>
            </a:r>
            <a:r>
              <a:rPr lang="en-US" altLang="fr-CA" sz="2800" dirty="0">
                <a:gradFill>
                  <a:gsLst>
                    <a:gs pos="0">
                      <a:srgbClr val="14CD68"/>
                    </a:gs>
                    <a:gs pos="100000">
                      <a:srgbClr val="0B6E38"/>
                    </a:gs>
                  </a:gsLst>
                  <a:lin scaled="0"/>
                </a:gradFill>
              </a:rPr>
              <a:t>sence</a:t>
            </a:r>
            <a:endParaRPr lang="en-US" altLang="fr-CA" sz="2800" dirty="0">
              <a:gradFill>
                <a:gsLst>
                  <a:gs pos="0">
                    <a:srgbClr val="14CD68"/>
                  </a:gs>
                  <a:gs pos="100000">
                    <a:srgbClr val="0B6E38"/>
                  </a:gs>
                </a:gsLst>
                <a:lin scaled="0"/>
              </a:gradFill>
            </a:endParaRPr>
          </a:p>
        </p:txBody>
      </p:sp>
      <p:sp>
        <p:nvSpPr>
          <p:cNvPr id="10" name="Text 5"/>
          <p:cNvSpPr/>
          <p:nvPr/>
        </p:nvSpPr>
        <p:spPr>
          <a:xfrm>
            <a:off x="7388423" y="4929545"/>
            <a:ext cx="6576298" cy="912971"/>
          </a:xfrm>
          <a:prstGeom prst="rect">
            <a:avLst/>
          </a:prstGeom>
          <a:noFill/>
        </p:spPr>
        <p:txBody>
          <a:bodyPr wrap="square" lIns="0" tIns="0" rIns="0" bIns="0" rtlCol="0" anchor="t"/>
          <a:lstStyle/>
          <a:p>
            <a:pPr marL="0" indent="0" algn="l">
              <a:lnSpc>
                <a:spcPts val="2350"/>
              </a:lnSpc>
              <a:buNone/>
            </a:pPr>
            <a:r>
              <a:rPr lang="en-US" sz="1450" dirty="0">
                <a:solidFill>
                  <a:srgbClr val="E0E4E6"/>
                </a:solidFill>
                <a:latin typeface="Barlow" panose="00000800000000000000" pitchFamily="34" charset="0"/>
                <a:ea typeface="Barlow" panose="00000800000000000000" pitchFamily="34" charset="-122"/>
                <a:cs typeface="Barlow" panose="00000800000000000000" pitchFamily="34" charset="-120"/>
              </a:rPr>
              <a:t>Utiliser des capteurs de mouvement pour allumer les lumières uniquement lorsque des personnes sont présentes dans une pièce et les éteindre automatiquement lorsqu'elles quittent.</a:t>
            </a:r>
            <a:endParaRPr lang="en-US" sz="1450" dirty="0"/>
          </a:p>
        </p:txBody>
      </p:sp>
      <p:pic>
        <p:nvPicPr>
          <p:cNvPr id="11" name="Image 3" descr="preencoded.png"/>
          <p:cNvPicPr>
            <a:picLocks noChangeAspect="1"/>
          </p:cNvPicPr>
          <p:nvPr/>
        </p:nvPicPr>
        <p:blipFill>
          <a:blip r:embed="rId4"/>
          <a:stretch>
            <a:fillRect/>
          </a:stretch>
        </p:blipFill>
        <p:spPr>
          <a:xfrm>
            <a:off x="6152078" y="6032659"/>
            <a:ext cx="951071" cy="1671399"/>
          </a:xfrm>
          <a:prstGeom prst="rect">
            <a:avLst/>
          </a:prstGeom>
        </p:spPr>
      </p:pic>
      <p:sp>
        <p:nvSpPr>
          <p:cNvPr id="12" name="Text 6"/>
          <p:cNvSpPr/>
          <p:nvPr/>
        </p:nvSpPr>
        <p:spPr>
          <a:xfrm>
            <a:off x="7388423" y="6222802"/>
            <a:ext cx="3426500" cy="264081"/>
          </a:xfrm>
          <a:prstGeom prst="rect">
            <a:avLst/>
          </a:prstGeom>
          <a:noFill/>
        </p:spPr>
        <p:txBody>
          <a:bodyPr wrap="none" lIns="0" tIns="0" rIns="0" bIns="0" rtlCol="0" anchor="t"/>
          <a:lstStyle/>
          <a:p>
            <a:pPr marL="0" indent="0" algn="l">
              <a:lnSpc>
                <a:spcPts val="2050"/>
              </a:lnSpc>
              <a:buNone/>
            </a:pPr>
            <a:r>
              <a:rPr lang="en-US" altLang="fr-CA" sz="2400" dirty="0">
                <a:gradFill>
                  <a:gsLst>
                    <a:gs pos="0">
                      <a:srgbClr val="14CD68"/>
                    </a:gs>
                    <a:gs pos="100000">
                      <a:srgbClr val="0B6E38"/>
                    </a:gs>
                  </a:gsLst>
                  <a:lin scaled="0"/>
                </a:gradFill>
              </a:rPr>
              <a:t>Optimisation des Cycles de Lavage</a:t>
            </a:r>
            <a:endParaRPr lang="en-US" altLang="fr-CA" sz="2400" dirty="0">
              <a:gradFill>
                <a:gsLst>
                  <a:gs pos="0">
                    <a:srgbClr val="14CD68"/>
                  </a:gs>
                  <a:gs pos="100000">
                    <a:srgbClr val="0B6E38"/>
                  </a:gs>
                </a:gsLst>
                <a:lin scaled="0"/>
              </a:gradFill>
            </a:endParaRPr>
          </a:p>
        </p:txBody>
      </p:sp>
      <p:sp>
        <p:nvSpPr>
          <p:cNvPr id="13" name="Text 7"/>
          <p:cNvSpPr/>
          <p:nvPr/>
        </p:nvSpPr>
        <p:spPr>
          <a:xfrm>
            <a:off x="7388423" y="6600944"/>
            <a:ext cx="6576298" cy="912971"/>
          </a:xfrm>
          <a:prstGeom prst="rect">
            <a:avLst/>
          </a:prstGeom>
          <a:noFill/>
        </p:spPr>
        <p:txBody>
          <a:bodyPr wrap="square" lIns="0" tIns="0" rIns="0" bIns="0" rtlCol="0" anchor="t"/>
          <a:lstStyle/>
          <a:p>
            <a:pPr marL="0" indent="0" algn="l">
              <a:lnSpc>
                <a:spcPts val="2350"/>
              </a:lnSpc>
              <a:buNone/>
            </a:pPr>
            <a:r>
              <a:rPr lang="en-US" sz="1450" dirty="0">
                <a:solidFill>
                  <a:srgbClr val="E0E4E6"/>
                </a:solidFill>
                <a:latin typeface="Barlow" panose="00000800000000000000" pitchFamily="34" charset="0"/>
                <a:ea typeface="Barlow" panose="00000800000000000000" pitchFamily="34" charset="-122"/>
                <a:cs typeface="Barlow" panose="00000800000000000000" pitchFamily="34" charset="-120"/>
              </a:rPr>
              <a:t>Utiliser des lave-linge et des sèche-linge connectés pour programmer des cycles de lavage et de séchage pendant les heures creuses, lorsque l'électricité est moins chère.</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4630400" cy="2242066"/>
          </a:xfrm>
          <a:prstGeom prst="rect">
            <a:avLst/>
          </a:prstGeom>
        </p:spPr>
      </p:pic>
      <p:sp>
        <p:nvSpPr>
          <p:cNvPr id="3" name="Text 0"/>
          <p:cNvSpPr/>
          <p:nvPr/>
        </p:nvSpPr>
        <p:spPr>
          <a:xfrm>
            <a:off x="627698" y="2877383"/>
            <a:ext cx="9678472" cy="498277"/>
          </a:xfrm>
          <a:prstGeom prst="rect">
            <a:avLst/>
          </a:prstGeom>
          <a:noFill/>
        </p:spPr>
        <p:txBody>
          <a:bodyPr wrap="none" lIns="0" tIns="0" rIns="0" bIns="0" rtlCol="0" anchor="t"/>
          <a:lstStyle/>
          <a:p>
            <a:pPr marL="0" indent="0" algn="l">
              <a:lnSpc>
                <a:spcPts val="3900"/>
              </a:lnSpc>
              <a:buNone/>
            </a:pPr>
            <a:r>
              <a:rPr lang="en-US" altLang="fr-CA" sz="3600" dirty="0">
                <a:gradFill>
                  <a:gsLst>
                    <a:gs pos="0">
                      <a:srgbClr val="14CD68"/>
                    </a:gs>
                    <a:gs pos="100000">
                      <a:srgbClr val="0B6E38"/>
                    </a:gs>
                  </a:gsLst>
                  <a:lin scaled="0"/>
                </a:gradFill>
              </a:rPr>
              <a:t>Analyse des Donn</a:t>
            </a:r>
            <a:r>
              <a:rPr lang="en-US" altLang="en-US" sz="3600" dirty="0">
                <a:gradFill>
                  <a:gsLst>
                    <a:gs pos="0">
                      <a:srgbClr val="14CD68"/>
                    </a:gs>
                    <a:gs pos="100000">
                      <a:srgbClr val="0B6E38"/>
                    </a:gs>
                  </a:gsLst>
                  <a:lin scaled="0"/>
                </a:gradFill>
              </a:rPr>
              <a:t>é</a:t>
            </a:r>
            <a:r>
              <a:rPr lang="en-US" altLang="fr-CA" sz="3600" dirty="0">
                <a:gradFill>
                  <a:gsLst>
                    <a:gs pos="0">
                      <a:srgbClr val="14CD68"/>
                    </a:gs>
                    <a:gs pos="100000">
                      <a:srgbClr val="0B6E38"/>
                    </a:gs>
                  </a:gsLst>
                  <a:lin scaled="0"/>
                </a:gradFill>
              </a:rPr>
              <a:t>es et Prise de D</a:t>
            </a:r>
            <a:r>
              <a:rPr lang="en-US" altLang="en-US" sz="3600" dirty="0">
                <a:gradFill>
                  <a:gsLst>
                    <a:gs pos="0">
                      <a:srgbClr val="14CD68"/>
                    </a:gs>
                    <a:gs pos="100000">
                      <a:srgbClr val="0B6E38"/>
                    </a:gs>
                  </a:gsLst>
                  <a:lin scaled="0"/>
                </a:gradFill>
              </a:rPr>
              <a:t>é</a:t>
            </a:r>
            <a:r>
              <a:rPr lang="en-US" altLang="fr-CA" sz="3600" dirty="0">
                <a:gradFill>
                  <a:gsLst>
                    <a:gs pos="0">
                      <a:srgbClr val="14CD68"/>
                    </a:gs>
                    <a:gs pos="100000">
                      <a:srgbClr val="0B6E38"/>
                    </a:gs>
                  </a:gsLst>
                  <a:lin scaled="0"/>
                </a:gradFill>
              </a:rPr>
              <a:t>cisions </a:t>
            </a:r>
            <a:r>
              <a:rPr lang="en-US" altLang="en-US" sz="3600" dirty="0">
                <a:gradFill>
                  <a:gsLst>
                    <a:gs pos="0">
                      <a:srgbClr val="14CD68"/>
                    </a:gs>
                    <a:gs pos="100000">
                      <a:srgbClr val="0B6E38"/>
                    </a:gs>
                  </a:gsLst>
                  <a:lin scaled="0"/>
                </a:gradFill>
              </a:rPr>
              <a:t>É</a:t>
            </a:r>
            <a:r>
              <a:rPr lang="en-US" altLang="fr-CA" sz="3600" dirty="0">
                <a:gradFill>
                  <a:gsLst>
                    <a:gs pos="0">
                      <a:srgbClr val="14CD68"/>
                    </a:gs>
                    <a:gs pos="100000">
                      <a:srgbClr val="0B6E38"/>
                    </a:gs>
                  </a:gsLst>
                  <a:lin scaled="0"/>
                </a:gradFill>
              </a:rPr>
              <a:t>clair</a:t>
            </a:r>
            <a:r>
              <a:rPr lang="en-US" altLang="en-US" sz="3600" dirty="0">
                <a:gradFill>
                  <a:gsLst>
                    <a:gs pos="0">
                      <a:srgbClr val="14CD68"/>
                    </a:gs>
                    <a:gs pos="100000">
                      <a:srgbClr val="0B6E38"/>
                    </a:gs>
                  </a:gsLst>
                  <a:lin scaled="0"/>
                </a:gradFill>
              </a:rPr>
              <a:t>é</a:t>
            </a:r>
            <a:r>
              <a:rPr lang="en-US" altLang="fr-CA" sz="3600" dirty="0">
                <a:gradFill>
                  <a:gsLst>
                    <a:gs pos="0">
                      <a:srgbClr val="14CD68"/>
                    </a:gs>
                    <a:gs pos="100000">
                      <a:srgbClr val="0B6E38"/>
                    </a:gs>
                  </a:gsLst>
                  <a:lin scaled="0"/>
                </a:gradFill>
              </a:rPr>
              <a:t>es</a:t>
            </a:r>
            <a:endParaRPr lang="en-US" altLang="fr-CA" sz="3600" dirty="0">
              <a:gradFill>
                <a:gsLst>
                  <a:gs pos="0">
                    <a:srgbClr val="14CD68"/>
                  </a:gs>
                  <a:gs pos="100000">
                    <a:srgbClr val="0B6E38"/>
                  </a:gs>
                </a:gsLst>
                <a:lin scaled="0"/>
              </a:gradFill>
            </a:endParaRPr>
          </a:p>
        </p:txBody>
      </p:sp>
      <p:sp>
        <p:nvSpPr>
          <p:cNvPr id="4" name="Text 1"/>
          <p:cNvSpPr/>
          <p:nvPr/>
        </p:nvSpPr>
        <p:spPr>
          <a:xfrm>
            <a:off x="627698" y="3644622"/>
            <a:ext cx="13375005" cy="573643"/>
          </a:xfrm>
          <a:prstGeom prst="rect">
            <a:avLst/>
          </a:prstGeom>
          <a:noFill/>
        </p:spPr>
        <p:txBody>
          <a:bodyPr wrap="square" lIns="0" tIns="0" rIns="0" bIns="0" rtlCol="0" anchor="t"/>
          <a:lstStyle/>
          <a:p>
            <a:pPr marL="0" indent="0">
              <a:lnSpc>
                <a:spcPts val="2250"/>
              </a:lnSpc>
              <a:buNone/>
            </a:pPr>
            <a:r>
              <a:rPr lang="en-US" sz="1400" dirty="0">
                <a:solidFill>
                  <a:srgbClr val="E0E4E6"/>
                </a:solidFill>
                <a:latin typeface="Barlow" panose="00000800000000000000" pitchFamily="34" charset="0"/>
                <a:ea typeface="Barlow" panose="00000800000000000000" pitchFamily="34" charset="-122"/>
                <a:cs typeface="Barlow" panose="00000800000000000000" pitchFamily="34" charset="-120"/>
              </a:rPr>
              <a:t>L'IoT permet de collecter et d'analyser des données sur la consommation d'énergie, offrant ainsi une vision complète des habitudes et des tendances. Ces données permettent de prendre des décisions éclairées pour optimiser la consommation et réduire les coûts.</a:t>
            </a:r>
            <a:endParaRPr lang="en-US" sz="1400" dirty="0"/>
          </a:p>
        </p:txBody>
      </p:sp>
      <p:sp>
        <p:nvSpPr>
          <p:cNvPr id="5" name="Shape 2"/>
          <p:cNvSpPr/>
          <p:nvPr/>
        </p:nvSpPr>
        <p:spPr>
          <a:xfrm>
            <a:off x="627698" y="4419957"/>
            <a:ext cx="13375005" cy="3174325"/>
          </a:xfrm>
          <a:prstGeom prst="roundRect">
            <a:avLst>
              <a:gd name="adj" fmla="val 8476"/>
            </a:avLst>
          </a:prstGeom>
          <a:noFill/>
          <a:ln w="7620">
            <a:solidFill>
              <a:srgbClr val="FFFFFF">
                <a:alpha val="24000"/>
              </a:srgbClr>
            </a:solidFill>
            <a:prstDash val="solid"/>
          </a:ln>
        </p:spPr>
      </p:sp>
      <p:sp>
        <p:nvSpPr>
          <p:cNvPr id="6" name="Shape 3"/>
          <p:cNvSpPr/>
          <p:nvPr/>
        </p:nvSpPr>
        <p:spPr>
          <a:xfrm>
            <a:off x="635318" y="4427577"/>
            <a:ext cx="13359765" cy="517088"/>
          </a:xfrm>
          <a:prstGeom prst="rect">
            <a:avLst/>
          </a:prstGeom>
          <a:solidFill>
            <a:srgbClr val="FFFFFF">
              <a:alpha val="4000"/>
            </a:srgbClr>
          </a:solidFill>
        </p:spPr>
      </p:sp>
      <p:sp>
        <p:nvSpPr>
          <p:cNvPr id="7" name="Text 4"/>
          <p:cNvSpPr/>
          <p:nvPr/>
        </p:nvSpPr>
        <p:spPr>
          <a:xfrm>
            <a:off x="814626" y="4542711"/>
            <a:ext cx="6317456" cy="286822"/>
          </a:xfrm>
          <a:prstGeom prst="rect">
            <a:avLst/>
          </a:prstGeom>
          <a:noFill/>
        </p:spPr>
        <p:txBody>
          <a:bodyPr wrap="none" lIns="0" tIns="0" rIns="0" bIns="0" rtlCol="0" anchor="t"/>
          <a:lstStyle/>
          <a:p>
            <a:pPr marL="0" indent="0">
              <a:lnSpc>
                <a:spcPts val="2250"/>
              </a:lnSpc>
              <a:buNone/>
            </a:pPr>
            <a:r>
              <a:rPr lang="en-US" sz="1400" dirty="0">
                <a:solidFill>
                  <a:srgbClr val="E0E4E6"/>
                </a:solidFill>
                <a:latin typeface="Barlow" panose="00000800000000000000" pitchFamily="34" charset="0"/>
                <a:ea typeface="Barlow" panose="00000800000000000000" pitchFamily="34" charset="-122"/>
                <a:cs typeface="Barlow" panose="00000800000000000000" pitchFamily="34" charset="-120"/>
              </a:rPr>
              <a:t>Données collectées</a:t>
            </a:r>
            <a:endParaRPr lang="en-US" sz="1400" dirty="0"/>
          </a:p>
        </p:txBody>
      </p:sp>
      <p:sp>
        <p:nvSpPr>
          <p:cNvPr id="8" name="Text 5"/>
          <p:cNvSpPr/>
          <p:nvPr/>
        </p:nvSpPr>
        <p:spPr>
          <a:xfrm>
            <a:off x="7498318" y="4542711"/>
            <a:ext cx="6317456" cy="286822"/>
          </a:xfrm>
          <a:prstGeom prst="rect">
            <a:avLst/>
          </a:prstGeom>
          <a:noFill/>
        </p:spPr>
        <p:txBody>
          <a:bodyPr wrap="none" lIns="0" tIns="0" rIns="0" bIns="0" rtlCol="0" anchor="t"/>
          <a:lstStyle/>
          <a:p>
            <a:pPr marL="0" indent="0">
              <a:lnSpc>
                <a:spcPts val="2250"/>
              </a:lnSpc>
              <a:buNone/>
            </a:pPr>
            <a:r>
              <a:rPr lang="en-US" sz="1400" dirty="0">
                <a:solidFill>
                  <a:srgbClr val="E0E4E6"/>
                </a:solidFill>
                <a:latin typeface="Barlow" panose="00000800000000000000" pitchFamily="34" charset="0"/>
                <a:ea typeface="Barlow" panose="00000800000000000000" pitchFamily="34" charset="-122"/>
                <a:cs typeface="Barlow" panose="00000800000000000000" pitchFamily="34" charset="-120"/>
              </a:rPr>
              <a:t>Applications</a:t>
            </a:r>
            <a:endParaRPr lang="en-US" sz="1400" dirty="0"/>
          </a:p>
        </p:txBody>
      </p:sp>
      <p:sp>
        <p:nvSpPr>
          <p:cNvPr id="9" name="Shape 6"/>
          <p:cNvSpPr/>
          <p:nvPr/>
        </p:nvSpPr>
        <p:spPr>
          <a:xfrm>
            <a:off x="635318" y="4944666"/>
            <a:ext cx="13359765" cy="517088"/>
          </a:xfrm>
          <a:prstGeom prst="rect">
            <a:avLst/>
          </a:prstGeom>
          <a:solidFill>
            <a:srgbClr val="000000">
              <a:alpha val="4000"/>
            </a:srgbClr>
          </a:solidFill>
        </p:spPr>
      </p:sp>
      <p:sp>
        <p:nvSpPr>
          <p:cNvPr id="10" name="Text 7"/>
          <p:cNvSpPr/>
          <p:nvPr/>
        </p:nvSpPr>
        <p:spPr>
          <a:xfrm>
            <a:off x="814626" y="5059799"/>
            <a:ext cx="6317456" cy="286822"/>
          </a:xfrm>
          <a:prstGeom prst="rect">
            <a:avLst/>
          </a:prstGeom>
          <a:noFill/>
        </p:spPr>
        <p:txBody>
          <a:bodyPr wrap="none" lIns="0" tIns="0" rIns="0" bIns="0" rtlCol="0" anchor="t"/>
          <a:lstStyle/>
          <a:p>
            <a:pPr marL="0" indent="0">
              <a:lnSpc>
                <a:spcPts val="2250"/>
              </a:lnSpc>
              <a:buNone/>
            </a:pPr>
            <a:r>
              <a:rPr lang="en-US" sz="1400" dirty="0">
                <a:solidFill>
                  <a:srgbClr val="E0E4E6"/>
                </a:solidFill>
                <a:latin typeface="Barlow" panose="00000800000000000000" pitchFamily="34" charset="0"/>
                <a:ea typeface="Barlow" panose="00000800000000000000" pitchFamily="34" charset="-122"/>
                <a:cs typeface="Barlow" panose="00000800000000000000" pitchFamily="34" charset="-120"/>
              </a:rPr>
              <a:t>Consommation d'énergie par appareil</a:t>
            </a:r>
            <a:endParaRPr lang="en-US" sz="1400" dirty="0"/>
          </a:p>
        </p:txBody>
      </p:sp>
      <p:sp>
        <p:nvSpPr>
          <p:cNvPr id="11" name="Text 8"/>
          <p:cNvSpPr/>
          <p:nvPr/>
        </p:nvSpPr>
        <p:spPr>
          <a:xfrm>
            <a:off x="7498318" y="5059799"/>
            <a:ext cx="6317456" cy="286822"/>
          </a:xfrm>
          <a:prstGeom prst="rect">
            <a:avLst/>
          </a:prstGeom>
          <a:noFill/>
        </p:spPr>
        <p:txBody>
          <a:bodyPr wrap="none" lIns="0" tIns="0" rIns="0" bIns="0" rtlCol="0" anchor="t"/>
          <a:lstStyle/>
          <a:p>
            <a:pPr marL="0" indent="0">
              <a:lnSpc>
                <a:spcPts val="2250"/>
              </a:lnSpc>
              <a:buNone/>
            </a:pPr>
            <a:r>
              <a:rPr lang="en-US" sz="1400" dirty="0">
                <a:solidFill>
                  <a:srgbClr val="E0E4E6"/>
                </a:solidFill>
                <a:latin typeface="Barlow" panose="00000800000000000000" pitchFamily="34" charset="0"/>
                <a:ea typeface="Barlow" panose="00000800000000000000" pitchFamily="34" charset="-122"/>
                <a:cs typeface="Barlow" panose="00000800000000000000" pitchFamily="34" charset="-120"/>
              </a:rPr>
              <a:t>Identifier les appareils énergivores et optimiser leur utilisation.</a:t>
            </a:r>
            <a:endParaRPr lang="en-US" sz="1400" dirty="0"/>
          </a:p>
        </p:txBody>
      </p:sp>
      <p:sp>
        <p:nvSpPr>
          <p:cNvPr id="12" name="Shape 9"/>
          <p:cNvSpPr/>
          <p:nvPr/>
        </p:nvSpPr>
        <p:spPr>
          <a:xfrm>
            <a:off x="635318" y="5461754"/>
            <a:ext cx="13359765" cy="517088"/>
          </a:xfrm>
          <a:prstGeom prst="rect">
            <a:avLst/>
          </a:prstGeom>
          <a:solidFill>
            <a:srgbClr val="FFFFFF">
              <a:alpha val="4000"/>
            </a:srgbClr>
          </a:solidFill>
        </p:spPr>
      </p:sp>
      <p:sp>
        <p:nvSpPr>
          <p:cNvPr id="13" name="Text 10"/>
          <p:cNvSpPr/>
          <p:nvPr/>
        </p:nvSpPr>
        <p:spPr>
          <a:xfrm>
            <a:off x="814626" y="5576888"/>
            <a:ext cx="6317456" cy="286822"/>
          </a:xfrm>
          <a:prstGeom prst="rect">
            <a:avLst/>
          </a:prstGeom>
          <a:noFill/>
        </p:spPr>
        <p:txBody>
          <a:bodyPr wrap="none" lIns="0" tIns="0" rIns="0" bIns="0" rtlCol="0" anchor="t"/>
          <a:lstStyle/>
          <a:p>
            <a:pPr marL="0" indent="0">
              <a:lnSpc>
                <a:spcPts val="2250"/>
              </a:lnSpc>
              <a:buNone/>
            </a:pPr>
            <a:r>
              <a:rPr lang="en-US" sz="1400" dirty="0">
                <a:solidFill>
                  <a:srgbClr val="E0E4E6"/>
                </a:solidFill>
                <a:latin typeface="Barlow" panose="00000800000000000000" pitchFamily="34" charset="0"/>
                <a:ea typeface="Barlow" panose="00000800000000000000" pitchFamily="34" charset="-122"/>
                <a:cs typeface="Barlow" panose="00000800000000000000" pitchFamily="34" charset="-120"/>
              </a:rPr>
              <a:t>Consommation globale de la maison</a:t>
            </a:r>
            <a:endParaRPr lang="en-US" sz="1400" dirty="0"/>
          </a:p>
        </p:txBody>
      </p:sp>
      <p:sp>
        <p:nvSpPr>
          <p:cNvPr id="14" name="Text 11"/>
          <p:cNvSpPr/>
          <p:nvPr/>
        </p:nvSpPr>
        <p:spPr>
          <a:xfrm>
            <a:off x="7498318" y="5576888"/>
            <a:ext cx="6317456" cy="286822"/>
          </a:xfrm>
          <a:prstGeom prst="rect">
            <a:avLst/>
          </a:prstGeom>
          <a:noFill/>
        </p:spPr>
        <p:txBody>
          <a:bodyPr wrap="none" lIns="0" tIns="0" rIns="0" bIns="0" rtlCol="0" anchor="t"/>
          <a:lstStyle/>
          <a:p>
            <a:pPr marL="0" indent="0">
              <a:lnSpc>
                <a:spcPts val="2250"/>
              </a:lnSpc>
              <a:buNone/>
            </a:pPr>
            <a:r>
              <a:rPr lang="en-US" sz="1400" dirty="0">
                <a:solidFill>
                  <a:srgbClr val="E0E4E6"/>
                </a:solidFill>
                <a:latin typeface="Barlow" panose="00000800000000000000" pitchFamily="34" charset="0"/>
                <a:ea typeface="Barlow" panose="00000800000000000000" pitchFamily="34" charset="-122"/>
                <a:cs typeface="Barlow" panose="00000800000000000000" pitchFamily="34" charset="-120"/>
              </a:rPr>
              <a:t>Comprendre les tendances de consommation et identifier les périodes de pointe.</a:t>
            </a:r>
            <a:endParaRPr lang="en-US" sz="1400" dirty="0"/>
          </a:p>
        </p:txBody>
      </p:sp>
      <p:sp>
        <p:nvSpPr>
          <p:cNvPr id="15" name="Shape 12"/>
          <p:cNvSpPr/>
          <p:nvPr/>
        </p:nvSpPr>
        <p:spPr>
          <a:xfrm>
            <a:off x="635318" y="5978843"/>
            <a:ext cx="13359765" cy="803910"/>
          </a:xfrm>
          <a:prstGeom prst="rect">
            <a:avLst/>
          </a:prstGeom>
          <a:solidFill>
            <a:srgbClr val="000000">
              <a:alpha val="4000"/>
            </a:srgbClr>
          </a:solidFill>
        </p:spPr>
      </p:sp>
      <p:sp>
        <p:nvSpPr>
          <p:cNvPr id="16" name="Text 13"/>
          <p:cNvSpPr/>
          <p:nvPr/>
        </p:nvSpPr>
        <p:spPr>
          <a:xfrm>
            <a:off x="814626" y="6093976"/>
            <a:ext cx="6317456" cy="286822"/>
          </a:xfrm>
          <a:prstGeom prst="rect">
            <a:avLst/>
          </a:prstGeom>
          <a:noFill/>
        </p:spPr>
        <p:txBody>
          <a:bodyPr wrap="none" lIns="0" tIns="0" rIns="0" bIns="0" rtlCol="0" anchor="t"/>
          <a:lstStyle/>
          <a:p>
            <a:pPr marL="0" indent="0">
              <a:lnSpc>
                <a:spcPts val="2250"/>
              </a:lnSpc>
              <a:buNone/>
            </a:pPr>
            <a:r>
              <a:rPr lang="en-US" sz="1400" dirty="0">
                <a:solidFill>
                  <a:srgbClr val="E0E4E6"/>
                </a:solidFill>
                <a:latin typeface="Barlow" panose="00000800000000000000" pitchFamily="34" charset="0"/>
                <a:ea typeface="Barlow" panose="00000800000000000000" pitchFamily="34" charset="-122"/>
                <a:cs typeface="Barlow" panose="00000800000000000000" pitchFamily="34" charset="-120"/>
              </a:rPr>
              <a:t>Conditions météorologiques</a:t>
            </a:r>
            <a:endParaRPr lang="en-US" sz="1400" dirty="0"/>
          </a:p>
        </p:txBody>
      </p:sp>
      <p:sp>
        <p:nvSpPr>
          <p:cNvPr id="17" name="Text 14"/>
          <p:cNvSpPr/>
          <p:nvPr/>
        </p:nvSpPr>
        <p:spPr>
          <a:xfrm>
            <a:off x="7498318" y="6093976"/>
            <a:ext cx="6317456" cy="573643"/>
          </a:xfrm>
          <a:prstGeom prst="rect">
            <a:avLst/>
          </a:prstGeom>
          <a:noFill/>
        </p:spPr>
        <p:txBody>
          <a:bodyPr wrap="square" lIns="0" tIns="0" rIns="0" bIns="0" rtlCol="0" anchor="t"/>
          <a:lstStyle/>
          <a:p>
            <a:pPr marL="0" indent="0">
              <a:lnSpc>
                <a:spcPts val="2250"/>
              </a:lnSpc>
              <a:buNone/>
            </a:pPr>
            <a:r>
              <a:rPr lang="en-US" sz="1400" dirty="0">
                <a:solidFill>
                  <a:srgbClr val="E0E4E6"/>
                </a:solidFill>
                <a:latin typeface="Barlow" panose="00000800000000000000" pitchFamily="34" charset="0"/>
                <a:ea typeface="Barlow" panose="00000800000000000000" pitchFamily="34" charset="-122"/>
                <a:cs typeface="Barlow" panose="00000800000000000000" pitchFamily="34" charset="-120"/>
              </a:rPr>
              <a:t>Ajuster automatiquement le chauffage et la climatisation en fonction des températures extérieures.</a:t>
            </a:r>
            <a:endParaRPr lang="en-US" sz="1400" dirty="0"/>
          </a:p>
        </p:txBody>
      </p:sp>
      <p:sp>
        <p:nvSpPr>
          <p:cNvPr id="18" name="Shape 15"/>
          <p:cNvSpPr/>
          <p:nvPr/>
        </p:nvSpPr>
        <p:spPr>
          <a:xfrm>
            <a:off x="635318" y="6782753"/>
            <a:ext cx="13359765" cy="803910"/>
          </a:xfrm>
          <a:prstGeom prst="rect">
            <a:avLst/>
          </a:prstGeom>
          <a:solidFill>
            <a:srgbClr val="FFFFFF">
              <a:alpha val="4000"/>
            </a:srgbClr>
          </a:solidFill>
        </p:spPr>
      </p:sp>
      <p:sp>
        <p:nvSpPr>
          <p:cNvPr id="19" name="Text 16"/>
          <p:cNvSpPr/>
          <p:nvPr/>
        </p:nvSpPr>
        <p:spPr>
          <a:xfrm>
            <a:off x="814626" y="6897886"/>
            <a:ext cx="6317456" cy="286822"/>
          </a:xfrm>
          <a:prstGeom prst="rect">
            <a:avLst/>
          </a:prstGeom>
          <a:noFill/>
        </p:spPr>
        <p:txBody>
          <a:bodyPr wrap="none" lIns="0" tIns="0" rIns="0" bIns="0" rtlCol="0" anchor="t"/>
          <a:lstStyle/>
          <a:p>
            <a:pPr marL="0" indent="0">
              <a:lnSpc>
                <a:spcPts val="2250"/>
              </a:lnSpc>
              <a:buNone/>
            </a:pPr>
            <a:r>
              <a:rPr lang="en-US" sz="1400" dirty="0">
                <a:solidFill>
                  <a:srgbClr val="E0E4E6"/>
                </a:solidFill>
                <a:latin typeface="Barlow" panose="00000800000000000000" pitchFamily="34" charset="0"/>
                <a:ea typeface="Barlow" panose="00000800000000000000" pitchFamily="34" charset="-122"/>
                <a:cs typeface="Barlow" panose="00000800000000000000" pitchFamily="34" charset="-120"/>
              </a:rPr>
              <a:t>Présence des occupants</a:t>
            </a:r>
            <a:endParaRPr lang="en-US" sz="1400" dirty="0"/>
          </a:p>
        </p:txBody>
      </p:sp>
      <p:sp>
        <p:nvSpPr>
          <p:cNvPr id="20" name="Text 17"/>
          <p:cNvSpPr/>
          <p:nvPr/>
        </p:nvSpPr>
        <p:spPr>
          <a:xfrm>
            <a:off x="7498318" y="6897886"/>
            <a:ext cx="6317456" cy="573643"/>
          </a:xfrm>
          <a:prstGeom prst="rect">
            <a:avLst/>
          </a:prstGeom>
          <a:noFill/>
        </p:spPr>
        <p:txBody>
          <a:bodyPr wrap="square" lIns="0" tIns="0" rIns="0" bIns="0" rtlCol="0" anchor="t"/>
          <a:lstStyle/>
          <a:p>
            <a:pPr marL="0" indent="0">
              <a:lnSpc>
                <a:spcPts val="2250"/>
              </a:lnSpc>
              <a:buNone/>
            </a:pPr>
            <a:r>
              <a:rPr lang="en-US" sz="1400" dirty="0">
                <a:solidFill>
                  <a:srgbClr val="E0E4E6"/>
                </a:solidFill>
                <a:latin typeface="Barlow" panose="00000800000000000000" pitchFamily="34" charset="0"/>
                <a:ea typeface="Barlow" panose="00000800000000000000" pitchFamily="34" charset="-122"/>
                <a:cs typeface="Barlow" panose="00000800000000000000" pitchFamily="34" charset="-120"/>
              </a:rPr>
              <a:t>Automatiser l'éclairage et le chauffage en fonction de la présence ou de l'absence des occupants.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56523" y="778073"/>
            <a:ext cx="6540818" cy="600313"/>
          </a:xfrm>
          <a:prstGeom prst="rect">
            <a:avLst/>
          </a:prstGeom>
          <a:noFill/>
        </p:spPr>
        <p:txBody>
          <a:bodyPr wrap="none" lIns="0" tIns="0" rIns="0" bIns="0" rtlCol="0" anchor="t"/>
          <a:lstStyle/>
          <a:p>
            <a:pPr marL="0" indent="0" algn="l">
              <a:lnSpc>
                <a:spcPts val="4700"/>
              </a:lnSpc>
              <a:buNone/>
            </a:pPr>
            <a:r>
              <a:rPr lang="en-US" altLang="fr-CA" sz="8000" dirty="0">
                <a:gradFill>
                  <a:gsLst>
                    <a:gs pos="0">
                      <a:srgbClr val="14CD68"/>
                    </a:gs>
                    <a:gs pos="100000">
                      <a:srgbClr val="0B6E38"/>
                    </a:gs>
                  </a:gsLst>
                  <a:lin scaled="0"/>
                </a:gradFill>
              </a:rPr>
              <a:t>Avantages, Risques et Enjeux</a:t>
            </a:r>
            <a:endParaRPr lang="en-US" altLang="fr-CA" sz="8000" dirty="0">
              <a:gradFill>
                <a:gsLst>
                  <a:gs pos="0">
                    <a:srgbClr val="14CD68"/>
                  </a:gs>
                  <a:gs pos="100000">
                    <a:srgbClr val="0B6E38"/>
                  </a:gs>
                </a:gsLst>
                <a:lin scaled="0"/>
              </a:gradFill>
            </a:endParaRPr>
          </a:p>
        </p:txBody>
      </p:sp>
      <p:sp>
        <p:nvSpPr>
          <p:cNvPr id="3" name="Text 1"/>
          <p:cNvSpPr/>
          <p:nvPr/>
        </p:nvSpPr>
        <p:spPr>
          <a:xfrm>
            <a:off x="756523" y="1810583"/>
            <a:ext cx="13117354" cy="691515"/>
          </a:xfrm>
          <a:prstGeom prst="rect">
            <a:avLst/>
          </a:prstGeom>
          <a:noFill/>
        </p:spPr>
        <p:txBody>
          <a:bodyPr wrap="square" lIns="0" tIns="0" rIns="0" bIns="0" rtlCol="0" anchor="t"/>
          <a:lstStyle/>
          <a:p>
            <a:pPr marL="0" indent="0">
              <a:lnSpc>
                <a:spcPts val="2700"/>
              </a:lnSpc>
              <a:buNone/>
            </a:pPr>
            <a:r>
              <a:rPr lang="en-US" sz="1700" dirty="0">
                <a:solidFill>
                  <a:srgbClr val="E0E4E6"/>
                </a:solidFill>
                <a:latin typeface="Barlow" panose="00000800000000000000" pitchFamily="34" charset="0"/>
                <a:ea typeface="Barlow" panose="00000800000000000000" pitchFamily="34" charset="-122"/>
                <a:cs typeface="Barlow" panose="00000800000000000000" pitchFamily="34" charset="-120"/>
              </a:rPr>
              <a:t>L'IoT présente de nombreux avantages pour la maison intelligente et la gestion énergétique, mais il est important de tenir compte des risques et des enjeux liés à cette technologie.</a:t>
            </a:r>
            <a:endParaRPr lang="en-US" sz="1700" dirty="0"/>
          </a:p>
        </p:txBody>
      </p:sp>
      <p:sp>
        <p:nvSpPr>
          <p:cNvPr id="4" name="Shape 2"/>
          <p:cNvSpPr/>
          <p:nvPr/>
        </p:nvSpPr>
        <p:spPr>
          <a:xfrm>
            <a:off x="7299960" y="2745224"/>
            <a:ext cx="30480" cy="4706303"/>
          </a:xfrm>
          <a:prstGeom prst="roundRect">
            <a:avLst>
              <a:gd name="adj" fmla="val 1063734"/>
            </a:avLst>
          </a:prstGeom>
          <a:solidFill>
            <a:srgbClr val="FFFFFF">
              <a:alpha val="24000"/>
            </a:srgbClr>
          </a:solidFill>
        </p:spPr>
      </p:sp>
      <p:sp>
        <p:nvSpPr>
          <p:cNvPr id="5" name="Shape 3"/>
          <p:cNvSpPr/>
          <p:nvPr/>
        </p:nvSpPr>
        <p:spPr>
          <a:xfrm>
            <a:off x="6346031" y="3216235"/>
            <a:ext cx="756523" cy="30480"/>
          </a:xfrm>
          <a:prstGeom prst="roundRect">
            <a:avLst>
              <a:gd name="adj" fmla="val 1063734"/>
            </a:avLst>
          </a:prstGeom>
          <a:solidFill>
            <a:srgbClr val="16FFBB"/>
          </a:solidFill>
        </p:spPr>
      </p:sp>
      <p:sp>
        <p:nvSpPr>
          <p:cNvPr id="6" name="Shape 4"/>
          <p:cNvSpPr/>
          <p:nvPr/>
        </p:nvSpPr>
        <p:spPr>
          <a:xfrm>
            <a:off x="7072074" y="2988350"/>
            <a:ext cx="486251" cy="486251"/>
          </a:xfrm>
          <a:prstGeom prst="roundRect">
            <a:avLst>
              <a:gd name="adj" fmla="val 66679"/>
            </a:avLst>
          </a:prstGeom>
          <a:solidFill>
            <a:srgbClr val="0A081B"/>
          </a:solidFill>
          <a:ln w="22860">
            <a:solidFill>
              <a:srgbClr val="16FFBB"/>
            </a:solidFill>
            <a:prstDash val="solid"/>
          </a:ln>
        </p:spPr>
      </p:sp>
      <p:sp>
        <p:nvSpPr>
          <p:cNvPr id="7" name="Text 5"/>
          <p:cNvSpPr/>
          <p:nvPr/>
        </p:nvSpPr>
        <p:spPr>
          <a:xfrm>
            <a:off x="7252811" y="3087291"/>
            <a:ext cx="124658" cy="288250"/>
          </a:xfrm>
          <a:prstGeom prst="rect">
            <a:avLst/>
          </a:prstGeom>
          <a:noFill/>
        </p:spPr>
        <p:txBody>
          <a:bodyPr wrap="none" lIns="0" tIns="0" rIns="0" bIns="0" rtlCol="0" anchor="t"/>
          <a:lstStyle/>
          <a:p>
            <a:pPr marL="0" indent="0" algn="ctr">
              <a:lnSpc>
                <a:spcPts val="2250"/>
              </a:lnSpc>
              <a:buNone/>
            </a:pPr>
            <a:r>
              <a:rPr lang="en-US" sz="2250" b="1" dirty="0">
                <a:solidFill>
                  <a:srgbClr val="E0E4E6"/>
                </a:solidFill>
                <a:latin typeface="Spline Sans Bold" pitchFamily="34" charset="0"/>
                <a:ea typeface="Spline Sans Bold" pitchFamily="34" charset="-122"/>
                <a:cs typeface="Spline Sans Bold" pitchFamily="34" charset="-120"/>
              </a:rPr>
              <a:t>1</a:t>
            </a:r>
            <a:endParaRPr lang="en-US" sz="2250" dirty="0"/>
          </a:p>
        </p:txBody>
      </p:sp>
      <p:sp>
        <p:nvSpPr>
          <p:cNvPr id="8" name="Text 6"/>
          <p:cNvSpPr/>
          <p:nvPr/>
        </p:nvSpPr>
        <p:spPr>
          <a:xfrm>
            <a:off x="3724870" y="2961323"/>
            <a:ext cx="2401610" cy="300157"/>
          </a:xfrm>
          <a:prstGeom prst="rect">
            <a:avLst/>
          </a:prstGeom>
          <a:noFill/>
        </p:spPr>
        <p:txBody>
          <a:bodyPr wrap="none" lIns="0" tIns="0" rIns="0" bIns="0" rtlCol="0" anchor="t"/>
          <a:lstStyle/>
          <a:p>
            <a:pPr marL="0" indent="0" algn="r">
              <a:lnSpc>
                <a:spcPts val="2350"/>
              </a:lnSpc>
              <a:buNone/>
            </a:pPr>
            <a:r>
              <a:rPr lang="en-US" altLang="fr-CA" sz="2400" dirty="0">
                <a:gradFill>
                  <a:gsLst>
                    <a:gs pos="0">
                      <a:srgbClr val="14CD68"/>
                    </a:gs>
                    <a:gs pos="100000">
                      <a:srgbClr val="0B6E38"/>
                    </a:gs>
                  </a:gsLst>
                  <a:lin scaled="0"/>
                </a:gradFill>
              </a:rPr>
              <a:t>Avantages</a:t>
            </a:r>
            <a:endParaRPr lang="en-US" altLang="fr-CA" sz="2400" dirty="0">
              <a:gradFill>
                <a:gsLst>
                  <a:gs pos="0">
                    <a:srgbClr val="14CD68"/>
                  </a:gs>
                  <a:gs pos="100000">
                    <a:srgbClr val="0B6E38"/>
                  </a:gs>
                </a:gsLst>
                <a:lin scaled="0"/>
              </a:gradFill>
            </a:endParaRPr>
          </a:p>
        </p:txBody>
      </p:sp>
      <p:sp>
        <p:nvSpPr>
          <p:cNvPr id="9" name="Text 7"/>
          <p:cNvSpPr/>
          <p:nvPr/>
        </p:nvSpPr>
        <p:spPr>
          <a:xfrm>
            <a:off x="756523" y="3391138"/>
            <a:ext cx="5369957" cy="1383030"/>
          </a:xfrm>
          <a:prstGeom prst="rect">
            <a:avLst/>
          </a:prstGeom>
          <a:noFill/>
        </p:spPr>
        <p:txBody>
          <a:bodyPr wrap="square" lIns="0" tIns="0" rIns="0" bIns="0" rtlCol="0" anchor="t"/>
          <a:lstStyle/>
          <a:p>
            <a:pPr marL="0" indent="0" algn="r">
              <a:lnSpc>
                <a:spcPts val="2700"/>
              </a:lnSpc>
              <a:buNone/>
            </a:pPr>
            <a:r>
              <a:rPr lang="en-US" sz="1700" dirty="0">
                <a:solidFill>
                  <a:srgbClr val="E0E4E6"/>
                </a:solidFill>
                <a:latin typeface="Barlow" panose="00000800000000000000" pitchFamily="34" charset="0"/>
                <a:ea typeface="Barlow" panose="00000800000000000000" pitchFamily="34" charset="-122"/>
                <a:cs typeface="Barlow" panose="00000800000000000000" pitchFamily="34" charset="-120"/>
              </a:rPr>
              <a:t>Amélioration du confort, de la sécurité et de l'efficacité énergétique, économies d'énergie et de coûts, automatisation des tâches, suivi et contrôle à distance, prise de décisions éclairées.</a:t>
            </a:r>
            <a:endParaRPr lang="en-US" sz="1700" dirty="0"/>
          </a:p>
        </p:txBody>
      </p:sp>
      <p:sp>
        <p:nvSpPr>
          <p:cNvPr id="10" name="Shape 8"/>
          <p:cNvSpPr/>
          <p:nvPr/>
        </p:nvSpPr>
        <p:spPr>
          <a:xfrm>
            <a:off x="7527846" y="4296847"/>
            <a:ext cx="756523" cy="30480"/>
          </a:xfrm>
          <a:prstGeom prst="roundRect">
            <a:avLst>
              <a:gd name="adj" fmla="val 1063734"/>
            </a:avLst>
          </a:prstGeom>
          <a:solidFill>
            <a:srgbClr val="29DDDA"/>
          </a:solidFill>
        </p:spPr>
      </p:sp>
      <p:sp>
        <p:nvSpPr>
          <p:cNvPr id="11" name="Shape 9"/>
          <p:cNvSpPr/>
          <p:nvPr/>
        </p:nvSpPr>
        <p:spPr>
          <a:xfrm>
            <a:off x="7072074" y="4068961"/>
            <a:ext cx="486251" cy="486251"/>
          </a:xfrm>
          <a:prstGeom prst="roundRect">
            <a:avLst>
              <a:gd name="adj" fmla="val 66679"/>
            </a:avLst>
          </a:prstGeom>
          <a:solidFill>
            <a:srgbClr val="0A081B"/>
          </a:solidFill>
          <a:ln w="22860">
            <a:solidFill>
              <a:srgbClr val="29DDDA"/>
            </a:solidFill>
            <a:prstDash val="solid"/>
          </a:ln>
        </p:spPr>
      </p:sp>
      <p:sp>
        <p:nvSpPr>
          <p:cNvPr id="12" name="Text 10"/>
          <p:cNvSpPr/>
          <p:nvPr/>
        </p:nvSpPr>
        <p:spPr>
          <a:xfrm>
            <a:off x="7235071" y="4167902"/>
            <a:ext cx="160258" cy="288250"/>
          </a:xfrm>
          <a:prstGeom prst="rect">
            <a:avLst/>
          </a:prstGeom>
          <a:noFill/>
        </p:spPr>
        <p:txBody>
          <a:bodyPr wrap="none" lIns="0" tIns="0" rIns="0" bIns="0" rtlCol="0" anchor="t"/>
          <a:lstStyle/>
          <a:p>
            <a:pPr marL="0" indent="0" algn="ctr">
              <a:lnSpc>
                <a:spcPts val="2250"/>
              </a:lnSpc>
              <a:buNone/>
            </a:pPr>
            <a:r>
              <a:rPr lang="en-US" sz="2250" b="1" dirty="0">
                <a:solidFill>
                  <a:srgbClr val="E0E4E6"/>
                </a:solidFill>
                <a:latin typeface="Spline Sans Bold" pitchFamily="34" charset="0"/>
                <a:ea typeface="Spline Sans Bold" pitchFamily="34" charset="-122"/>
                <a:cs typeface="Spline Sans Bold" pitchFamily="34" charset="-120"/>
              </a:rPr>
              <a:t>2</a:t>
            </a:r>
            <a:endParaRPr lang="en-US" sz="2250" dirty="0"/>
          </a:p>
        </p:txBody>
      </p:sp>
      <p:sp>
        <p:nvSpPr>
          <p:cNvPr id="13" name="Text 11"/>
          <p:cNvSpPr/>
          <p:nvPr/>
        </p:nvSpPr>
        <p:spPr>
          <a:xfrm>
            <a:off x="8503920" y="4041934"/>
            <a:ext cx="2401610" cy="300157"/>
          </a:xfrm>
          <a:prstGeom prst="rect">
            <a:avLst/>
          </a:prstGeom>
          <a:noFill/>
        </p:spPr>
        <p:txBody>
          <a:bodyPr wrap="none" lIns="0" tIns="0" rIns="0" bIns="0" rtlCol="0" anchor="t"/>
          <a:lstStyle/>
          <a:p>
            <a:pPr marL="0" indent="0" algn="l">
              <a:lnSpc>
                <a:spcPts val="2350"/>
              </a:lnSpc>
              <a:buNone/>
            </a:pPr>
            <a:r>
              <a:rPr lang="en-US" altLang="fr-CA" sz="2800" dirty="0">
                <a:gradFill>
                  <a:gsLst>
                    <a:gs pos="0">
                      <a:srgbClr val="14CD68"/>
                    </a:gs>
                    <a:gs pos="100000">
                      <a:srgbClr val="035C7D"/>
                    </a:gs>
                  </a:gsLst>
                  <a:lin scaled="0"/>
                </a:gradFill>
              </a:rPr>
              <a:t>Risques</a:t>
            </a:r>
            <a:endParaRPr lang="en-US" altLang="fr-CA" sz="2800" dirty="0">
              <a:gradFill>
                <a:gsLst>
                  <a:gs pos="0">
                    <a:srgbClr val="14CD68"/>
                  </a:gs>
                  <a:gs pos="100000">
                    <a:srgbClr val="035C7D"/>
                  </a:gs>
                </a:gsLst>
                <a:lin scaled="0"/>
              </a:gradFill>
            </a:endParaRPr>
          </a:p>
        </p:txBody>
      </p:sp>
      <p:sp>
        <p:nvSpPr>
          <p:cNvPr id="14" name="Text 12"/>
          <p:cNvSpPr/>
          <p:nvPr/>
        </p:nvSpPr>
        <p:spPr>
          <a:xfrm>
            <a:off x="8503920" y="4471749"/>
            <a:ext cx="5369957" cy="1383030"/>
          </a:xfrm>
          <a:prstGeom prst="rect">
            <a:avLst/>
          </a:prstGeom>
          <a:noFill/>
        </p:spPr>
        <p:txBody>
          <a:bodyPr wrap="square" lIns="0" tIns="0" rIns="0" bIns="0" rtlCol="0" anchor="t"/>
          <a:lstStyle/>
          <a:p>
            <a:pPr marL="0" indent="0" algn="l">
              <a:lnSpc>
                <a:spcPts val="2700"/>
              </a:lnSpc>
              <a:buNone/>
            </a:pPr>
            <a:r>
              <a:rPr lang="en-US" sz="1700" dirty="0">
                <a:solidFill>
                  <a:srgbClr val="E0E4E6"/>
                </a:solidFill>
                <a:latin typeface="Barlow" panose="00000800000000000000" pitchFamily="34" charset="0"/>
                <a:ea typeface="Barlow" panose="00000800000000000000" pitchFamily="34" charset="-122"/>
                <a:cs typeface="Barlow" panose="00000800000000000000" pitchFamily="34" charset="-120"/>
              </a:rPr>
              <a:t>Problèmes de sécurité et de confidentialité des données, dépendance aux technologies, risque de panne et de dysfonctionnement, complexité de l'installation et de la configuration, coûts d'installation et de maintenance.</a:t>
            </a:r>
            <a:endParaRPr lang="en-US" sz="1700" dirty="0"/>
          </a:p>
        </p:txBody>
      </p:sp>
      <p:sp>
        <p:nvSpPr>
          <p:cNvPr id="15" name="Shape 13"/>
          <p:cNvSpPr/>
          <p:nvPr/>
        </p:nvSpPr>
        <p:spPr>
          <a:xfrm>
            <a:off x="6346031" y="5677376"/>
            <a:ext cx="756523" cy="30480"/>
          </a:xfrm>
          <a:prstGeom prst="roundRect">
            <a:avLst>
              <a:gd name="adj" fmla="val 1063734"/>
            </a:avLst>
          </a:prstGeom>
          <a:solidFill>
            <a:srgbClr val="37A7E7"/>
          </a:solidFill>
        </p:spPr>
      </p:sp>
      <p:sp>
        <p:nvSpPr>
          <p:cNvPr id="16" name="Shape 14"/>
          <p:cNvSpPr/>
          <p:nvPr/>
        </p:nvSpPr>
        <p:spPr>
          <a:xfrm>
            <a:off x="7072074" y="5449491"/>
            <a:ext cx="486251" cy="486251"/>
          </a:xfrm>
          <a:prstGeom prst="roundRect">
            <a:avLst>
              <a:gd name="adj" fmla="val 66679"/>
            </a:avLst>
          </a:prstGeom>
          <a:solidFill>
            <a:srgbClr val="0A081B"/>
          </a:solidFill>
          <a:ln w="22860">
            <a:solidFill>
              <a:srgbClr val="37A7E7"/>
            </a:solidFill>
            <a:prstDash val="solid"/>
          </a:ln>
        </p:spPr>
      </p:sp>
      <p:sp>
        <p:nvSpPr>
          <p:cNvPr id="17" name="Text 15"/>
          <p:cNvSpPr/>
          <p:nvPr/>
        </p:nvSpPr>
        <p:spPr>
          <a:xfrm>
            <a:off x="7230785" y="5548432"/>
            <a:ext cx="168712" cy="288250"/>
          </a:xfrm>
          <a:prstGeom prst="rect">
            <a:avLst/>
          </a:prstGeom>
          <a:noFill/>
        </p:spPr>
        <p:txBody>
          <a:bodyPr wrap="none" lIns="0" tIns="0" rIns="0" bIns="0" rtlCol="0" anchor="t"/>
          <a:lstStyle/>
          <a:p>
            <a:pPr marL="0" indent="0" algn="ctr">
              <a:lnSpc>
                <a:spcPts val="2250"/>
              </a:lnSpc>
              <a:buNone/>
            </a:pPr>
            <a:r>
              <a:rPr lang="en-US" sz="2250" b="1" dirty="0">
                <a:solidFill>
                  <a:srgbClr val="E0E4E6"/>
                </a:solidFill>
                <a:latin typeface="Spline Sans Bold" pitchFamily="34" charset="0"/>
                <a:ea typeface="Spline Sans Bold" pitchFamily="34" charset="-122"/>
                <a:cs typeface="Spline Sans Bold" pitchFamily="34" charset="-120"/>
              </a:rPr>
              <a:t>3</a:t>
            </a:r>
            <a:endParaRPr lang="en-US" sz="2250" dirty="0"/>
          </a:p>
        </p:txBody>
      </p:sp>
      <p:sp>
        <p:nvSpPr>
          <p:cNvPr id="18" name="Text 16"/>
          <p:cNvSpPr/>
          <p:nvPr/>
        </p:nvSpPr>
        <p:spPr>
          <a:xfrm>
            <a:off x="3724870" y="5422463"/>
            <a:ext cx="2401610" cy="300157"/>
          </a:xfrm>
          <a:prstGeom prst="rect">
            <a:avLst/>
          </a:prstGeom>
          <a:noFill/>
        </p:spPr>
        <p:txBody>
          <a:bodyPr wrap="none" lIns="0" tIns="0" rIns="0" bIns="0" rtlCol="0" anchor="t"/>
          <a:lstStyle/>
          <a:p>
            <a:pPr marL="0" indent="0" algn="r">
              <a:lnSpc>
                <a:spcPts val="2350"/>
              </a:lnSpc>
              <a:buNone/>
            </a:pPr>
            <a:r>
              <a:rPr lang="en-US" altLang="fr-CA" sz="2400" b="1" dirty="0">
                <a:gradFill>
                  <a:gsLst>
                    <a:gs pos="0">
                      <a:srgbClr val="14CD68"/>
                    </a:gs>
                    <a:gs pos="100000">
                      <a:srgbClr val="0B6E38"/>
                    </a:gs>
                  </a:gsLst>
                  <a:lin scaled="0"/>
                </a:gradFill>
              </a:rPr>
              <a:t>Enjeux</a:t>
            </a:r>
            <a:endParaRPr lang="en-US" altLang="fr-CA" sz="2400" b="1" dirty="0">
              <a:gradFill>
                <a:gsLst>
                  <a:gs pos="0">
                    <a:srgbClr val="14CD68"/>
                  </a:gs>
                  <a:gs pos="100000">
                    <a:srgbClr val="0B6E38"/>
                  </a:gs>
                </a:gsLst>
                <a:lin scaled="0"/>
              </a:gradFill>
            </a:endParaRPr>
          </a:p>
        </p:txBody>
      </p:sp>
      <p:sp>
        <p:nvSpPr>
          <p:cNvPr id="19" name="Text 17"/>
          <p:cNvSpPr/>
          <p:nvPr/>
        </p:nvSpPr>
        <p:spPr>
          <a:xfrm>
            <a:off x="756523" y="5852279"/>
            <a:ext cx="5369957" cy="1383030"/>
          </a:xfrm>
          <a:prstGeom prst="rect">
            <a:avLst/>
          </a:prstGeom>
          <a:noFill/>
        </p:spPr>
        <p:txBody>
          <a:bodyPr wrap="square" lIns="0" tIns="0" rIns="0" bIns="0" rtlCol="0" anchor="t"/>
          <a:lstStyle/>
          <a:p>
            <a:pPr marL="0" indent="0" algn="r">
              <a:lnSpc>
                <a:spcPts val="2700"/>
              </a:lnSpc>
              <a:buNone/>
            </a:pPr>
            <a:r>
              <a:rPr lang="en-US" sz="1700" dirty="0">
                <a:solidFill>
                  <a:srgbClr val="E0E4E6"/>
                </a:solidFill>
                <a:latin typeface="Barlow" panose="00000800000000000000" pitchFamily="34" charset="0"/>
                <a:ea typeface="Barlow" panose="00000800000000000000" pitchFamily="34" charset="-122"/>
                <a:cs typeface="Barlow" panose="00000800000000000000" pitchFamily="34" charset="-120"/>
              </a:rPr>
              <a:t>Développement d'infrastructures robustes et sécurisées, protection de la vie privée des utilisateurs, intégration et interopérabilité des appareils, sensibilisation du public aux avantages et aux défis de l'IoT.</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p:cNvPicPr>
            <a:picLocks noChangeAspect="1"/>
          </p:cNvPicPr>
          <p:nvPr/>
        </p:nvPicPr>
        <p:blipFill>
          <a:blip r:embed="rId1"/>
          <a:stretch>
            <a:fillRect/>
          </a:stretch>
        </p:blipFill>
        <p:spPr>
          <a:xfrm>
            <a:off x="380365" y="1774825"/>
            <a:ext cx="8931275" cy="5001895"/>
          </a:xfrm>
          <a:prstGeom prst="rect">
            <a:avLst/>
          </a:prstGeom>
        </p:spPr>
      </p:pic>
      <p:sp>
        <p:nvSpPr>
          <p:cNvPr id="2" name="Zone de texte 1"/>
          <p:cNvSpPr txBox="1"/>
          <p:nvPr/>
        </p:nvSpPr>
        <p:spPr>
          <a:xfrm>
            <a:off x="1203325" y="474980"/>
            <a:ext cx="10972800" cy="922020"/>
          </a:xfrm>
          <a:prstGeom prst="rect">
            <a:avLst/>
          </a:prstGeom>
          <a:noFill/>
        </p:spPr>
        <p:txBody>
          <a:bodyPr wrap="square" rtlCol="0" anchor="t">
            <a:spAutoFit/>
          </a:bodyPr>
          <a:p>
            <a:r>
              <a:rPr lang="fr-BE" altLang="en-US" sz="5400" dirty="0">
                <a:gradFill>
                  <a:gsLst>
                    <a:gs pos="0">
                      <a:srgbClr val="14CD68"/>
                    </a:gs>
                    <a:gs pos="100000">
                      <a:srgbClr val="0B6E38"/>
                    </a:gs>
                  </a:gsLst>
                  <a:lin scaled="0"/>
                </a:gradFill>
                <a:sym typeface="+mn-ea"/>
              </a:rPr>
              <a:t>pour quoi ce projet ?</a:t>
            </a:r>
            <a:endParaRPr lang="fr-BE" altLang="en-US" sz="5400" dirty="0">
              <a:gradFill>
                <a:gsLst>
                  <a:gs pos="0">
                    <a:srgbClr val="14CD68"/>
                  </a:gs>
                  <a:gs pos="100000">
                    <a:srgbClr val="0B6E38"/>
                  </a:gs>
                </a:gsLst>
                <a:lin scaled="0"/>
              </a:gradFill>
              <a:sym typeface="+mn-ea"/>
            </a:endParaRPr>
          </a:p>
        </p:txBody>
      </p:sp>
      <p:sp>
        <p:nvSpPr>
          <p:cNvPr id="3" name="Zone de texte 2"/>
          <p:cNvSpPr txBox="1"/>
          <p:nvPr/>
        </p:nvSpPr>
        <p:spPr>
          <a:xfrm>
            <a:off x="9385935" y="1518920"/>
            <a:ext cx="5080000" cy="6325870"/>
          </a:xfrm>
          <a:prstGeom prst="rect">
            <a:avLst/>
          </a:prstGeom>
        </p:spPr>
        <p:txBody>
          <a:bodyPr>
            <a:noAutofit/>
          </a:bodyPr>
          <a:p>
            <a:r>
              <a:rPr lang="en-US" altLang="zh-CN" sz="2400">
                <a:solidFill>
                  <a:schemeClr val="bg1"/>
                </a:solidFill>
              </a:rPr>
              <a:t>Le graphique illustre l'évolution de la production mensuelle de pétrole brut en Algérie entre 2006 et 2023, exprimée en milliers de barils par jour. Une tendance générale à la baisse est observée, avec une forte diminution entre 2006 et 2010, suivie d'une stabilisation relative jusqu'en 2016. À partir de 2017, la production connaît une nouvelle baisse marquée, malgré une légère reprise en 2021. En 2023, la production atteint 940 000 barils par jour, bien en deçà des niveaux enregistrés en 2006. Ce déclin progressif reflète les défis structurels et conjoncturels du secteur pétrolier en Algérie.</a:t>
            </a:r>
            <a:endParaRPr lang="en-US" altLang="zh-CN" sz="240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1"/>
          <a:stretch>
            <a:fillRect/>
          </a:stretch>
        </p:blipFill>
        <p:spPr>
          <a:xfrm>
            <a:off x="273685" y="876935"/>
            <a:ext cx="9074785" cy="5718810"/>
          </a:xfrm>
          <a:prstGeom prst="rect">
            <a:avLst/>
          </a:prstGeom>
        </p:spPr>
      </p:pic>
      <p:sp>
        <p:nvSpPr>
          <p:cNvPr id="3" name="Zone de texte 2"/>
          <p:cNvSpPr txBox="1"/>
          <p:nvPr/>
        </p:nvSpPr>
        <p:spPr>
          <a:xfrm>
            <a:off x="9472295" y="1056640"/>
            <a:ext cx="5080000" cy="6369685"/>
          </a:xfrm>
          <a:prstGeom prst="rect">
            <a:avLst/>
          </a:prstGeom>
        </p:spPr>
        <p:txBody>
          <a:bodyPr>
            <a:spAutoFit/>
          </a:bodyPr>
          <a:p>
            <a:pPr>
              <a:buAutoNum type="arabicPeriod"/>
            </a:pPr>
            <a:r>
              <a:rPr lang="en-US" altLang="zh-CN" sz="2400">
                <a:solidFill>
                  <a:schemeClr val="bg1"/>
                </a:solidFill>
              </a:rPr>
              <a:t>Le graphique montre l'état des réserves extractibles des champs découverts en Algérie en 2022, hors nouvelles découvertes, selon ASPO. Il indique que :</a:t>
            </a:r>
            <a:endParaRPr lang="en-US" altLang="zh-CN" sz="2400">
              <a:solidFill>
                <a:schemeClr val="bg1"/>
              </a:solidFill>
            </a:endParaRPr>
          </a:p>
          <a:p>
            <a:pPr lvl="1">
              <a:buFont typeface="Arial" panose="020B0604020202020204"/>
              <a:buChar char="◦"/>
            </a:pPr>
            <a:r>
              <a:rPr lang="en-US" altLang="zh-CN" sz="2400">
                <a:solidFill>
                  <a:schemeClr val="bg1"/>
                </a:solidFill>
              </a:rPr>
              <a:t>Pour le gaz naturel, 33 % des réserves restent à produire.</a:t>
            </a:r>
            <a:endParaRPr lang="en-US" altLang="zh-CN" sz="2400">
              <a:solidFill>
                <a:schemeClr val="bg1"/>
              </a:solidFill>
            </a:endParaRPr>
          </a:p>
          <a:p>
            <a:pPr lvl="1">
              <a:buFont typeface="Arial" panose="020B0604020202020204"/>
              <a:buChar char="◦"/>
            </a:pPr>
            <a:r>
              <a:rPr lang="en-US" altLang="zh-CN" sz="2400">
                <a:solidFill>
                  <a:schemeClr val="bg1"/>
                </a:solidFill>
              </a:rPr>
              <a:t>Pour le pétrole, seulement 23 % des réserves extractibles sont encore disponibles.</a:t>
            </a:r>
            <a:endParaRPr lang="en-US" altLang="zh-CN" sz="2400">
              <a:solidFill>
                <a:schemeClr val="bg1"/>
              </a:solidFill>
            </a:endParaRPr>
          </a:p>
          <a:p>
            <a:r>
              <a:rPr lang="en-US" altLang="zh-CN" sz="2400">
                <a:solidFill>
                  <a:schemeClr val="bg1"/>
                </a:solidFill>
              </a:rPr>
              <a:t>Ces données mettent en lumière l'épuisement progressif des ressources fossiles en Algérie, soulignant l'importance de diversifier les sources d'énergie pour garantir une transition énergétique durable.</a:t>
            </a:r>
            <a:endParaRPr lang="en-US" altLang="zh-CN" sz="2400">
              <a:solidFill>
                <a:schemeClr val="bg1"/>
              </a:solidFill>
            </a:endParaRPr>
          </a:p>
          <a:p>
            <a:endParaRPr lang="en-US" altLang="zh-CN" sz="240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p:nvPr/>
        </p:nvPicPr>
        <p:blipFill>
          <a:blip r:embed="rId1"/>
          <a:stretch>
            <a:fillRect/>
          </a:stretch>
        </p:blipFill>
        <p:spPr>
          <a:xfrm>
            <a:off x="218440" y="1347470"/>
            <a:ext cx="8496300" cy="5334000"/>
          </a:xfrm>
          <a:prstGeom prst="rect">
            <a:avLst/>
          </a:prstGeom>
        </p:spPr>
      </p:pic>
      <p:sp>
        <p:nvSpPr>
          <p:cNvPr id="3" name="Zone de texte 2"/>
          <p:cNvSpPr txBox="1"/>
          <p:nvPr/>
        </p:nvSpPr>
        <p:spPr>
          <a:xfrm>
            <a:off x="8745855" y="316230"/>
            <a:ext cx="5885180" cy="7244080"/>
          </a:xfrm>
          <a:prstGeom prst="rect">
            <a:avLst/>
          </a:prstGeom>
        </p:spPr>
        <p:txBody>
          <a:bodyPr wrap="square">
            <a:noAutofit/>
          </a:bodyPr>
          <a:p>
            <a:r>
              <a:rPr lang="en-US" altLang="zh-CN" sz="2000">
                <a:solidFill>
                  <a:schemeClr val="bg1"/>
                </a:solidFill>
              </a:rPr>
              <a:t>Ce graphique montre l’évolution de la consommation d’énergie en Algérie entre 1960 et 2022, exprimée en exajoules (EJ).</a:t>
            </a:r>
            <a:endParaRPr lang="en-US" altLang="zh-CN" sz="2000">
              <a:solidFill>
                <a:schemeClr val="bg1"/>
              </a:solidFill>
            </a:endParaRPr>
          </a:p>
          <a:p>
            <a:r>
              <a:rPr lang="en-US" altLang="zh-CN" sz="2000">
                <a:solidFill>
                  <a:schemeClr val="bg1"/>
                </a:solidFill>
              </a:rPr>
              <a:t>On distingue deux principales sources d’énergie :</a:t>
            </a:r>
            <a:endParaRPr lang="en-US" altLang="zh-CN" sz="2000">
              <a:solidFill>
                <a:schemeClr val="bg1"/>
              </a:solidFill>
            </a:endParaRPr>
          </a:p>
          <a:p>
            <a:endParaRPr lang="en-US" altLang="zh-CN" sz="2000">
              <a:solidFill>
                <a:schemeClr val="bg1"/>
              </a:solidFill>
            </a:endParaRPr>
          </a:p>
          <a:p>
            <a:pPr>
              <a:buFont typeface="Arial" panose="020B0604020202020204"/>
              <a:buChar char="•"/>
            </a:pPr>
            <a:r>
              <a:rPr lang="en-US" altLang="zh-CN" sz="2000">
                <a:solidFill>
                  <a:schemeClr val="bg1"/>
                </a:solidFill>
              </a:rPr>
              <a:t>Pétrole (en orange) : La consommation de pétrole a connu une forte croissance depuis les années 1960, avec une stabilisation autour des années 2000, avant de repartir à la hausse à partir de 2010.</a:t>
            </a:r>
            <a:endParaRPr lang="en-US" altLang="zh-CN" sz="2000">
              <a:solidFill>
                <a:schemeClr val="bg1"/>
              </a:solidFill>
            </a:endParaRPr>
          </a:p>
          <a:p>
            <a:pPr>
              <a:buFont typeface="Arial" panose="020B0604020202020204"/>
              <a:buChar char="•"/>
            </a:pPr>
            <a:endParaRPr lang="en-US" altLang="zh-CN" sz="2000">
              <a:solidFill>
                <a:schemeClr val="bg1"/>
              </a:solidFill>
            </a:endParaRPr>
          </a:p>
          <a:p>
            <a:pPr>
              <a:buFont typeface="Arial" panose="020B0604020202020204"/>
              <a:buChar char="•"/>
            </a:pPr>
            <a:endParaRPr lang="en-US" altLang="zh-CN" sz="2000">
              <a:solidFill>
                <a:schemeClr val="bg1"/>
              </a:solidFill>
            </a:endParaRPr>
          </a:p>
          <a:p>
            <a:pPr>
              <a:buFont typeface="Arial" panose="020B0604020202020204"/>
              <a:buChar char="•"/>
            </a:pPr>
            <a:r>
              <a:rPr lang="en-US" altLang="zh-CN" sz="2000">
                <a:solidFill>
                  <a:schemeClr val="bg1"/>
                </a:solidFill>
              </a:rPr>
              <a:t>Gaz (en bleu) : L’utilisation du gaz a augmenté progressivement, surtout à partir des années 1980, pour atteindre presque le même niveau que le pétrole en 2022.</a:t>
            </a:r>
            <a:endParaRPr lang="en-US" altLang="zh-CN" sz="2000">
              <a:solidFill>
                <a:schemeClr val="bg1"/>
              </a:solidFill>
            </a:endParaRPr>
          </a:p>
          <a:p>
            <a:pPr>
              <a:buFont typeface="Arial" panose="020B0604020202020204"/>
              <a:buChar char="•"/>
            </a:pPr>
            <a:endParaRPr lang="en-US" altLang="zh-CN" sz="2000">
              <a:solidFill>
                <a:schemeClr val="bg1"/>
              </a:solidFill>
            </a:endParaRPr>
          </a:p>
          <a:p>
            <a:pPr>
              <a:buFont typeface="Arial" panose="020B0604020202020204"/>
              <a:buChar char="•"/>
            </a:pPr>
            <a:endParaRPr lang="en-US" altLang="zh-CN" sz="2000">
              <a:solidFill>
                <a:schemeClr val="bg1"/>
              </a:solidFill>
            </a:endParaRPr>
          </a:p>
          <a:p>
            <a:r>
              <a:rPr lang="en-US" altLang="zh-CN" sz="2000">
                <a:solidFill>
                  <a:schemeClr val="bg1"/>
                </a:solidFill>
              </a:rPr>
              <a:t>Le total combiné des deux sources d’énergie atteint environ 3,0 EJ en 2022, ce qui montre une dépendance énergétique croissante. On peut également noter une transition énergétique partielle vers le gaz, qui semble prendre une part de plus en plus importante.</a:t>
            </a:r>
            <a:endParaRPr lang="en-US" altLang="zh-CN" sz="2000">
              <a:solidFill>
                <a:schemeClr val="bg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p:cNvPicPr>
            <a:picLocks noChangeAspect="1"/>
          </p:cNvPicPr>
          <p:nvPr/>
        </p:nvPicPr>
        <p:blipFill>
          <a:blip r:embed="rId1"/>
          <a:stretch>
            <a:fillRect/>
          </a:stretch>
        </p:blipFill>
        <p:spPr>
          <a:xfrm>
            <a:off x="402590" y="1376045"/>
            <a:ext cx="8733790" cy="5476875"/>
          </a:xfrm>
          <a:prstGeom prst="rect">
            <a:avLst/>
          </a:prstGeom>
        </p:spPr>
      </p:pic>
      <p:sp>
        <p:nvSpPr>
          <p:cNvPr id="3" name="Zone de texte 2"/>
          <p:cNvSpPr txBox="1"/>
          <p:nvPr/>
        </p:nvSpPr>
        <p:spPr>
          <a:xfrm>
            <a:off x="9385935" y="929323"/>
            <a:ext cx="5080000" cy="6369685"/>
          </a:xfrm>
          <a:prstGeom prst="rect">
            <a:avLst/>
          </a:prstGeom>
        </p:spPr>
        <p:txBody>
          <a:bodyPr>
            <a:spAutoFit/>
          </a:bodyPr>
          <a:p>
            <a:r>
              <a:rPr lang="en-US" altLang="zh-CN" sz="2400">
                <a:solidFill>
                  <a:schemeClr val="bg1"/>
                </a:solidFill>
              </a:rPr>
              <a:t>Un taux de natalité dépassant un million de naissances par an a des implications majeures, notamment en matière de consommation d'énergie. L'augmentation de la population entraîne une demande accrue en logements, en transport, en production industrielle et en services publics, ce qui intensifie la pression sur les ressources énergétiques. </a:t>
            </a:r>
            <a:endParaRPr lang="en-US" altLang="zh-CN" sz="2400">
              <a:solidFill>
                <a:schemeClr val="bg1"/>
              </a:solidFill>
            </a:endParaRPr>
          </a:p>
          <a:p>
            <a:endParaRPr lang="en-US" altLang="zh-CN" sz="2400">
              <a:solidFill>
                <a:schemeClr val="bg1"/>
              </a:solidFill>
            </a:endParaRPr>
          </a:p>
          <a:p>
            <a:r>
              <a:rPr lang="en-US" altLang="zh-CN" sz="2400">
                <a:solidFill>
                  <a:schemeClr val="bg1"/>
                </a:solidFill>
              </a:rPr>
              <a:t>Cette hausse de consommation peut nécessiter des ajustements en matière de production énergétique, d’infrastructures et de politiques de développement durable pour répondre aux besoins croissants de la société.</a:t>
            </a:r>
            <a:endParaRPr lang="en-US" altLang="zh-CN" sz="2400">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p:cNvPicPr>
            <a:picLocks noChangeAspect="1"/>
          </p:cNvPicPr>
          <p:nvPr/>
        </p:nvPicPr>
        <p:blipFill>
          <a:blip r:embed="rId1"/>
          <a:stretch>
            <a:fillRect/>
          </a:stretch>
        </p:blipFill>
        <p:spPr>
          <a:xfrm>
            <a:off x="219075" y="1891665"/>
            <a:ext cx="5306060" cy="2309495"/>
          </a:xfrm>
          <a:prstGeom prst="rect">
            <a:avLst/>
          </a:prstGeom>
        </p:spPr>
      </p:pic>
      <p:pic>
        <p:nvPicPr>
          <p:cNvPr id="3" name="Image 2" descr="Capture"/>
          <p:cNvPicPr>
            <a:picLocks noChangeAspect="1"/>
          </p:cNvPicPr>
          <p:nvPr/>
        </p:nvPicPr>
        <p:blipFill>
          <a:blip r:embed="rId2"/>
          <a:srcRect r="18452"/>
          <a:stretch>
            <a:fillRect/>
          </a:stretch>
        </p:blipFill>
        <p:spPr>
          <a:xfrm>
            <a:off x="281305" y="4990465"/>
            <a:ext cx="5243830" cy="2193290"/>
          </a:xfrm>
          <a:prstGeom prst="rect">
            <a:avLst/>
          </a:prstGeom>
        </p:spPr>
      </p:pic>
      <p:pic>
        <p:nvPicPr>
          <p:cNvPr id="4" name="Image 3" descr="Capture"/>
          <p:cNvPicPr>
            <a:picLocks noChangeAspect="1"/>
          </p:cNvPicPr>
          <p:nvPr/>
        </p:nvPicPr>
        <p:blipFill>
          <a:blip r:embed="rId3"/>
          <a:stretch>
            <a:fillRect/>
          </a:stretch>
        </p:blipFill>
        <p:spPr>
          <a:xfrm>
            <a:off x="5742940" y="1891665"/>
            <a:ext cx="8740140" cy="463232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1"/>
          <a:stretch>
            <a:fillRect/>
          </a:stretch>
        </p:blipFill>
        <p:spPr>
          <a:xfrm>
            <a:off x="266065" y="0"/>
            <a:ext cx="7896860" cy="3547745"/>
          </a:xfrm>
          <a:prstGeom prst="rect">
            <a:avLst/>
          </a:prstGeom>
        </p:spPr>
      </p:pic>
      <p:pic>
        <p:nvPicPr>
          <p:cNvPr id="3" name="Image 2"/>
          <p:cNvPicPr>
            <a:picLocks noChangeAspect="1"/>
          </p:cNvPicPr>
          <p:nvPr/>
        </p:nvPicPr>
        <p:blipFill>
          <a:blip r:embed="rId2"/>
          <a:stretch>
            <a:fillRect/>
          </a:stretch>
        </p:blipFill>
        <p:spPr>
          <a:xfrm>
            <a:off x="266065" y="3517265"/>
            <a:ext cx="7856855" cy="4208145"/>
          </a:xfrm>
          <a:prstGeom prst="rect">
            <a:avLst/>
          </a:prstGeom>
        </p:spPr>
      </p:pic>
      <p:sp>
        <p:nvSpPr>
          <p:cNvPr id="4" name="Zone de texte 3"/>
          <p:cNvSpPr txBox="1"/>
          <p:nvPr/>
        </p:nvSpPr>
        <p:spPr>
          <a:xfrm>
            <a:off x="8507730" y="473075"/>
            <a:ext cx="5699760" cy="7477760"/>
          </a:xfrm>
          <a:prstGeom prst="rect">
            <a:avLst/>
          </a:prstGeom>
        </p:spPr>
        <p:txBody>
          <a:bodyPr wrap="square">
            <a:spAutoFit/>
          </a:bodyPr>
          <a:p>
            <a:r>
              <a:rPr lang="en-US" altLang="zh-CN" sz="2400">
                <a:solidFill>
                  <a:schemeClr val="bg1"/>
                </a:solidFill>
              </a:rPr>
              <a:t>Dans notre projet, nous nous sommes appuyés sur une étude de recherche menée par des chercheurs de l’Universiti Tunku Abdul Rahman et du New Era University College en Malaisie.</a:t>
            </a:r>
            <a:endParaRPr lang="en-US" altLang="zh-CN" sz="2400">
              <a:solidFill>
                <a:schemeClr val="bg1"/>
              </a:solidFill>
            </a:endParaRPr>
          </a:p>
          <a:p>
            <a:endParaRPr lang="en-US" altLang="zh-CN" sz="2400">
              <a:solidFill>
                <a:schemeClr val="bg1"/>
              </a:solidFill>
            </a:endParaRPr>
          </a:p>
          <a:p>
            <a:r>
              <a:rPr lang="en-US" altLang="zh-CN" sz="2400">
                <a:solidFill>
                  <a:schemeClr val="bg1"/>
                </a:solidFill>
              </a:rPr>
              <a:t> Cette étude explore l’optimisation de la consommation énergétique dans les maisons intelligentes en utilisant des algorithmes d’intelligence en essaim, notamment </a:t>
            </a:r>
            <a:r>
              <a:rPr lang="en-US" altLang="zh-CN" sz="2400">
                <a:gradFill>
                  <a:gsLst>
                    <a:gs pos="0">
                      <a:srgbClr val="14CD68"/>
                    </a:gs>
                    <a:gs pos="100000">
                      <a:srgbClr val="0B6E38"/>
                    </a:gs>
                  </a:gsLst>
                  <a:lin scaled="0"/>
                </a:gradFill>
              </a:rPr>
              <a:t>l’algorithme d’optimisation par essaim de particules (PSO), ainsi que le Bacterial Foraging Optimization Algorithm (BFOA) et le Harmony Search Algorithm (HAS). </a:t>
            </a:r>
            <a:endParaRPr lang="en-US" altLang="zh-CN" sz="2400">
              <a:gradFill>
                <a:gsLst>
                  <a:gs pos="0">
                    <a:srgbClr val="14CD68"/>
                  </a:gs>
                  <a:gs pos="100000">
                    <a:srgbClr val="0B6E38"/>
                  </a:gs>
                </a:gsLst>
                <a:lin scaled="0"/>
              </a:gradFill>
            </a:endParaRPr>
          </a:p>
          <a:p>
            <a:endParaRPr lang="en-US" altLang="zh-CN" sz="2400">
              <a:solidFill>
                <a:schemeClr val="bg1"/>
              </a:solidFill>
            </a:endParaRPr>
          </a:p>
          <a:p>
            <a:r>
              <a:rPr lang="en-US" altLang="zh-CN" sz="2400">
                <a:solidFill>
                  <a:schemeClr val="bg1"/>
                </a:solidFill>
              </a:rPr>
              <a:t>Ces approches nous ont permis d’optimiser la gestion énergétique tout en maintenant un équilibre entre exploration et exploitation des ressources disponibles.</a:t>
            </a:r>
            <a:endParaRPr lang="en-US" altLang="zh-CN" sz="2400">
              <a:solidFill>
                <a:schemeClr val="bg1"/>
              </a:solidFill>
            </a:endParaRPr>
          </a:p>
        </p:txBody>
      </p:sp>
      <p:sp>
        <p:nvSpPr>
          <p:cNvPr id="5" name="Zone de texte 4"/>
          <p:cNvSpPr txBox="1"/>
          <p:nvPr/>
        </p:nvSpPr>
        <p:spPr>
          <a:xfrm>
            <a:off x="10025380" y="76835"/>
            <a:ext cx="3284220" cy="583565"/>
          </a:xfrm>
          <a:prstGeom prst="rect">
            <a:avLst/>
          </a:prstGeom>
          <a:noFill/>
        </p:spPr>
        <p:txBody>
          <a:bodyPr wrap="square" rtlCol="0" anchor="t">
            <a:spAutoFit/>
          </a:bodyPr>
          <a:p>
            <a:r>
              <a:rPr lang="fr-BE" altLang="en-US" sz="3200" b="1">
                <a:gradFill>
                  <a:gsLst>
                    <a:gs pos="0">
                      <a:srgbClr val="14CD68"/>
                    </a:gs>
                    <a:gs pos="100000">
                      <a:srgbClr val="0B6E38"/>
                    </a:gs>
                  </a:gsLst>
                  <a:lin scaled="0"/>
                </a:gradFill>
                <a:sym typeface="+mn-ea"/>
              </a:rPr>
              <a:t>conexte d’étude </a:t>
            </a:r>
            <a:endParaRPr lang="fr-BE" altLang="en-US" sz="3200" b="1">
              <a:gradFill>
                <a:gsLst>
                  <a:gs pos="0">
                    <a:srgbClr val="14CD68"/>
                  </a:gs>
                  <a:gs pos="100000">
                    <a:srgbClr val="0B6E38"/>
                  </a:gs>
                </a:gsLst>
                <a:lin scaled="0"/>
              </a:gradFill>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Image 19"/>
          <p:cNvPicPr>
            <a:picLocks noChangeAspect="1"/>
          </p:cNvPicPr>
          <p:nvPr/>
        </p:nvPicPr>
        <p:blipFill>
          <a:blip r:embed="rId1"/>
          <a:stretch>
            <a:fillRect/>
          </a:stretch>
        </p:blipFill>
        <p:spPr>
          <a:xfrm>
            <a:off x="418465" y="615315"/>
            <a:ext cx="9603105" cy="7188835"/>
          </a:xfrm>
          <a:prstGeom prst="rect">
            <a:avLst/>
          </a:prstGeom>
        </p:spPr>
      </p:pic>
      <p:sp>
        <p:nvSpPr>
          <p:cNvPr id="3" name="Zone de texte 2"/>
          <p:cNvSpPr txBox="1"/>
          <p:nvPr/>
        </p:nvSpPr>
        <p:spPr>
          <a:xfrm>
            <a:off x="10523855" y="1840230"/>
            <a:ext cx="3571875" cy="1076325"/>
          </a:xfrm>
          <a:prstGeom prst="rect">
            <a:avLst/>
          </a:prstGeom>
          <a:noFill/>
        </p:spPr>
        <p:txBody>
          <a:bodyPr wrap="square" rtlCol="0" anchor="t">
            <a:spAutoFit/>
          </a:bodyPr>
          <a:p>
            <a:r>
              <a:rPr lang="fr-BE" altLang="en-US" sz="3200" b="1">
                <a:gradFill>
                  <a:gsLst>
                    <a:gs pos="0">
                      <a:srgbClr val="14CD68"/>
                    </a:gs>
                    <a:gs pos="100000">
                      <a:srgbClr val="0B6E38"/>
                    </a:gs>
                  </a:gsLst>
                  <a:lin scaled="0"/>
                </a:gradFill>
                <a:sym typeface="+mn-ea"/>
              </a:rPr>
              <a:t>exemple de similation </a:t>
            </a:r>
            <a:endParaRPr lang="fr-BE" altLang="en-US" sz="3200" b="1">
              <a:gradFill>
                <a:gsLst>
                  <a:gs pos="0">
                    <a:srgbClr val="14CD68"/>
                  </a:gs>
                  <a:gs pos="100000">
                    <a:srgbClr val="0B6E38"/>
                  </a:gs>
                </a:gsLst>
                <a:lin scaled="0"/>
              </a:gradFill>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1"/>
          <a:stretch>
            <a:fillRect/>
          </a:stretch>
        </p:blipFill>
        <p:spPr>
          <a:xfrm>
            <a:off x="227330" y="633730"/>
            <a:ext cx="8676640" cy="4679315"/>
          </a:xfrm>
          <a:prstGeom prst="rect">
            <a:avLst/>
          </a:prstGeom>
        </p:spPr>
      </p:pic>
      <p:sp>
        <p:nvSpPr>
          <p:cNvPr id="3" name="Zone de texte 2"/>
          <p:cNvSpPr txBox="1"/>
          <p:nvPr/>
        </p:nvSpPr>
        <p:spPr>
          <a:xfrm>
            <a:off x="227330" y="5662295"/>
            <a:ext cx="9095105" cy="1448435"/>
          </a:xfrm>
          <a:prstGeom prst="rect">
            <a:avLst/>
          </a:prstGeom>
        </p:spPr>
        <p:txBody>
          <a:bodyPr wrap="square">
            <a:noAutofit/>
          </a:bodyPr>
          <a:p>
            <a:r>
              <a:rPr lang="en-US" altLang="fr-CA" sz="2800">
                <a:gradFill>
                  <a:gsLst>
                    <a:gs pos="0">
                      <a:srgbClr val="14CD68"/>
                    </a:gs>
                    <a:gs pos="100000">
                      <a:srgbClr val="0B6E38"/>
                    </a:gs>
                  </a:gsLst>
                  <a:lin scaled="0"/>
                </a:gradFill>
              </a:rPr>
              <a:t>L'Exp</a:t>
            </a:r>
            <a:r>
              <a:rPr lang="en-US" altLang="en-US" sz="2800">
                <a:gradFill>
                  <a:gsLst>
                    <a:gs pos="0">
                      <a:srgbClr val="14CD68"/>
                    </a:gs>
                    <a:gs pos="100000">
                      <a:srgbClr val="0B6E38"/>
                    </a:gs>
                  </a:gsLst>
                  <a:lin scaled="0"/>
                </a:gradFill>
              </a:rPr>
              <a:t>é</a:t>
            </a:r>
            <a:r>
              <a:rPr lang="en-US" altLang="fr-CA" sz="2800">
                <a:gradFill>
                  <a:gsLst>
                    <a:gs pos="0">
                      <a:srgbClr val="14CD68"/>
                    </a:gs>
                    <a:gs pos="100000">
                      <a:srgbClr val="0B6E38"/>
                    </a:gs>
                  </a:gsLst>
                  <a:lin scaled="0"/>
                </a:gradFill>
              </a:rPr>
              <a:t>rience 1 a donc permis d'</a:t>
            </a:r>
            <a:r>
              <a:rPr lang="en-US" altLang="en-US" sz="2800">
                <a:gradFill>
                  <a:gsLst>
                    <a:gs pos="0">
                      <a:srgbClr val="14CD68"/>
                    </a:gs>
                    <a:gs pos="100000">
                      <a:srgbClr val="0B6E38"/>
                    </a:gs>
                  </a:gsLst>
                  <a:lin scaled="0"/>
                </a:gradFill>
              </a:rPr>
              <a:t>é</a:t>
            </a:r>
            <a:r>
              <a:rPr lang="en-US" altLang="fr-CA" sz="2800">
                <a:gradFill>
                  <a:gsLst>
                    <a:gs pos="0">
                      <a:srgbClr val="14CD68"/>
                    </a:gs>
                    <a:gs pos="100000">
                      <a:srgbClr val="0B6E38"/>
                    </a:gs>
                  </a:gsLst>
                  <a:lin scaled="0"/>
                </a:gradFill>
              </a:rPr>
              <a:t>conomiser environ 44.26% d'</a:t>
            </a:r>
            <a:r>
              <a:rPr lang="en-US" altLang="en-US" sz="2800">
                <a:gradFill>
                  <a:gsLst>
                    <a:gs pos="0">
                      <a:srgbClr val="14CD68"/>
                    </a:gs>
                    <a:gs pos="100000">
                      <a:srgbClr val="0B6E38"/>
                    </a:gs>
                  </a:gsLst>
                  <a:lin scaled="0"/>
                </a:gradFill>
              </a:rPr>
              <a:t>é</a:t>
            </a:r>
            <a:r>
              <a:rPr lang="en-US" altLang="fr-CA" sz="2800">
                <a:gradFill>
                  <a:gsLst>
                    <a:gs pos="0">
                      <a:srgbClr val="14CD68"/>
                    </a:gs>
                    <a:gs pos="100000">
                      <a:srgbClr val="0B6E38"/>
                    </a:gs>
                  </a:gsLst>
                  <a:lin scaled="0"/>
                </a:gradFill>
              </a:rPr>
              <a:t>nergie par rapport à l'Exp</a:t>
            </a:r>
            <a:r>
              <a:rPr lang="en-US" altLang="en-US" sz="2800">
                <a:gradFill>
                  <a:gsLst>
                    <a:gs pos="0">
                      <a:srgbClr val="14CD68"/>
                    </a:gs>
                    <a:gs pos="100000">
                      <a:srgbClr val="0B6E38"/>
                    </a:gs>
                  </a:gsLst>
                  <a:lin scaled="0"/>
                </a:gradFill>
              </a:rPr>
              <a:t>é</a:t>
            </a:r>
            <a:r>
              <a:rPr lang="en-US" altLang="fr-CA" sz="2800">
                <a:gradFill>
                  <a:gsLst>
                    <a:gs pos="0">
                      <a:srgbClr val="14CD68"/>
                    </a:gs>
                    <a:gs pos="100000">
                      <a:srgbClr val="0B6E38"/>
                    </a:gs>
                  </a:gsLst>
                  <a:lin scaled="0"/>
                </a:gradFill>
              </a:rPr>
              <a:t>rience 2.</a:t>
            </a:r>
            <a:endParaRPr lang="en-US" altLang="fr-CA" sz="2800">
              <a:gradFill>
                <a:gsLst>
                  <a:gs pos="0">
                    <a:srgbClr val="14CD68"/>
                  </a:gs>
                  <a:gs pos="100000">
                    <a:srgbClr val="0B6E38"/>
                  </a:gs>
                </a:gsLst>
                <a:lin scaled="0"/>
              </a:gradFill>
            </a:endParaRPr>
          </a:p>
          <a:p>
            <a:endParaRPr lang="en-US" altLang="fr-CA" sz="2000">
              <a:solidFill>
                <a:schemeClr val="bg1"/>
              </a:solidFill>
            </a:endParaRPr>
          </a:p>
          <a:p>
            <a:endParaRPr lang="en-US" altLang="fr-CA" sz="2000">
              <a:solidFill>
                <a:schemeClr val="bg1"/>
              </a:solidFill>
            </a:endParaRPr>
          </a:p>
          <a:p>
            <a:endParaRPr lang="en-US" altLang="fr-CA" sz="2000">
              <a:solidFill>
                <a:schemeClr val="bg1"/>
              </a:solidFill>
            </a:endParaRPr>
          </a:p>
          <a:p>
            <a:endParaRPr lang="en-US" altLang="fr-CA" sz="2000">
              <a:solidFill>
                <a:schemeClr val="bg1"/>
              </a:solidFill>
            </a:endParaRPr>
          </a:p>
          <a:p>
            <a:endParaRPr lang="en-US" altLang="fr-CA" sz="2000">
              <a:solidFill>
                <a:schemeClr val="bg1"/>
              </a:solidFill>
            </a:endParaRPr>
          </a:p>
          <a:p>
            <a:endParaRPr lang="en-US" altLang="fr-CA" sz="2000">
              <a:solidFill>
                <a:schemeClr val="bg1"/>
              </a:solidFill>
            </a:endParaRPr>
          </a:p>
          <a:p>
            <a:endParaRPr lang="en-US" altLang="fr-CA" sz="2000">
              <a:solidFill>
                <a:schemeClr val="bg1"/>
              </a:solidFill>
            </a:endParaRPr>
          </a:p>
          <a:p>
            <a:endParaRPr lang="en-US" altLang="fr-CA" sz="2000">
              <a:solidFill>
                <a:schemeClr val="bg1"/>
              </a:solidFill>
            </a:endParaRPr>
          </a:p>
        </p:txBody>
      </p:sp>
      <p:pic>
        <p:nvPicPr>
          <p:cNvPr id="4" name="Image 3"/>
          <p:cNvPicPr>
            <a:picLocks noChangeAspect="1"/>
          </p:cNvPicPr>
          <p:nvPr/>
        </p:nvPicPr>
        <p:blipFill>
          <a:blip r:embed="rId2"/>
          <a:stretch>
            <a:fillRect/>
          </a:stretch>
        </p:blipFill>
        <p:spPr>
          <a:xfrm>
            <a:off x="9615170" y="208280"/>
            <a:ext cx="4472940" cy="3624580"/>
          </a:xfrm>
          <a:prstGeom prst="rect">
            <a:avLst/>
          </a:prstGeom>
        </p:spPr>
      </p:pic>
      <p:pic>
        <p:nvPicPr>
          <p:cNvPr id="5" name="Image 4"/>
          <p:cNvPicPr>
            <a:picLocks noChangeAspect="1"/>
          </p:cNvPicPr>
          <p:nvPr/>
        </p:nvPicPr>
        <p:blipFill>
          <a:blip r:embed="rId3"/>
          <a:stretch>
            <a:fillRect/>
          </a:stretch>
        </p:blipFill>
        <p:spPr>
          <a:xfrm>
            <a:off x="9556115" y="4114800"/>
            <a:ext cx="4531995" cy="356933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1"/>
          <a:stretch>
            <a:fillRect/>
          </a:stretch>
        </p:blipFill>
        <p:spPr>
          <a:xfrm>
            <a:off x="134620" y="246380"/>
            <a:ext cx="5756275" cy="7195820"/>
          </a:xfrm>
          <a:prstGeom prst="rect">
            <a:avLst/>
          </a:prstGeom>
        </p:spPr>
      </p:pic>
      <p:sp>
        <p:nvSpPr>
          <p:cNvPr id="4" name="Zone de texte 3"/>
          <p:cNvSpPr txBox="1"/>
          <p:nvPr/>
        </p:nvSpPr>
        <p:spPr>
          <a:xfrm>
            <a:off x="5989320" y="35560"/>
            <a:ext cx="8641080" cy="9567545"/>
          </a:xfrm>
          <a:prstGeom prst="rect">
            <a:avLst/>
          </a:prstGeom>
        </p:spPr>
        <p:txBody>
          <a:bodyPr wrap="square">
            <a:noAutofit/>
          </a:bodyPr>
          <a:p>
            <a:pPr indent="0">
              <a:buFont typeface="Arial" panose="020B0604020202020204"/>
              <a:buNone/>
            </a:pPr>
            <a:endParaRPr lang="en-US" altLang="zh-CN" sz="2400" b="1">
              <a:solidFill>
                <a:schemeClr val="bg1"/>
              </a:solidFill>
            </a:endParaRPr>
          </a:p>
          <a:p>
            <a:pPr>
              <a:buFont typeface="Arial" panose="020B0604020202020204"/>
              <a:buChar char="•"/>
            </a:pPr>
            <a:r>
              <a:rPr lang="en-US" altLang="zh-CN" sz="2000">
                <a:solidFill>
                  <a:schemeClr val="bg1"/>
                </a:solidFill>
              </a:rPr>
              <a:t>Maisons intelligentes : utilisation de capteurs IoT pour collecter et analyser des données.</a:t>
            </a:r>
            <a:endParaRPr lang="en-US" altLang="zh-CN" sz="2000">
              <a:solidFill>
                <a:schemeClr val="bg1"/>
              </a:solidFill>
            </a:endParaRPr>
          </a:p>
          <a:p>
            <a:pPr>
              <a:buFont typeface="Arial" panose="020B0604020202020204"/>
              <a:buChar char="•"/>
            </a:pPr>
            <a:r>
              <a:rPr lang="en-US" altLang="zh-CN" sz="2000">
                <a:solidFill>
                  <a:schemeClr val="bg1"/>
                </a:solidFill>
              </a:rPr>
              <a:t>Optimisation par essaim de particules (PSO) : Algorithme inspiré du comportement collectif des essaims d'oiseaux ou de poissons pour trouver les meilleures solutions aux problèmes d'optimisation.</a:t>
            </a:r>
            <a:endParaRPr lang="en-US" altLang="zh-CN" sz="2000">
              <a:solidFill>
                <a:schemeClr val="bg1"/>
              </a:solidFill>
            </a:endParaRPr>
          </a:p>
          <a:p>
            <a:pPr>
              <a:buFont typeface="Arial" panose="020B0604020202020204"/>
              <a:buChar char="•"/>
            </a:pPr>
            <a:endParaRPr lang="en-US" altLang="zh-CN" sz="1600">
              <a:solidFill>
                <a:schemeClr val="bg1"/>
              </a:solidFill>
            </a:endParaRPr>
          </a:p>
          <a:p>
            <a:pPr>
              <a:spcAft>
                <a:spcPct val="0"/>
              </a:spcAft>
            </a:pPr>
            <a:r>
              <a:rPr lang="en-US" altLang="zh-CN" sz="2200" b="1">
                <a:gradFill>
                  <a:gsLst>
                    <a:gs pos="0">
                      <a:srgbClr val="14CD68"/>
                    </a:gs>
                    <a:gs pos="100000">
                      <a:srgbClr val="0B6E38"/>
                    </a:gs>
                  </a:gsLst>
                  <a:lin scaled="0"/>
                </a:gradFill>
              </a:rPr>
              <a:t>Algorithmes et Composants</a:t>
            </a:r>
            <a:endParaRPr lang="en-US" altLang="zh-CN" sz="2200" b="1">
              <a:gradFill>
                <a:gsLst>
                  <a:gs pos="0">
                    <a:srgbClr val="14CD68"/>
                  </a:gs>
                  <a:gs pos="100000">
                    <a:srgbClr val="0B6E38"/>
                  </a:gs>
                </a:gsLst>
                <a:lin scaled="0"/>
              </a:gradFill>
            </a:endParaRPr>
          </a:p>
          <a:p>
            <a:pPr>
              <a:spcAft>
                <a:spcPct val="0"/>
              </a:spcAft>
            </a:pPr>
            <a:endParaRPr lang="en-US" altLang="zh-CN" sz="2200" b="1">
              <a:solidFill>
                <a:schemeClr val="bg1"/>
              </a:solidFill>
            </a:endParaRPr>
          </a:p>
          <a:p>
            <a:pPr>
              <a:buFont typeface="Arial" panose="020B0604020202020204"/>
              <a:buChar char="•"/>
            </a:pPr>
            <a:r>
              <a:rPr lang="en-US" altLang="zh-CN">
                <a:solidFill>
                  <a:schemeClr val="bg1"/>
                </a:solidFill>
              </a:rPr>
              <a:t>PSO (Particle Swarm Optimization) pour optimiser la gestion énergétique et climatique.</a:t>
            </a:r>
            <a:endParaRPr lang="en-US" altLang="zh-CN">
              <a:solidFill>
                <a:schemeClr val="bg1"/>
              </a:solidFill>
            </a:endParaRPr>
          </a:p>
          <a:p>
            <a:pPr>
              <a:buFont typeface="Arial" panose="020B0604020202020204"/>
              <a:buChar char="•"/>
            </a:pPr>
            <a:r>
              <a:rPr lang="en-US" altLang="zh-CN">
                <a:solidFill>
                  <a:schemeClr val="bg1"/>
                </a:solidFill>
              </a:rPr>
              <a:t>Capteurs IoT pour surveiller :</a:t>
            </a:r>
            <a:endParaRPr lang="en-US" altLang="zh-CN">
              <a:solidFill>
                <a:schemeClr val="bg1"/>
              </a:solidFill>
            </a:endParaRPr>
          </a:p>
          <a:p>
            <a:pPr lvl="1">
              <a:buFont typeface="Arial" panose="020B0604020202020204"/>
              <a:buChar char="◦"/>
            </a:pPr>
            <a:r>
              <a:rPr lang="en-US" altLang="zh-CN">
                <a:solidFill>
                  <a:schemeClr val="bg1"/>
                </a:solidFill>
              </a:rPr>
              <a:t>Température et humidité</a:t>
            </a:r>
            <a:endParaRPr lang="en-US" altLang="zh-CN">
              <a:solidFill>
                <a:schemeClr val="bg1"/>
              </a:solidFill>
            </a:endParaRPr>
          </a:p>
          <a:p>
            <a:pPr lvl="1">
              <a:buFont typeface="Arial" panose="020B0604020202020204"/>
              <a:buChar char="◦"/>
            </a:pPr>
            <a:r>
              <a:rPr lang="en-US" altLang="zh-CN">
                <a:solidFill>
                  <a:schemeClr val="bg1"/>
                </a:solidFill>
              </a:rPr>
              <a:t>Sécurité des portes et fenêtres</a:t>
            </a:r>
            <a:endParaRPr lang="en-US" altLang="zh-CN">
              <a:solidFill>
                <a:schemeClr val="bg1"/>
              </a:solidFill>
            </a:endParaRPr>
          </a:p>
          <a:p>
            <a:pPr lvl="1">
              <a:buFont typeface="Arial" panose="020B0604020202020204"/>
              <a:buChar char="◦"/>
            </a:pPr>
            <a:r>
              <a:rPr lang="en-US" altLang="zh-CN">
                <a:solidFill>
                  <a:schemeClr val="bg1"/>
                </a:solidFill>
              </a:rPr>
              <a:t>Qualité de l'air</a:t>
            </a:r>
            <a:endParaRPr lang="en-US" altLang="zh-CN">
              <a:solidFill>
                <a:schemeClr val="bg1"/>
              </a:solidFill>
            </a:endParaRPr>
          </a:p>
          <a:p>
            <a:pPr lvl="1">
              <a:buFont typeface="Arial" panose="020B0604020202020204"/>
              <a:buChar char="◦"/>
            </a:pPr>
            <a:r>
              <a:rPr lang="en-US" altLang="zh-CN">
                <a:solidFill>
                  <a:schemeClr val="bg1"/>
                </a:solidFill>
              </a:rPr>
              <a:t>Présence et mouvements</a:t>
            </a:r>
            <a:endParaRPr lang="en-US" altLang="zh-CN">
              <a:solidFill>
                <a:schemeClr val="bg1"/>
              </a:solidFill>
            </a:endParaRPr>
          </a:p>
          <a:p>
            <a:pPr lvl="1">
              <a:buFont typeface="Arial" panose="020B0604020202020204"/>
              <a:buChar char="◦"/>
            </a:pPr>
            <a:r>
              <a:rPr lang="en-US" altLang="zh-CN">
                <a:solidFill>
                  <a:schemeClr val="bg1"/>
                </a:solidFill>
              </a:rPr>
              <a:t>Gestion des lumières et des alarmes</a:t>
            </a:r>
            <a:endParaRPr lang="en-US" altLang="zh-CN">
              <a:solidFill>
                <a:schemeClr val="bg1"/>
              </a:solidFill>
            </a:endParaRPr>
          </a:p>
          <a:p>
            <a:pPr>
              <a:buFont typeface="Arial" panose="020B0604020202020204"/>
              <a:buChar char="•"/>
            </a:pPr>
            <a:r>
              <a:rPr lang="en-US" altLang="zh-CN">
                <a:solidFill>
                  <a:schemeClr val="bg1"/>
                </a:solidFill>
              </a:rPr>
              <a:t>Systèmes de contrôle connectés pour automatiser les actions selon les données collectées</a:t>
            </a:r>
            <a:r>
              <a:rPr lang="en-US" altLang="zh-CN" sz="1600">
                <a:solidFill>
                  <a:schemeClr val="bg1"/>
                </a:solidFill>
              </a:rPr>
              <a:t>.</a:t>
            </a:r>
            <a:endParaRPr lang="en-US" altLang="zh-CN" sz="1600">
              <a:solidFill>
                <a:schemeClr val="bg1"/>
              </a:solidFill>
            </a:endParaRPr>
          </a:p>
          <a:p>
            <a:pPr indent="0">
              <a:buFont typeface="Arial" panose="020B0604020202020204"/>
              <a:buNone/>
            </a:pPr>
            <a:endParaRPr lang="en-US" altLang="zh-CN" sz="2200" b="1">
              <a:solidFill>
                <a:schemeClr val="bg1"/>
              </a:solidFill>
            </a:endParaRPr>
          </a:p>
          <a:p>
            <a:pPr>
              <a:spcAft>
                <a:spcPct val="0"/>
              </a:spcAft>
            </a:pPr>
            <a:r>
              <a:rPr lang="en-US" altLang="zh-CN" sz="2200" b="1">
                <a:gradFill>
                  <a:gsLst>
                    <a:gs pos="0">
                      <a:srgbClr val="14CD68"/>
                    </a:gs>
                    <a:gs pos="100000">
                      <a:srgbClr val="0B6E38"/>
                    </a:gs>
                  </a:gsLst>
                  <a:lin scaled="0"/>
                </a:gradFill>
              </a:rPr>
              <a:t>Applications</a:t>
            </a:r>
            <a:endParaRPr lang="en-US" altLang="zh-CN" sz="2200" b="1">
              <a:gradFill>
                <a:gsLst>
                  <a:gs pos="0">
                    <a:srgbClr val="14CD68"/>
                  </a:gs>
                  <a:gs pos="100000">
                    <a:srgbClr val="0B6E38"/>
                  </a:gs>
                </a:gsLst>
                <a:lin scaled="0"/>
              </a:gradFill>
            </a:endParaRPr>
          </a:p>
          <a:p>
            <a:pPr>
              <a:spcAft>
                <a:spcPct val="0"/>
              </a:spcAft>
            </a:pPr>
            <a:endParaRPr lang="en-US" altLang="zh-CN" sz="2200" b="1">
              <a:solidFill>
                <a:schemeClr val="bg1"/>
              </a:solidFill>
            </a:endParaRPr>
          </a:p>
          <a:p>
            <a:pPr>
              <a:spcAft>
                <a:spcPct val="0"/>
              </a:spcAft>
            </a:pPr>
            <a:r>
              <a:rPr lang="en-US" altLang="zh-CN">
                <a:solidFill>
                  <a:schemeClr val="bg1"/>
                </a:solidFill>
              </a:rPr>
              <a:t>Optimisation énergétique pour réduire la consommation.</a:t>
            </a:r>
            <a:endParaRPr lang="en-US" altLang="zh-CN">
              <a:solidFill>
                <a:schemeClr val="bg1"/>
              </a:solidFill>
            </a:endParaRPr>
          </a:p>
          <a:p>
            <a:pPr>
              <a:buFont typeface="Arial" panose="020B0604020202020204"/>
              <a:buChar char="•"/>
            </a:pPr>
            <a:r>
              <a:rPr lang="en-US" altLang="zh-CN">
                <a:solidFill>
                  <a:schemeClr val="bg1"/>
                </a:solidFill>
              </a:rPr>
              <a:t>Sécurité et surveillance (détection de mouvement, contrôle des accès).</a:t>
            </a:r>
            <a:endParaRPr lang="en-US" altLang="zh-CN">
              <a:solidFill>
                <a:schemeClr val="bg1"/>
              </a:solidFill>
            </a:endParaRPr>
          </a:p>
          <a:p>
            <a:pPr>
              <a:buFont typeface="Arial" panose="020B0604020202020204"/>
              <a:buChar char="•"/>
            </a:pPr>
            <a:r>
              <a:rPr lang="en-US" altLang="zh-CN">
                <a:solidFill>
                  <a:schemeClr val="bg1"/>
                </a:solidFill>
              </a:rPr>
              <a:t>Gestion intelligente du climat intérieur (ajustement automatique de température et d'humidité).</a:t>
            </a:r>
            <a:endParaRPr lang="en-US" altLang="zh-CN">
              <a:solidFill>
                <a:schemeClr val="bg1"/>
              </a:solidFill>
            </a:endParaRPr>
          </a:p>
          <a:p>
            <a:pPr>
              <a:buFont typeface="Arial" panose="020B0604020202020204"/>
              <a:buChar char="•"/>
            </a:pPr>
            <a:r>
              <a:rPr lang="en-US" altLang="zh-CN">
                <a:solidFill>
                  <a:schemeClr val="bg1"/>
                </a:solidFill>
              </a:rPr>
              <a:t>Amélioration de la qualité de l'air et prévention des incendies.</a:t>
            </a:r>
            <a:endParaRPr lang="en-US" altLang="zh-CN">
              <a:solidFill>
                <a:schemeClr val="bg1"/>
              </a:solidFill>
            </a:endParaRPr>
          </a:p>
          <a:p>
            <a:r>
              <a:rPr lang="en-US" altLang="zh-CN">
                <a:solidFill>
                  <a:schemeClr val="bg1"/>
                </a:solidFill>
              </a:rPr>
              <a:t>L’image met en avant une maison intelligente optimisée par l’IA et l’IoT, utilisant l’optimisation par essaim de particules (PSO) pour améliorer l’efficacité énergétique et la sécurité.</a:t>
            </a:r>
            <a:endParaRPr lang="en-US" altLang="zh-CN">
              <a:solidFill>
                <a:schemeClr val="bg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5" name="Text 0"/>
          <p:cNvSpPr/>
          <p:nvPr/>
        </p:nvSpPr>
        <p:spPr>
          <a:xfrm>
            <a:off x="6280190" y="1194554"/>
            <a:ext cx="7556421" cy="1417558"/>
          </a:xfrm>
          <a:prstGeom prst="rect">
            <a:avLst/>
          </a:prstGeom>
          <a:noFill/>
        </p:spPr>
        <p:txBody>
          <a:bodyPr wrap="square" lIns="0" tIns="0" rIns="0" bIns="0" rtlCol="0" anchor="t"/>
          <a:p>
            <a:pPr marL="0" indent="0">
              <a:lnSpc>
                <a:spcPts val="5550"/>
              </a:lnSpc>
              <a:buNone/>
            </a:pPr>
            <a:endParaRPr lang="en-US" sz="4450" dirty="0"/>
          </a:p>
        </p:txBody>
      </p:sp>
      <p:pic>
        <p:nvPicPr>
          <p:cNvPr id="6" name="Image 1" descr="preencoded.png"/>
          <p:cNvPicPr>
            <a:picLocks noChangeAspect="1"/>
          </p:cNvPicPr>
          <p:nvPr/>
        </p:nvPicPr>
        <p:blipFill>
          <a:blip r:embed="rId2"/>
          <a:stretch>
            <a:fillRect/>
          </a:stretch>
        </p:blipFill>
        <p:spPr>
          <a:xfrm>
            <a:off x="6280190" y="2952274"/>
            <a:ext cx="1134070" cy="1360884"/>
          </a:xfrm>
          <a:prstGeom prst="rect">
            <a:avLst/>
          </a:prstGeom>
        </p:spPr>
      </p:pic>
      <p:sp>
        <p:nvSpPr>
          <p:cNvPr id="7" name="Text 1"/>
          <p:cNvSpPr/>
          <p:nvPr/>
        </p:nvSpPr>
        <p:spPr>
          <a:xfrm>
            <a:off x="7754422" y="3179088"/>
            <a:ext cx="6082189" cy="725805"/>
          </a:xfrm>
          <a:prstGeom prst="rect">
            <a:avLst/>
          </a:prstGeom>
          <a:noFill/>
        </p:spPr>
        <p:txBody>
          <a:bodyPr wrap="square" lIns="0" tIns="0" rIns="0" bIns="0" rtlCol="0" anchor="t"/>
          <a:p>
            <a:pPr marL="0" indent="0" algn="l">
              <a:lnSpc>
                <a:spcPts val="2850"/>
              </a:lnSpc>
              <a:buNone/>
            </a:pPr>
            <a:r>
              <a:rPr lang="en-US" sz="1750" dirty="0">
                <a:solidFill>
                  <a:schemeClr val="bg1"/>
                </a:solidFill>
                <a:latin typeface="Source Sans Pro" pitchFamily="34" charset="0"/>
                <a:ea typeface="Source Sans Pro" pitchFamily="34" charset="-122"/>
                <a:cs typeface="Source Sans Pro" pitchFamily="34" charset="-120"/>
              </a:rPr>
              <a:t>Les capteurs de santé surveillent les signes vitaux des utilisateurs.</a:t>
            </a:r>
            <a:endParaRPr lang="en-US" sz="1750" dirty="0">
              <a:solidFill>
                <a:schemeClr val="bg1"/>
              </a:solidFill>
              <a:latin typeface="Source Sans Pro" pitchFamily="34" charset="0"/>
              <a:ea typeface="Source Sans Pro" pitchFamily="34" charset="-122"/>
              <a:cs typeface="Source Sans Pro" pitchFamily="34" charset="-120"/>
            </a:endParaRPr>
          </a:p>
        </p:txBody>
      </p:sp>
      <p:pic>
        <p:nvPicPr>
          <p:cNvPr id="8" name="Image 2" descr="preencoded.png"/>
          <p:cNvPicPr>
            <a:picLocks noChangeAspect="1"/>
          </p:cNvPicPr>
          <p:nvPr/>
        </p:nvPicPr>
        <p:blipFill>
          <a:blip r:embed="rId3"/>
          <a:stretch>
            <a:fillRect/>
          </a:stretch>
        </p:blipFill>
        <p:spPr>
          <a:xfrm>
            <a:off x="6280190" y="4313158"/>
            <a:ext cx="1134070" cy="1360884"/>
          </a:xfrm>
          <a:prstGeom prst="rect">
            <a:avLst/>
          </a:prstGeom>
        </p:spPr>
      </p:pic>
      <p:sp>
        <p:nvSpPr>
          <p:cNvPr id="9" name="Text 2"/>
          <p:cNvSpPr/>
          <p:nvPr/>
        </p:nvSpPr>
        <p:spPr>
          <a:xfrm>
            <a:off x="7754422" y="4539972"/>
            <a:ext cx="6082189" cy="725805"/>
          </a:xfrm>
          <a:prstGeom prst="rect">
            <a:avLst/>
          </a:prstGeom>
          <a:noFill/>
        </p:spPr>
        <p:txBody>
          <a:bodyPr wrap="square" lIns="0" tIns="0" rIns="0" bIns="0" rtlCol="0" anchor="t"/>
          <a:p>
            <a:pPr marL="0" indent="0" algn="l">
              <a:lnSpc>
                <a:spcPts val="2850"/>
              </a:lnSpc>
              <a:buNone/>
            </a:pPr>
            <a:r>
              <a:rPr lang="en-US" sz="1750" dirty="0">
                <a:solidFill>
                  <a:schemeClr val="bg1"/>
                </a:solidFill>
                <a:latin typeface="Source Sans Pro" pitchFamily="34" charset="0"/>
                <a:ea typeface="Source Sans Pro" pitchFamily="34" charset="-122"/>
                <a:cs typeface="Source Sans Pro" pitchFamily="34" charset="-120"/>
              </a:rPr>
              <a:t>Ils permettent de suivre les données de fréquence cardiaque, de sommeil et d'activité physique.</a:t>
            </a:r>
            <a:endParaRPr lang="en-US" sz="1750" dirty="0">
              <a:solidFill>
                <a:schemeClr val="bg1"/>
              </a:solidFill>
              <a:latin typeface="Source Sans Pro" pitchFamily="34" charset="0"/>
              <a:ea typeface="Source Sans Pro" pitchFamily="34" charset="-122"/>
              <a:cs typeface="Source Sans Pro" pitchFamily="34" charset="-120"/>
            </a:endParaRPr>
          </a:p>
        </p:txBody>
      </p:sp>
      <p:pic>
        <p:nvPicPr>
          <p:cNvPr id="10" name="Image 3" descr="preencoded.png"/>
          <p:cNvPicPr>
            <a:picLocks noChangeAspect="1"/>
          </p:cNvPicPr>
          <p:nvPr/>
        </p:nvPicPr>
        <p:blipFill>
          <a:blip r:embed="rId4"/>
          <a:stretch>
            <a:fillRect/>
          </a:stretch>
        </p:blipFill>
        <p:spPr>
          <a:xfrm>
            <a:off x="6280190" y="5674042"/>
            <a:ext cx="1134070" cy="1360884"/>
          </a:xfrm>
          <a:prstGeom prst="rect">
            <a:avLst/>
          </a:prstGeom>
        </p:spPr>
      </p:pic>
      <p:sp>
        <p:nvSpPr>
          <p:cNvPr id="11" name="Text 3"/>
          <p:cNvSpPr/>
          <p:nvPr/>
        </p:nvSpPr>
        <p:spPr>
          <a:xfrm>
            <a:off x="7754422" y="5900857"/>
            <a:ext cx="6082189" cy="725805"/>
          </a:xfrm>
          <a:prstGeom prst="rect">
            <a:avLst/>
          </a:prstGeom>
          <a:noFill/>
        </p:spPr>
        <p:txBody>
          <a:bodyPr wrap="square" lIns="0" tIns="0" rIns="0" bIns="0" rtlCol="0" anchor="t"/>
          <a:p>
            <a:pPr marL="0" indent="0" algn="l">
              <a:lnSpc>
                <a:spcPts val="2850"/>
              </a:lnSpc>
              <a:buNone/>
            </a:pPr>
            <a:r>
              <a:rPr lang="en-US" sz="1750" dirty="0">
                <a:solidFill>
                  <a:schemeClr val="bg1"/>
                </a:solidFill>
                <a:latin typeface="Source Sans Pro" pitchFamily="34" charset="0"/>
                <a:ea typeface="Source Sans Pro" pitchFamily="34" charset="-122"/>
                <a:cs typeface="Source Sans Pro" pitchFamily="34" charset="-120"/>
              </a:rPr>
              <a:t>Les données peuvent être partagées avec les médecins pour un suivi de la santé.</a:t>
            </a:r>
            <a:endParaRPr lang="en-US" sz="1750" dirty="0">
              <a:solidFill>
                <a:schemeClr val="bg1"/>
              </a:solidFill>
              <a:latin typeface="Source Sans Pro" pitchFamily="34" charset="0"/>
              <a:ea typeface="Source Sans Pro" pitchFamily="34" charset="-122"/>
              <a:cs typeface="Source Sans Pro" pitchFamily="34" charset="-120"/>
            </a:endParaRPr>
          </a:p>
        </p:txBody>
      </p:sp>
      <p:sp>
        <p:nvSpPr>
          <p:cNvPr id="14" name="Zone de texte 13"/>
          <p:cNvSpPr txBox="1"/>
          <p:nvPr/>
        </p:nvSpPr>
        <p:spPr>
          <a:xfrm>
            <a:off x="5847715" y="1040130"/>
            <a:ext cx="7315200" cy="1568450"/>
          </a:xfrm>
          <a:prstGeom prst="rect">
            <a:avLst/>
          </a:prstGeom>
          <a:noFill/>
        </p:spPr>
        <p:txBody>
          <a:bodyPr wrap="square" rtlCol="0" anchor="t">
            <a:spAutoFit/>
          </a:bodyPr>
          <a:p>
            <a:r>
              <a:rPr lang="en-US" altLang="fr-CA" sz="4800">
                <a:gradFill>
                  <a:gsLst>
                    <a:gs pos="0">
                      <a:srgbClr val="14CD68"/>
                    </a:gs>
                    <a:gs pos="100000">
                      <a:srgbClr val="0B6E38"/>
                    </a:gs>
                  </a:gsLst>
                  <a:lin scaled="0"/>
                </a:gradFill>
              </a:rPr>
              <a:t>capteur de sant</a:t>
            </a:r>
            <a:r>
              <a:rPr lang="en-US" altLang="en-US" sz="4800">
                <a:gradFill>
                  <a:gsLst>
                    <a:gs pos="0">
                      <a:srgbClr val="14CD68"/>
                    </a:gs>
                    <a:gs pos="100000">
                      <a:srgbClr val="0B6E38"/>
                    </a:gs>
                  </a:gsLst>
                  <a:lin scaled="0"/>
                </a:gradFill>
              </a:rPr>
              <a:t>é</a:t>
            </a:r>
            <a:r>
              <a:rPr lang="en-US" altLang="fr-CA" sz="4800">
                <a:gradFill>
                  <a:gsLst>
                    <a:gs pos="0">
                      <a:srgbClr val="14CD68"/>
                    </a:gs>
                    <a:gs pos="100000">
                      <a:srgbClr val="0B6E38"/>
                    </a:gs>
                  </a:gsLst>
                  <a:lin scaled="0"/>
                </a:gradFill>
              </a:rPr>
              <a:t> battement de coeur</a:t>
            </a:r>
            <a:endParaRPr lang="en-US" altLang="fr-CA" sz="4800">
              <a:gradFill>
                <a:gsLst>
                  <a:gs pos="0">
                    <a:srgbClr val="14CD68"/>
                  </a:gs>
                  <a:gs pos="100000">
                    <a:srgbClr val="0B6E38"/>
                  </a:gs>
                </a:gsLst>
                <a:lin scaled="0"/>
              </a:gra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Image 1" descr="14271"/>
          <p:cNvPicPr>
            <a:picLocks noChangeAspect="1"/>
          </p:cNvPicPr>
          <p:nvPr/>
        </p:nvPicPr>
        <p:blipFill>
          <a:blip r:embed="rId1"/>
          <a:stretch>
            <a:fillRect/>
          </a:stretch>
        </p:blipFill>
        <p:spPr>
          <a:xfrm>
            <a:off x="12700" y="635"/>
            <a:ext cx="7512685" cy="8228965"/>
          </a:xfrm>
          <a:prstGeom prst="rect">
            <a:avLst/>
          </a:prstGeom>
        </p:spPr>
      </p:pic>
      <p:sp>
        <p:nvSpPr>
          <p:cNvPr id="3" name="Zone de texte 2"/>
          <p:cNvSpPr txBox="1"/>
          <p:nvPr/>
        </p:nvSpPr>
        <p:spPr>
          <a:xfrm>
            <a:off x="7545705" y="-635"/>
            <a:ext cx="7084060" cy="8230235"/>
          </a:xfrm>
          <a:prstGeom prst="rect">
            <a:avLst/>
          </a:prstGeom>
        </p:spPr>
        <p:txBody>
          <a:bodyPr>
            <a:noAutofit/>
          </a:bodyPr>
          <a:p>
            <a:pPr>
              <a:spcAft>
                <a:spcPct val="0"/>
              </a:spcAft>
            </a:pPr>
            <a:r>
              <a:rPr lang="en-US" altLang="zh-CN" sz="3200" b="1">
                <a:solidFill>
                  <a:srgbClr val="FF0000"/>
                </a:solidFill>
              </a:rPr>
              <a:t>Technologie Utilisée</a:t>
            </a:r>
            <a:endParaRPr lang="en-US" altLang="zh-CN" sz="3200" b="1">
              <a:solidFill>
                <a:srgbClr val="FF0000"/>
              </a:solidFill>
            </a:endParaRPr>
          </a:p>
          <a:p>
            <a:pPr>
              <a:spcAft>
                <a:spcPct val="0"/>
              </a:spcAft>
            </a:pPr>
            <a:endParaRPr lang="en-US" altLang="zh-CN" sz="3200" b="1">
              <a:solidFill>
                <a:schemeClr val="bg1"/>
              </a:solidFill>
            </a:endParaRPr>
          </a:p>
          <a:p>
            <a:pPr>
              <a:buFont typeface="Arial" panose="020B0604020202020204"/>
              <a:buChar char="•"/>
            </a:pPr>
            <a:r>
              <a:rPr lang="en-US" altLang="zh-CN" sz="2400">
                <a:gradFill>
                  <a:gsLst>
                    <a:gs pos="0">
                      <a:srgbClr val="14CD68"/>
                    </a:gs>
                    <a:gs pos="100000">
                      <a:srgbClr val="0B6E38"/>
                    </a:gs>
                  </a:gsLst>
                  <a:lin scaled="0"/>
                </a:gradFill>
              </a:rPr>
              <a:t>Capteurs biométriques :</a:t>
            </a:r>
            <a:r>
              <a:rPr lang="en-US" altLang="zh-CN" sz="2400">
                <a:solidFill>
                  <a:schemeClr val="bg1"/>
                </a:solidFill>
              </a:rPr>
              <a:t> Surveillance de la fréquence cardiaque, de la température, du taux d’oxygène, etc.</a:t>
            </a:r>
            <a:endParaRPr lang="en-US" altLang="zh-CN" sz="2400">
              <a:solidFill>
                <a:schemeClr val="bg1"/>
              </a:solidFill>
            </a:endParaRPr>
          </a:p>
          <a:p>
            <a:pPr>
              <a:buFont typeface="Arial" panose="020B0604020202020204"/>
              <a:buChar char="•"/>
            </a:pPr>
            <a:r>
              <a:rPr lang="en-US" altLang="zh-CN" sz="2400">
                <a:solidFill>
                  <a:schemeClr val="bg1"/>
                </a:solidFill>
              </a:rPr>
              <a:t>Intelligence artificielle : Algorithmes de deep learning et machine learning pour analyser les données en temps réel.</a:t>
            </a:r>
            <a:endParaRPr lang="en-US" altLang="zh-CN" sz="2400">
              <a:solidFill>
                <a:schemeClr val="bg1"/>
              </a:solidFill>
            </a:endParaRPr>
          </a:p>
          <a:p>
            <a:pPr>
              <a:buFont typeface="Arial" panose="020B0604020202020204"/>
              <a:buChar char="•"/>
            </a:pPr>
            <a:r>
              <a:rPr lang="en-US" altLang="zh-CN" sz="2400">
                <a:gradFill>
                  <a:gsLst>
                    <a:gs pos="0">
                      <a:srgbClr val="14CD68"/>
                    </a:gs>
                    <a:gs pos="100000">
                      <a:srgbClr val="0B6E38"/>
                    </a:gs>
                  </a:gsLst>
                  <a:lin scaled="0"/>
                </a:gradFill>
              </a:rPr>
              <a:t>Internet des objets (IoT) :</a:t>
            </a:r>
            <a:r>
              <a:rPr lang="en-US" altLang="zh-CN" sz="2400">
                <a:solidFill>
                  <a:srgbClr val="FF0000"/>
                </a:solidFill>
              </a:rPr>
              <a:t> </a:t>
            </a:r>
            <a:r>
              <a:rPr lang="en-US" altLang="zh-CN" sz="2400">
                <a:solidFill>
                  <a:schemeClr val="bg1"/>
                </a:solidFill>
              </a:rPr>
              <a:t>Transmission des informations aux médecins ou aux proches en cas d’alerte.</a:t>
            </a:r>
            <a:endParaRPr lang="en-US" altLang="zh-CN" sz="2400">
              <a:solidFill>
                <a:schemeClr val="bg1"/>
              </a:solidFill>
            </a:endParaRPr>
          </a:p>
          <a:p>
            <a:pPr>
              <a:buFont typeface="Arial" panose="020B0604020202020204"/>
              <a:buChar char="•"/>
            </a:pPr>
            <a:endParaRPr lang="en-US" altLang="zh-CN" sz="2400">
              <a:solidFill>
                <a:schemeClr val="bg1"/>
              </a:solidFill>
            </a:endParaRPr>
          </a:p>
          <a:p>
            <a:pPr>
              <a:spcAft>
                <a:spcPct val="0"/>
              </a:spcAft>
            </a:pPr>
            <a:r>
              <a:rPr lang="en-US" altLang="zh-CN" sz="3200" b="1">
                <a:solidFill>
                  <a:srgbClr val="FF0000"/>
                </a:solidFill>
              </a:rPr>
              <a:t>Applications</a:t>
            </a:r>
            <a:endParaRPr lang="en-US" altLang="zh-CN" sz="3200" b="1">
              <a:solidFill>
                <a:srgbClr val="FF0000"/>
              </a:solidFill>
            </a:endParaRPr>
          </a:p>
          <a:p>
            <a:pPr>
              <a:spcAft>
                <a:spcPct val="0"/>
              </a:spcAft>
            </a:pPr>
            <a:endParaRPr lang="en-US" altLang="zh-CN" sz="3200" b="1">
              <a:solidFill>
                <a:schemeClr val="bg1"/>
              </a:solidFill>
            </a:endParaRPr>
          </a:p>
          <a:p>
            <a:pPr>
              <a:buAutoNum type="arabicPeriod"/>
            </a:pPr>
            <a:r>
              <a:rPr lang="en-US" altLang="zh-CN" sz="2400">
                <a:gradFill>
                  <a:gsLst>
                    <a:gs pos="0">
                      <a:srgbClr val="14CD68"/>
                    </a:gs>
                    <a:gs pos="100000">
                      <a:srgbClr val="0B6E38"/>
                    </a:gs>
                  </a:gsLst>
                  <a:lin scaled="0"/>
                </a:gradFill>
              </a:rPr>
              <a:t>Détection précoce des maladies :</a:t>
            </a:r>
            <a:r>
              <a:rPr lang="en-US" altLang="zh-CN" sz="2400">
                <a:solidFill>
                  <a:srgbClr val="FF0000"/>
                </a:solidFill>
              </a:rPr>
              <a:t> </a:t>
            </a:r>
            <a:r>
              <a:rPr lang="en-US" altLang="zh-CN" sz="2400">
                <a:solidFill>
                  <a:schemeClr val="bg1"/>
                </a:solidFill>
              </a:rPr>
              <a:t>Identification des symptômes anormaux avant qu’ils ne s’aggravent.</a:t>
            </a:r>
            <a:endParaRPr lang="en-US" altLang="zh-CN" sz="2400">
              <a:solidFill>
                <a:schemeClr val="bg1"/>
              </a:solidFill>
            </a:endParaRPr>
          </a:p>
          <a:p>
            <a:pPr>
              <a:buAutoNum type="arabicPeriod"/>
            </a:pPr>
            <a:r>
              <a:rPr lang="en-US" altLang="zh-CN" sz="2400">
                <a:gradFill>
                  <a:gsLst>
                    <a:gs pos="0">
                      <a:srgbClr val="14CD68"/>
                    </a:gs>
                    <a:gs pos="100000">
                      <a:srgbClr val="0B6E38"/>
                    </a:gs>
                  </a:gsLst>
                  <a:lin scaled="0"/>
                </a:gradFill>
              </a:rPr>
              <a:t>Suivi des patients âgés : </a:t>
            </a:r>
            <a:r>
              <a:rPr lang="en-US" altLang="zh-CN" sz="2400">
                <a:solidFill>
                  <a:schemeClr val="bg1"/>
                </a:solidFill>
              </a:rPr>
              <a:t>Surveillance continue pour éviter les risques de chute ou de complications médicales.</a:t>
            </a:r>
            <a:endParaRPr lang="en-US" altLang="zh-CN" sz="2400">
              <a:solidFill>
                <a:schemeClr val="bg1"/>
              </a:solidFill>
            </a:endParaRPr>
          </a:p>
          <a:p>
            <a:pPr>
              <a:buAutoNum type="arabicPeriod"/>
            </a:pPr>
            <a:r>
              <a:rPr lang="en-US" altLang="zh-CN" sz="2400">
                <a:gradFill>
                  <a:gsLst>
                    <a:gs pos="0">
                      <a:srgbClr val="14CD68"/>
                    </a:gs>
                    <a:gs pos="100000">
                      <a:srgbClr val="0B6E38"/>
                    </a:gs>
                  </a:gsLst>
                  <a:lin scaled="0"/>
                </a:gradFill>
              </a:rPr>
              <a:t>Alertes et notifications :</a:t>
            </a:r>
            <a:r>
              <a:rPr lang="en-US" altLang="zh-CN" sz="2400">
                <a:solidFill>
                  <a:schemeClr val="bg1"/>
                </a:solidFill>
              </a:rPr>
              <a:t> Envoi d’alertes aux soignants ou aux proches en cas d’urgence.</a:t>
            </a:r>
            <a:endParaRPr lang="en-US" altLang="zh-CN" sz="2400">
              <a:solidFill>
                <a:schemeClr val="bg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 0" descr="preencoded.png"/>
          <p:cNvPicPr>
            <a:picLocks noChangeAspect="1"/>
          </p:cNvPicPr>
          <p:nvPr/>
        </p:nvPicPr>
        <p:blipFill>
          <a:blip r:embed="rId1"/>
          <a:stretch>
            <a:fillRect/>
          </a:stretch>
        </p:blipFill>
        <p:spPr>
          <a:xfrm>
            <a:off x="9144000" y="0"/>
            <a:ext cx="5486400" cy="8229600"/>
          </a:xfrm>
          <a:prstGeom prst="rect">
            <a:avLst/>
          </a:prstGeom>
        </p:spPr>
      </p:pic>
      <p:pic>
        <p:nvPicPr>
          <p:cNvPr id="11" name="Image 1" descr="preencoded.png"/>
          <p:cNvPicPr>
            <a:picLocks noChangeAspect="1"/>
          </p:cNvPicPr>
          <p:nvPr/>
        </p:nvPicPr>
        <p:blipFill>
          <a:blip r:embed="rId2"/>
          <a:stretch>
            <a:fillRect/>
          </a:stretch>
        </p:blipFill>
        <p:spPr>
          <a:xfrm>
            <a:off x="793790" y="3862388"/>
            <a:ext cx="566976" cy="566976"/>
          </a:xfrm>
          <a:prstGeom prst="rect">
            <a:avLst/>
          </a:prstGeom>
        </p:spPr>
      </p:pic>
      <p:sp>
        <p:nvSpPr>
          <p:cNvPr id="12" name="Text 1"/>
          <p:cNvSpPr/>
          <p:nvPr/>
        </p:nvSpPr>
        <p:spPr>
          <a:xfrm>
            <a:off x="793790" y="4656177"/>
            <a:ext cx="2291953" cy="2177415"/>
          </a:xfrm>
          <a:prstGeom prst="rect">
            <a:avLst/>
          </a:prstGeom>
          <a:noFill/>
        </p:spPr>
        <p:txBody>
          <a:bodyPr wrap="square" lIns="0" tIns="0" rIns="0" bIns="0" rtlCol="0" anchor="t"/>
          <a:p>
            <a:pPr marL="0" indent="0" algn="l">
              <a:lnSpc>
                <a:spcPts val="2850"/>
              </a:lnSpc>
              <a:buNone/>
            </a:pPr>
            <a:r>
              <a:rPr lang="en-US" sz="1750" dirty="0">
                <a:solidFill>
                  <a:schemeClr val="bg1"/>
                </a:solidFill>
                <a:latin typeface="Source Sans Pro" pitchFamily="34" charset="0"/>
                <a:ea typeface="Source Sans Pro" pitchFamily="34" charset="-122"/>
                <a:cs typeface="Source Sans Pro" pitchFamily="34" charset="-120"/>
              </a:rPr>
              <a:t>Les capteurs de température surveillent la température ambiante et ajustent le chauffage ou la climatisation.</a:t>
            </a:r>
            <a:endParaRPr lang="en-US" sz="1750" dirty="0">
              <a:solidFill>
                <a:schemeClr val="bg1"/>
              </a:solidFill>
              <a:latin typeface="Source Sans Pro" pitchFamily="34" charset="0"/>
              <a:ea typeface="Source Sans Pro" pitchFamily="34" charset="-122"/>
              <a:cs typeface="Source Sans Pro" pitchFamily="34" charset="-120"/>
            </a:endParaRPr>
          </a:p>
        </p:txBody>
      </p:sp>
      <p:pic>
        <p:nvPicPr>
          <p:cNvPr id="13" name="Image 2" descr="preencoded.png"/>
          <p:cNvPicPr>
            <a:picLocks noChangeAspect="1"/>
          </p:cNvPicPr>
          <p:nvPr/>
        </p:nvPicPr>
        <p:blipFill>
          <a:blip r:embed="rId3"/>
          <a:stretch>
            <a:fillRect/>
          </a:stretch>
        </p:blipFill>
        <p:spPr>
          <a:xfrm>
            <a:off x="3425904" y="3862388"/>
            <a:ext cx="566976" cy="566976"/>
          </a:xfrm>
          <a:prstGeom prst="rect">
            <a:avLst/>
          </a:prstGeom>
        </p:spPr>
      </p:pic>
      <p:sp>
        <p:nvSpPr>
          <p:cNvPr id="14" name="Text 2"/>
          <p:cNvSpPr/>
          <p:nvPr/>
        </p:nvSpPr>
        <p:spPr>
          <a:xfrm>
            <a:off x="3425904" y="4656177"/>
            <a:ext cx="2292072" cy="1451610"/>
          </a:xfrm>
          <a:prstGeom prst="rect">
            <a:avLst/>
          </a:prstGeom>
          <a:noFill/>
        </p:spPr>
        <p:txBody>
          <a:bodyPr wrap="square" lIns="0" tIns="0" rIns="0" bIns="0" rtlCol="0" anchor="t"/>
          <a:p>
            <a:pPr marL="0" indent="0" algn="l">
              <a:lnSpc>
                <a:spcPts val="2850"/>
              </a:lnSpc>
              <a:buNone/>
            </a:pPr>
            <a:r>
              <a:rPr lang="en-US" sz="1750" dirty="0">
                <a:solidFill>
                  <a:schemeClr val="bg1"/>
                </a:solidFill>
                <a:latin typeface="Source Sans Pro" pitchFamily="34" charset="0"/>
                <a:ea typeface="Source Sans Pro" pitchFamily="34" charset="-122"/>
                <a:cs typeface="Source Sans Pro" pitchFamily="34" charset="-120"/>
              </a:rPr>
              <a:t>Les capteurs d'éclairage mesurent la luminosité et adaptent l'éclairage en fonction des besoins.</a:t>
            </a:r>
            <a:endParaRPr lang="en-US" sz="1750" dirty="0">
              <a:solidFill>
                <a:schemeClr val="bg1"/>
              </a:solidFill>
              <a:latin typeface="Source Sans Pro" pitchFamily="34" charset="0"/>
              <a:ea typeface="Source Sans Pro" pitchFamily="34" charset="-122"/>
              <a:cs typeface="Source Sans Pro" pitchFamily="34" charset="-120"/>
            </a:endParaRPr>
          </a:p>
        </p:txBody>
      </p:sp>
      <p:pic>
        <p:nvPicPr>
          <p:cNvPr id="15" name="Image 3" descr="preencoded.png"/>
          <p:cNvPicPr>
            <a:picLocks noChangeAspect="1"/>
          </p:cNvPicPr>
          <p:nvPr/>
        </p:nvPicPr>
        <p:blipFill>
          <a:blip r:embed="rId4"/>
          <a:stretch>
            <a:fillRect/>
          </a:stretch>
        </p:blipFill>
        <p:spPr>
          <a:xfrm>
            <a:off x="6058138" y="3862388"/>
            <a:ext cx="566976" cy="566976"/>
          </a:xfrm>
          <a:prstGeom prst="rect">
            <a:avLst/>
          </a:prstGeom>
        </p:spPr>
      </p:pic>
      <p:sp>
        <p:nvSpPr>
          <p:cNvPr id="16" name="Text 3"/>
          <p:cNvSpPr/>
          <p:nvPr/>
        </p:nvSpPr>
        <p:spPr>
          <a:xfrm>
            <a:off x="6058138" y="4656177"/>
            <a:ext cx="2291953" cy="1814513"/>
          </a:xfrm>
          <a:prstGeom prst="rect">
            <a:avLst/>
          </a:prstGeom>
          <a:noFill/>
        </p:spPr>
        <p:txBody>
          <a:bodyPr wrap="square" lIns="0" tIns="0" rIns="0" bIns="0" rtlCol="0" anchor="t"/>
          <a:p>
            <a:pPr marL="0" indent="0" algn="l">
              <a:lnSpc>
                <a:spcPts val="2850"/>
              </a:lnSpc>
              <a:buNone/>
            </a:pPr>
            <a:r>
              <a:rPr lang="en-US" sz="1750" dirty="0">
                <a:solidFill>
                  <a:schemeClr val="bg1"/>
                </a:solidFill>
                <a:latin typeface="Source Sans Pro" pitchFamily="34" charset="0"/>
                <a:ea typeface="Source Sans Pro" pitchFamily="34" charset="-122"/>
                <a:cs typeface="Source Sans Pro" pitchFamily="34" charset="-120"/>
              </a:rPr>
              <a:t>Les capteurs de présence détectent la présence de personnes et activent les lumières ou les appareils.</a:t>
            </a:r>
            <a:endParaRPr lang="en-US" sz="1750" dirty="0">
              <a:solidFill>
                <a:schemeClr val="bg1"/>
              </a:solidFill>
              <a:latin typeface="Source Sans Pro" pitchFamily="34" charset="0"/>
              <a:ea typeface="Source Sans Pro" pitchFamily="34" charset="-122"/>
              <a:cs typeface="Source Sans Pro" pitchFamily="34" charset="-120"/>
            </a:endParaRPr>
          </a:p>
        </p:txBody>
      </p:sp>
      <p:sp>
        <p:nvSpPr>
          <p:cNvPr id="18" name="Zone de texte 17"/>
          <p:cNvSpPr txBox="1"/>
          <p:nvPr/>
        </p:nvSpPr>
        <p:spPr>
          <a:xfrm>
            <a:off x="586105" y="962660"/>
            <a:ext cx="7315200" cy="3046095"/>
          </a:xfrm>
          <a:prstGeom prst="rect">
            <a:avLst/>
          </a:prstGeom>
          <a:noFill/>
        </p:spPr>
        <p:txBody>
          <a:bodyPr wrap="square" rtlCol="0" anchor="t">
            <a:spAutoFit/>
          </a:bodyPr>
          <a:p>
            <a:r>
              <a:rPr lang="en-US" altLang="fr-CA" sz="4800">
                <a:gradFill>
                  <a:gsLst>
                    <a:gs pos="0">
                      <a:srgbClr val="14CD68"/>
                    </a:gs>
                    <a:gs pos="100000">
                      <a:srgbClr val="0B6E38"/>
                    </a:gs>
                  </a:gsLst>
                  <a:lin scaled="0"/>
                </a:gradFill>
              </a:rPr>
              <a:t>Les capteurs de temp</a:t>
            </a:r>
            <a:r>
              <a:rPr lang="en-US" altLang="en-US" sz="4800">
                <a:gradFill>
                  <a:gsLst>
                    <a:gs pos="0">
                      <a:srgbClr val="14CD68"/>
                    </a:gs>
                    <a:gs pos="100000">
                      <a:srgbClr val="0B6E38"/>
                    </a:gs>
                  </a:gsLst>
                  <a:lin scaled="0"/>
                </a:gradFill>
              </a:rPr>
              <a:t>é</a:t>
            </a:r>
            <a:r>
              <a:rPr lang="en-US" altLang="fr-CA" sz="4800">
                <a:gradFill>
                  <a:gsLst>
                    <a:gs pos="0">
                      <a:srgbClr val="14CD68"/>
                    </a:gs>
                    <a:gs pos="100000">
                      <a:srgbClr val="0B6E38"/>
                    </a:gs>
                  </a:gsLst>
                  <a:lin scaled="0"/>
                </a:gradFill>
              </a:rPr>
              <a:t>rature et autres donn</a:t>
            </a:r>
            <a:r>
              <a:rPr lang="en-US" altLang="en-US" sz="4800">
                <a:gradFill>
                  <a:gsLst>
                    <a:gs pos="0">
                      <a:srgbClr val="14CD68"/>
                    </a:gs>
                    <a:gs pos="100000">
                      <a:srgbClr val="0B6E38"/>
                    </a:gs>
                  </a:gsLst>
                  <a:lin scaled="0"/>
                </a:gradFill>
              </a:rPr>
              <a:t>é</a:t>
            </a:r>
            <a:r>
              <a:rPr lang="en-US" altLang="fr-CA" sz="4800">
                <a:gradFill>
                  <a:gsLst>
                    <a:gs pos="0">
                      <a:srgbClr val="14CD68"/>
                    </a:gs>
                    <a:gs pos="100000">
                      <a:srgbClr val="0B6E38"/>
                    </a:gs>
                  </a:gsLst>
                  <a:lin scaled="0"/>
                </a:gradFill>
              </a:rPr>
              <a:t>es essentielles</a:t>
            </a:r>
            <a:endParaRPr lang="en-US" altLang="fr-CA" sz="4800">
              <a:gradFill>
                <a:gsLst>
                  <a:gs pos="0">
                    <a:srgbClr val="14CD68"/>
                  </a:gs>
                  <a:gs pos="100000">
                    <a:srgbClr val="0B6E38"/>
                  </a:gs>
                </a:gsLst>
                <a:lin scaled="0"/>
              </a:gradFill>
            </a:endParaRPr>
          </a:p>
          <a:p>
            <a:endParaRPr lang="en-US" altLang="fr-CA" sz="4800">
              <a:gradFill>
                <a:gsLst>
                  <a:gs pos="0">
                    <a:srgbClr val="14CD68"/>
                  </a:gs>
                  <a:gs pos="100000">
                    <a:srgbClr val="0B6E38"/>
                  </a:gs>
                </a:gsLst>
                <a:lin scaled="0"/>
              </a:gra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 10"/>
          <p:cNvPicPr>
            <a:picLocks noChangeAspect="1"/>
          </p:cNvPicPr>
          <p:nvPr/>
        </p:nvPicPr>
        <p:blipFill>
          <a:blip r:embed="rId1"/>
          <a:stretch>
            <a:fillRect/>
          </a:stretch>
        </p:blipFill>
        <p:spPr>
          <a:xfrm>
            <a:off x="514985" y="1147445"/>
            <a:ext cx="3524885" cy="2573655"/>
          </a:xfrm>
          <a:prstGeom prst="rect">
            <a:avLst/>
          </a:prstGeom>
        </p:spPr>
      </p:pic>
      <p:pic>
        <p:nvPicPr>
          <p:cNvPr id="12" name="Image 11"/>
          <p:cNvPicPr>
            <a:picLocks noChangeAspect="1"/>
          </p:cNvPicPr>
          <p:nvPr/>
        </p:nvPicPr>
        <p:blipFill>
          <a:blip r:embed="rId2"/>
          <a:stretch>
            <a:fillRect/>
          </a:stretch>
        </p:blipFill>
        <p:spPr>
          <a:xfrm>
            <a:off x="4585335" y="1146810"/>
            <a:ext cx="3858260" cy="2574290"/>
          </a:xfrm>
          <a:prstGeom prst="rect">
            <a:avLst/>
          </a:prstGeom>
        </p:spPr>
      </p:pic>
      <p:pic>
        <p:nvPicPr>
          <p:cNvPr id="13" name="Image 12"/>
          <p:cNvPicPr>
            <a:picLocks noChangeAspect="1"/>
          </p:cNvPicPr>
          <p:nvPr/>
        </p:nvPicPr>
        <p:blipFill>
          <a:blip r:embed="rId3"/>
          <a:stretch>
            <a:fillRect/>
          </a:stretch>
        </p:blipFill>
        <p:spPr>
          <a:xfrm>
            <a:off x="9472930" y="1016635"/>
            <a:ext cx="3281045" cy="2704465"/>
          </a:xfrm>
          <a:prstGeom prst="rect">
            <a:avLst/>
          </a:prstGeom>
        </p:spPr>
      </p:pic>
      <p:pic>
        <p:nvPicPr>
          <p:cNvPr id="14" name="Image 13"/>
          <p:cNvPicPr>
            <a:picLocks noChangeAspect="1"/>
          </p:cNvPicPr>
          <p:nvPr/>
        </p:nvPicPr>
        <p:blipFill>
          <a:blip r:embed="rId4"/>
          <a:stretch>
            <a:fillRect/>
          </a:stretch>
        </p:blipFill>
        <p:spPr>
          <a:xfrm>
            <a:off x="890270" y="4677410"/>
            <a:ext cx="2592070" cy="2592070"/>
          </a:xfrm>
          <a:prstGeom prst="rect">
            <a:avLst/>
          </a:prstGeom>
        </p:spPr>
      </p:pic>
      <p:sp>
        <p:nvSpPr>
          <p:cNvPr id="17" name="Zone de texte 16"/>
          <p:cNvSpPr txBox="1"/>
          <p:nvPr/>
        </p:nvSpPr>
        <p:spPr>
          <a:xfrm>
            <a:off x="1146810" y="3851275"/>
            <a:ext cx="2261235" cy="456565"/>
          </a:xfrm>
          <a:prstGeom prst="rect">
            <a:avLst/>
          </a:prstGeom>
          <a:noFill/>
        </p:spPr>
        <p:txBody>
          <a:bodyPr wrap="square" rtlCol="0" anchor="t">
            <a:spAutoFit/>
          </a:bodyPr>
          <a:p>
            <a:pPr marL="0" indent="0" algn="l">
              <a:lnSpc>
                <a:spcPts val="2850"/>
              </a:lnSpc>
              <a:buNone/>
            </a:pPr>
            <a:r>
              <a:rPr lang="fr-BE" altLang="en-US" sz="1750" dirty="0">
                <a:solidFill>
                  <a:schemeClr val="bg1"/>
                </a:solidFill>
                <a:latin typeface="Source Sans Pro" pitchFamily="34" charset="0"/>
                <a:ea typeface="Source Sans Pro" pitchFamily="34" charset="-122"/>
                <a:cs typeface="Source Sans Pro" pitchFamily="34" charset="-120"/>
                <a:sym typeface="+mn-ea"/>
              </a:rPr>
              <a:t>DHT 22</a:t>
            </a:r>
            <a:endParaRPr lang="fr-BE" altLang="en-US" sz="1750" dirty="0">
              <a:solidFill>
                <a:schemeClr val="bg1"/>
              </a:solidFill>
              <a:latin typeface="Source Sans Pro" pitchFamily="34" charset="0"/>
              <a:ea typeface="Source Sans Pro" pitchFamily="34" charset="-122"/>
              <a:cs typeface="Source Sans Pro" pitchFamily="34" charset="-120"/>
              <a:sym typeface="+mn-ea"/>
            </a:endParaRPr>
          </a:p>
        </p:txBody>
      </p:sp>
      <p:sp>
        <p:nvSpPr>
          <p:cNvPr id="18" name="Zone de texte 17"/>
          <p:cNvSpPr txBox="1"/>
          <p:nvPr/>
        </p:nvSpPr>
        <p:spPr>
          <a:xfrm>
            <a:off x="890270" y="7512050"/>
            <a:ext cx="2261235" cy="456565"/>
          </a:xfrm>
          <a:prstGeom prst="rect">
            <a:avLst/>
          </a:prstGeom>
          <a:noFill/>
        </p:spPr>
        <p:txBody>
          <a:bodyPr wrap="square" rtlCol="0" anchor="t">
            <a:spAutoFit/>
          </a:bodyPr>
          <a:p>
            <a:pPr marL="0" indent="0" algn="l">
              <a:lnSpc>
                <a:spcPts val="2850"/>
              </a:lnSpc>
              <a:buNone/>
            </a:pPr>
            <a:r>
              <a:rPr lang="fr-BE" altLang="en-US" sz="1750" dirty="0">
                <a:solidFill>
                  <a:schemeClr val="bg1"/>
                </a:solidFill>
                <a:latin typeface="Source Sans Pro" pitchFamily="34" charset="0"/>
                <a:ea typeface="Source Sans Pro" pitchFamily="34" charset="-122"/>
                <a:cs typeface="Source Sans Pro" pitchFamily="34" charset="-120"/>
                <a:sym typeface="+mn-ea"/>
              </a:rPr>
              <a:t>ESP 32</a:t>
            </a:r>
            <a:endParaRPr lang="fr-BE" altLang="en-US" sz="1750" dirty="0">
              <a:solidFill>
                <a:schemeClr val="bg1"/>
              </a:solidFill>
              <a:latin typeface="Source Sans Pro" pitchFamily="34" charset="0"/>
              <a:ea typeface="Source Sans Pro" pitchFamily="34" charset="-122"/>
              <a:cs typeface="Source Sans Pro" pitchFamily="34" charset="-120"/>
              <a:sym typeface="+mn-ea"/>
            </a:endParaRPr>
          </a:p>
        </p:txBody>
      </p:sp>
      <p:sp>
        <p:nvSpPr>
          <p:cNvPr id="19" name="Zone de texte 18"/>
          <p:cNvSpPr txBox="1"/>
          <p:nvPr/>
        </p:nvSpPr>
        <p:spPr>
          <a:xfrm>
            <a:off x="5071110" y="3851275"/>
            <a:ext cx="2261235" cy="456565"/>
          </a:xfrm>
          <a:prstGeom prst="rect">
            <a:avLst/>
          </a:prstGeom>
          <a:noFill/>
        </p:spPr>
        <p:txBody>
          <a:bodyPr wrap="square" rtlCol="0" anchor="t">
            <a:spAutoFit/>
          </a:bodyPr>
          <a:p>
            <a:pPr marL="0" indent="0" algn="l">
              <a:lnSpc>
                <a:spcPts val="2850"/>
              </a:lnSpc>
              <a:buNone/>
            </a:pPr>
            <a:r>
              <a:rPr lang="fr-BE" altLang="en-US" sz="1750" dirty="0">
                <a:solidFill>
                  <a:schemeClr val="bg1"/>
                </a:solidFill>
                <a:latin typeface="Source Sans Pro" pitchFamily="34" charset="0"/>
                <a:ea typeface="Source Sans Pro" pitchFamily="34" charset="-122"/>
                <a:cs typeface="Source Sans Pro" pitchFamily="34" charset="-120"/>
                <a:sym typeface="+mn-ea"/>
              </a:rPr>
              <a:t>MGR 5</a:t>
            </a:r>
            <a:endParaRPr lang="fr-BE" altLang="en-US" sz="1750" dirty="0">
              <a:solidFill>
                <a:schemeClr val="bg1"/>
              </a:solidFill>
              <a:latin typeface="Source Sans Pro" pitchFamily="34" charset="0"/>
              <a:ea typeface="Source Sans Pro" pitchFamily="34" charset="-122"/>
              <a:cs typeface="Source Sans Pro" pitchFamily="34" charset="-120"/>
              <a:sym typeface="+mn-ea"/>
            </a:endParaRPr>
          </a:p>
        </p:txBody>
      </p:sp>
      <p:sp>
        <p:nvSpPr>
          <p:cNvPr id="20" name="Zone de texte 19"/>
          <p:cNvSpPr txBox="1"/>
          <p:nvPr/>
        </p:nvSpPr>
        <p:spPr>
          <a:xfrm>
            <a:off x="9982835" y="3851275"/>
            <a:ext cx="2261235" cy="456565"/>
          </a:xfrm>
          <a:prstGeom prst="rect">
            <a:avLst/>
          </a:prstGeom>
          <a:noFill/>
        </p:spPr>
        <p:txBody>
          <a:bodyPr wrap="square" rtlCol="0" anchor="t">
            <a:spAutoFit/>
          </a:bodyPr>
          <a:p>
            <a:pPr marL="0" indent="0" algn="l">
              <a:lnSpc>
                <a:spcPts val="2850"/>
              </a:lnSpc>
              <a:buNone/>
            </a:pPr>
            <a:r>
              <a:rPr lang="en-US" altLang="fr-CA" sz="1750">
                <a:solidFill>
                  <a:schemeClr val="bg1"/>
                </a:solidFill>
                <a:sym typeface="+mn-ea"/>
              </a:rPr>
              <a:t>NRF24L</a:t>
            </a:r>
            <a:endParaRPr lang="en-US" altLang="fr-CA" sz="1750" dirty="0">
              <a:solidFill>
                <a:schemeClr val="bg1"/>
              </a:solidFill>
              <a:latin typeface="Source Sans Pro" pitchFamily="34" charset="0"/>
              <a:ea typeface="Source Sans Pro" pitchFamily="34" charset="-122"/>
              <a:cs typeface="Source Sans Pro" pitchFamily="34" charset="-120"/>
              <a:sym typeface="+mn-ea"/>
            </a:endParaRPr>
          </a:p>
        </p:txBody>
      </p:sp>
      <p:sp>
        <p:nvSpPr>
          <p:cNvPr id="2" name="Zone de texte 1"/>
          <p:cNvSpPr txBox="1"/>
          <p:nvPr/>
        </p:nvSpPr>
        <p:spPr>
          <a:xfrm>
            <a:off x="4902835" y="5595620"/>
            <a:ext cx="8104505" cy="349250"/>
          </a:xfrm>
          <a:prstGeom prst="rect">
            <a:avLst/>
          </a:prstGeom>
        </p:spPr>
        <p:txBody>
          <a:bodyPr>
            <a:noAutofit/>
          </a:bodyPr>
          <a:p>
            <a:r>
              <a:rPr lang="fr-BE" altLang="en-US" sz="2800" i="1">
                <a:gradFill>
                  <a:gsLst>
                    <a:gs pos="0">
                      <a:srgbClr val="14CD68"/>
                    </a:gs>
                    <a:gs pos="100000">
                      <a:srgbClr val="0B6E38"/>
                    </a:gs>
                  </a:gsLst>
                  <a:lin scaled="0"/>
                </a:gradFill>
              </a:rPr>
              <a:t>le degré de précision de ces capteur est envion de 95 pour cent </a:t>
            </a:r>
            <a:endParaRPr lang="fr-BE" altLang="en-US" sz="2800" i="1">
              <a:gradFill>
                <a:gsLst>
                  <a:gs pos="0">
                    <a:srgbClr val="14CD68"/>
                  </a:gs>
                  <a:gs pos="100000">
                    <a:srgbClr val="0B6E38"/>
                  </a:gs>
                </a:gsLst>
                <a:lin scaled="0"/>
              </a:gra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p:cNvPicPr/>
          <p:nvPr/>
        </p:nvPicPr>
        <p:blipFill>
          <a:blip r:embed="rId1"/>
          <a:stretch>
            <a:fillRect/>
          </a:stretch>
        </p:blipFill>
        <p:spPr>
          <a:xfrm>
            <a:off x="6679565" y="834390"/>
            <a:ext cx="7614285" cy="4530725"/>
          </a:xfrm>
          <a:prstGeom prst="rect">
            <a:avLst/>
          </a:prstGeom>
        </p:spPr>
      </p:pic>
      <p:pic>
        <p:nvPicPr>
          <p:cNvPr id="15" name="Image 14"/>
          <p:cNvPicPr/>
          <p:nvPr/>
        </p:nvPicPr>
        <p:blipFill>
          <a:blip r:embed="rId2"/>
          <a:stretch>
            <a:fillRect/>
          </a:stretch>
        </p:blipFill>
        <p:spPr>
          <a:xfrm>
            <a:off x="287655" y="1037590"/>
            <a:ext cx="6036945" cy="4124325"/>
          </a:xfrm>
          <a:prstGeom prst="rect">
            <a:avLst/>
          </a:prstGeom>
        </p:spPr>
      </p:pic>
      <p:sp>
        <p:nvSpPr>
          <p:cNvPr id="2" name="Zone de texte 1"/>
          <p:cNvSpPr txBox="1"/>
          <p:nvPr/>
        </p:nvSpPr>
        <p:spPr>
          <a:xfrm>
            <a:off x="683895" y="5365115"/>
            <a:ext cx="3188335" cy="583565"/>
          </a:xfrm>
          <a:prstGeom prst="rect">
            <a:avLst/>
          </a:prstGeom>
          <a:noFill/>
        </p:spPr>
        <p:txBody>
          <a:bodyPr wrap="square" rtlCol="0" anchor="t">
            <a:spAutoFit/>
          </a:bodyPr>
          <a:p>
            <a:pPr>
              <a:buNone/>
            </a:pPr>
            <a:r>
              <a:rPr lang="fr-BE" altLang="fr-CA" sz="3200">
                <a:solidFill>
                  <a:srgbClr val="C00000"/>
                </a:solidFill>
                <a:sym typeface="+mn-ea"/>
              </a:rPr>
              <a:t>carte rassepry pi </a:t>
            </a:r>
            <a:endParaRPr lang="fr-BE" altLang="fr-CA" sz="3200" dirty="0">
              <a:solidFill>
                <a:srgbClr val="C00000"/>
              </a:solidFill>
              <a:latin typeface="Source Sans Pro" pitchFamily="34" charset="0"/>
              <a:ea typeface="Source Sans Pro" pitchFamily="34" charset="-122"/>
              <a:cs typeface="Source Sans Pro" pitchFamily="34" charset="-120"/>
              <a:sym typeface="+mn-ea"/>
            </a:endParaRPr>
          </a:p>
        </p:txBody>
      </p:sp>
      <p:sp>
        <p:nvSpPr>
          <p:cNvPr id="3" name="Zone de texte 2"/>
          <p:cNvSpPr txBox="1"/>
          <p:nvPr/>
        </p:nvSpPr>
        <p:spPr>
          <a:xfrm>
            <a:off x="8609965" y="5567045"/>
            <a:ext cx="4005580" cy="583565"/>
          </a:xfrm>
          <a:prstGeom prst="rect">
            <a:avLst/>
          </a:prstGeom>
          <a:noFill/>
        </p:spPr>
        <p:txBody>
          <a:bodyPr wrap="square" rtlCol="0" anchor="t">
            <a:spAutoFit/>
          </a:bodyPr>
          <a:p>
            <a:pPr>
              <a:buNone/>
            </a:pPr>
            <a:r>
              <a:rPr lang="fr-BE" altLang="fr-CA" sz="3200">
                <a:solidFill>
                  <a:srgbClr val="C00000"/>
                </a:solidFill>
                <a:sym typeface="+mn-ea"/>
              </a:rPr>
              <a:t>carte jeetson nano </a:t>
            </a:r>
            <a:endParaRPr lang="fr-BE" altLang="fr-CA" sz="3200" dirty="0">
              <a:solidFill>
                <a:srgbClr val="C00000"/>
              </a:solidFill>
              <a:latin typeface="Source Sans Pro" pitchFamily="34" charset="0"/>
              <a:ea typeface="Source Sans Pro" pitchFamily="34" charset="-122"/>
              <a:cs typeface="Source Sans Pro" pitchFamily="34" charset="-120"/>
              <a:sym typeface="+mn-ea"/>
            </a:endParaRPr>
          </a:p>
        </p:txBody>
      </p:sp>
      <p:sp>
        <p:nvSpPr>
          <p:cNvPr id="4" name="Zone de texte 3"/>
          <p:cNvSpPr txBox="1"/>
          <p:nvPr/>
        </p:nvSpPr>
        <p:spPr>
          <a:xfrm>
            <a:off x="6962140" y="6168390"/>
            <a:ext cx="7668260" cy="1198880"/>
          </a:xfrm>
          <a:prstGeom prst="rect">
            <a:avLst/>
          </a:prstGeom>
          <a:noFill/>
        </p:spPr>
        <p:txBody>
          <a:bodyPr wrap="square" rtlCol="0" anchor="t">
            <a:spAutoFit/>
          </a:bodyPr>
          <a:p>
            <a:pPr>
              <a:buNone/>
            </a:pPr>
            <a:r>
              <a:rPr lang="fr-BE" altLang="fr-CA" sz="2400">
                <a:solidFill>
                  <a:schemeClr val="bg1"/>
                </a:solidFill>
                <a:sym typeface="+mn-ea"/>
              </a:rPr>
              <a:t>utilisation le controle de  gestion médical et santé  avec une précisionde 95 % elle peut amééliore  avec un bon data set jusqu’a 99.9 pour cent </a:t>
            </a:r>
            <a:endParaRPr lang="fr-BE" altLang="fr-CA" sz="2400" dirty="0">
              <a:solidFill>
                <a:schemeClr val="bg1"/>
              </a:solidFill>
              <a:latin typeface="Source Sans Pro" pitchFamily="34" charset="0"/>
              <a:ea typeface="Source Sans Pro" pitchFamily="34" charset="-122"/>
              <a:cs typeface="Source Sans Pro" pitchFamily="34" charset="-120"/>
              <a:sym typeface="+mn-ea"/>
            </a:endParaRPr>
          </a:p>
        </p:txBody>
      </p:sp>
      <p:sp>
        <p:nvSpPr>
          <p:cNvPr id="5" name="Zone de texte 4"/>
          <p:cNvSpPr txBox="1"/>
          <p:nvPr/>
        </p:nvSpPr>
        <p:spPr>
          <a:xfrm>
            <a:off x="384175" y="6022975"/>
            <a:ext cx="5710555" cy="1568450"/>
          </a:xfrm>
          <a:prstGeom prst="rect">
            <a:avLst/>
          </a:prstGeom>
          <a:noFill/>
        </p:spPr>
        <p:txBody>
          <a:bodyPr wrap="square" rtlCol="0" anchor="t">
            <a:spAutoFit/>
          </a:bodyPr>
          <a:p>
            <a:pPr>
              <a:buNone/>
            </a:pPr>
            <a:r>
              <a:rPr lang="fr-BE" altLang="fr-CA" sz="2400">
                <a:solidFill>
                  <a:schemeClr val="bg1"/>
                </a:solidFill>
                <a:sym typeface="+mn-ea"/>
              </a:rPr>
              <a:t>utilisation le controle de  gestion médical et santé  avec une précisionde 90 % elle peut amééliore  avec un bon data set jusqu’a 95 pour cent </a:t>
            </a:r>
            <a:endParaRPr lang="fr-BE" altLang="fr-CA" sz="2400" dirty="0">
              <a:solidFill>
                <a:schemeClr val="bg1"/>
              </a:solidFill>
              <a:latin typeface="Source Sans Pro" pitchFamily="34" charset="0"/>
              <a:ea typeface="Source Sans Pro" pitchFamily="34" charset="-122"/>
              <a:cs typeface="Source Sans Pro" pitchFamily="34" charset="-120"/>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custDataLst>
              <p:tags r:id="rId1"/>
            </p:custDataLst>
          </p:nvPr>
        </p:nvGraphicFramePr>
        <p:xfrm>
          <a:off x="151130" y="151765"/>
          <a:ext cx="8534400" cy="7851140"/>
        </p:xfrm>
        <a:graphic>
          <a:graphicData uri="http://schemas.openxmlformats.org/drawingml/2006/table">
            <a:tbl>
              <a:tblPr firstRow="1" bandRow="1">
                <a:tableStyleId>{5C22544A-7EE6-4342-B048-85BDC9FD1C3A}</a:tableStyleId>
              </a:tblPr>
              <a:tblGrid>
                <a:gridCol w="1706880"/>
                <a:gridCol w="1706880"/>
                <a:gridCol w="1706880"/>
                <a:gridCol w="1706880"/>
                <a:gridCol w="1706880"/>
              </a:tblGrid>
              <a:tr h="353060">
                <a:tc>
                  <a:txBody>
                    <a:bodyPr/>
                    <a:p>
                      <a:pPr>
                        <a:buNone/>
                      </a:pPr>
                      <a:r>
                        <a:rPr lang="en-US" altLang="fr-CA" sz="1400"/>
                        <a:t>Capteur</a:t>
                      </a:r>
                      <a:endParaRPr lang="en-US" altLang="fr-CA" sz="1400"/>
                    </a:p>
                  </a:txBody>
                  <a:tcPr/>
                </a:tc>
                <a:tc>
                  <a:txBody>
                    <a:bodyPr/>
                    <a:p>
                      <a:pPr>
                        <a:buNone/>
                      </a:pPr>
                      <a:r>
                        <a:rPr lang="en-US" altLang="fr-CA" sz="1400"/>
                        <a:t>Quantit</a:t>
                      </a:r>
                      <a:r>
                        <a:rPr lang="en-US" altLang="en-US" sz="1400"/>
                        <a:t>é</a:t>
                      </a:r>
                      <a:endParaRPr lang="en-US" altLang="en-US" sz="1400"/>
                    </a:p>
                  </a:txBody>
                  <a:tcPr/>
                </a:tc>
                <a:tc>
                  <a:txBody>
                    <a:bodyPr/>
                    <a:p>
                      <a:pPr>
                        <a:buNone/>
                      </a:pPr>
                      <a:r>
                        <a:rPr lang="fr-BE" altLang="fr-CA" sz="1400"/>
                        <a:t>model utilisé </a:t>
                      </a:r>
                      <a:endParaRPr lang="fr-BE" altLang="fr-CA" sz="1400"/>
                    </a:p>
                  </a:txBody>
                  <a:tcPr/>
                </a:tc>
                <a:tc>
                  <a:txBody>
                    <a:bodyPr/>
                    <a:p>
                      <a:pPr>
                        <a:buNone/>
                      </a:pPr>
                      <a:r>
                        <a:rPr lang="en-US" altLang="fr-CA" sz="1400"/>
                        <a:t>Prix unitaire</a:t>
                      </a:r>
                      <a:endParaRPr lang="en-US" altLang="fr-CA" sz="1400"/>
                    </a:p>
                  </a:txBody>
                  <a:tcPr/>
                </a:tc>
                <a:tc>
                  <a:txBody>
                    <a:bodyPr/>
                    <a:p>
                      <a:pPr>
                        <a:buNone/>
                      </a:pPr>
                      <a:r>
                        <a:rPr lang="en-US" altLang="fr-CA" sz="1400"/>
                        <a:t>Total (DZD)</a:t>
                      </a:r>
                      <a:endParaRPr lang="en-US" altLang="fr-CA" sz="1400"/>
                    </a:p>
                  </a:txBody>
                  <a:tcPr/>
                </a:tc>
              </a:tr>
              <a:tr h="822325">
                <a:tc>
                  <a:txBody>
                    <a:bodyPr/>
                    <a:p>
                      <a:pPr>
                        <a:buNone/>
                      </a:pPr>
                      <a:r>
                        <a:rPr lang="en-US" altLang="fr-CA" sz="1400"/>
                        <a:t>Capteur d'humidit</a:t>
                      </a:r>
                      <a:r>
                        <a:rPr lang="en-US" altLang="en-US" sz="1400"/>
                        <a:t>é</a:t>
                      </a:r>
                      <a:r>
                        <a:rPr lang="en-US" altLang="fr-CA" sz="1400"/>
                        <a:t> &amp; temp</a:t>
                      </a:r>
                      <a:r>
                        <a:rPr lang="en-US" altLang="en-US" sz="1400"/>
                        <a:t>é</a:t>
                      </a:r>
                      <a:r>
                        <a:rPr lang="en-US" altLang="fr-CA" sz="1400"/>
                        <a:t>rature</a:t>
                      </a:r>
                      <a:r>
                        <a:rPr lang="fr-BE" altLang="en-US" sz="1400"/>
                        <a:t> </a:t>
                      </a:r>
                      <a:endParaRPr lang="fr-BE" altLang="en-US" sz="1400"/>
                    </a:p>
                  </a:txBody>
                  <a:tcPr/>
                </a:tc>
                <a:tc>
                  <a:txBody>
                    <a:bodyPr/>
                    <a:p>
                      <a:pPr>
                        <a:buNone/>
                      </a:pPr>
                      <a:r>
                        <a:rPr lang="fr-BE" altLang="fr-CA" sz="1400"/>
                        <a:t>une par piéce </a:t>
                      </a:r>
                      <a:endParaRPr lang="fr-BE" altLang="fr-CA" sz="1400"/>
                    </a:p>
                  </a:txBody>
                  <a:tcPr/>
                </a:tc>
                <a:tc>
                  <a:txBody>
                    <a:bodyPr/>
                    <a:p>
                      <a:pPr>
                        <a:buNone/>
                      </a:pPr>
                      <a:r>
                        <a:rPr lang="en-US" altLang="fr-CA" sz="1400"/>
                        <a:t>DHT22</a:t>
                      </a:r>
                      <a:endParaRPr lang="en-US" altLang="fr-CA" sz="1400"/>
                    </a:p>
                  </a:txBody>
                  <a:tcPr/>
                </a:tc>
                <a:tc>
                  <a:txBody>
                    <a:bodyPr/>
                    <a:p>
                      <a:pPr>
                        <a:buNone/>
                      </a:pPr>
                      <a:r>
                        <a:rPr lang="fr-BE" altLang="fr-CA" sz="1400"/>
                        <a:t>1000 da</a:t>
                      </a:r>
                      <a:endParaRPr lang="fr-BE" altLang="fr-CA" sz="1400"/>
                    </a:p>
                  </a:txBody>
                  <a:tcPr/>
                </a:tc>
                <a:tc>
                  <a:txBody>
                    <a:bodyPr/>
                    <a:p>
                      <a:pPr>
                        <a:buNone/>
                      </a:pPr>
                      <a:r>
                        <a:rPr lang="fr-BE" altLang="fr-CA" sz="1400"/>
                        <a:t>4000 da</a:t>
                      </a:r>
                      <a:endParaRPr lang="fr-BE" altLang="fr-CA" sz="1400"/>
                    </a:p>
                  </a:txBody>
                  <a:tcPr/>
                </a:tc>
              </a:tr>
              <a:tr h="617855">
                <a:tc>
                  <a:txBody>
                    <a:bodyPr/>
                    <a:p>
                      <a:pPr>
                        <a:buNone/>
                      </a:pPr>
                      <a:r>
                        <a:rPr lang="fr-BE" altLang="en-US" sz="1400"/>
                        <a:t>detecteur de gaz toxique </a:t>
                      </a:r>
                      <a:endParaRPr lang="fr-BE" altLang="en-US" sz="1400"/>
                    </a:p>
                  </a:txBody>
                  <a:tcPr/>
                </a:tc>
                <a:tc>
                  <a:txBody>
                    <a:bodyPr/>
                    <a:p>
                      <a:pPr>
                        <a:buNone/>
                      </a:pPr>
                      <a:r>
                        <a:rPr lang="fr-BE" altLang="fr-CA" sz="1400">
                          <a:sym typeface="+mn-ea"/>
                        </a:rPr>
                        <a:t>une par piéce </a:t>
                      </a:r>
                      <a:endParaRPr lang="fr-BE" altLang="fr-CA" sz="1400"/>
                    </a:p>
                    <a:p>
                      <a:pPr>
                        <a:buNone/>
                      </a:pPr>
                      <a:endParaRPr lang="fr-BE" altLang="fr-CA" sz="1400"/>
                    </a:p>
                  </a:txBody>
                  <a:tcPr/>
                </a:tc>
                <a:tc>
                  <a:txBody>
                    <a:bodyPr/>
                    <a:p>
                      <a:pPr>
                        <a:buNone/>
                      </a:pPr>
                      <a:r>
                        <a:rPr lang="en-US" altLang="fr-CA" sz="1400"/>
                        <a:t>MQ5</a:t>
                      </a:r>
                      <a:endParaRPr lang="en-US" altLang="fr-CA" sz="1400"/>
                    </a:p>
                  </a:txBody>
                  <a:tcPr/>
                </a:tc>
                <a:tc>
                  <a:txBody>
                    <a:bodyPr/>
                    <a:p>
                      <a:pPr>
                        <a:buNone/>
                      </a:pPr>
                      <a:r>
                        <a:rPr lang="fr-BE" altLang="fr-CA" sz="1400"/>
                        <a:t>600 da </a:t>
                      </a:r>
                      <a:endParaRPr lang="fr-BE" altLang="fr-CA" sz="1400"/>
                    </a:p>
                  </a:txBody>
                  <a:tcPr/>
                </a:tc>
                <a:tc>
                  <a:txBody>
                    <a:bodyPr/>
                    <a:p>
                      <a:pPr>
                        <a:buNone/>
                      </a:pPr>
                      <a:r>
                        <a:rPr lang="fr-BE" altLang="fr-CA" sz="1400"/>
                        <a:t>2400 da </a:t>
                      </a:r>
                      <a:endParaRPr lang="fr-BE" altLang="fr-CA" sz="1400"/>
                    </a:p>
                  </a:txBody>
                  <a:tcPr/>
                </a:tc>
              </a:tr>
              <a:tr h="618490">
                <a:tc>
                  <a:txBody>
                    <a:bodyPr/>
                    <a:p>
                      <a:pPr>
                        <a:buNone/>
                      </a:pPr>
                      <a:r>
                        <a:rPr lang="en-US" altLang="fr-CA" sz="1400"/>
                        <a:t>Capteur de mouvement</a:t>
                      </a:r>
                      <a:endParaRPr lang="en-US" altLang="fr-CA" sz="1400"/>
                    </a:p>
                  </a:txBody>
                  <a:tcPr/>
                </a:tc>
                <a:tc>
                  <a:txBody>
                    <a:bodyPr/>
                    <a:p>
                      <a:pPr>
                        <a:buNone/>
                      </a:pPr>
                      <a:r>
                        <a:rPr lang="fr-BE" altLang="fr-CA" sz="1400">
                          <a:sym typeface="+mn-ea"/>
                        </a:rPr>
                        <a:t>une par piéce </a:t>
                      </a:r>
                      <a:endParaRPr lang="fr-BE" altLang="fr-CA" sz="1400"/>
                    </a:p>
                    <a:p>
                      <a:pPr>
                        <a:buNone/>
                      </a:pPr>
                      <a:endParaRPr lang="fr-BE" altLang="fr-CA" sz="1400"/>
                    </a:p>
                  </a:txBody>
                  <a:tcPr/>
                </a:tc>
                <a:tc>
                  <a:txBody>
                    <a:bodyPr/>
                    <a:p>
                      <a:pPr>
                        <a:buNone/>
                      </a:pPr>
                      <a:r>
                        <a:rPr lang="en-US" altLang="fr-CA" sz="1400"/>
                        <a:t>NRF24L</a:t>
                      </a:r>
                      <a:endParaRPr lang="en-US" altLang="fr-CA" sz="1400"/>
                    </a:p>
                  </a:txBody>
                  <a:tcPr/>
                </a:tc>
                <a:tc>
                  <a:txBody>
                    <a:bodyPr/>
                    <a:p>
                      <a:pPr>
                        <a:buNone/>
                      </a:pPr>
                      <a:r>
                        <a:rPr lang="fr-BE" altLang="fr-CA" sz="1400"/>
                        <a:t>500 da</a:t>
                      </a:r>
                      <a:endParaRPr lang="fr-BE" altLang="fr-CA" sz="1400"/>
                    </a:p>
                  </a:txBody>
                  <a:tcPr/>
                </a:tc>
                <a:tc>
                  <a:txBody>
                    <a:bodyPr/>
                    <a:p>
                      <a:pPr>
                        <a:buNone/>
                      </a:pPr>
                      <a:r>
                        <a:rPr lang="fr-BE" altLang="fr-CA" sz="1400"/>
                        <a:t>2000da</a:t>
                      </a:r>
                      <a:endParaRPr lang="fr-BE" altLang="fr-CA" sz="1400"/>
                    </a:p>
                  </a:txBody>
                  <a:tcPr/>
                </a:tc>
              </a:tr>
              <a:tr h="821690">
                <a:tc>
                  <a:txBody>
                    <a:bodyPr/>
                    <a:p>
                      <a:r>
                        <a:rPr lang="en-US" altLang="zh-CN" sz="1400"/>
                        <a:t>Capteur de chute</a:t>
                      </a:r>
                      <a:endParaRPr lang="en-US" altLang="zh-CN" sz="1400"/>
                    </a:p>
                  </a:txBody>
                  <a:tcPr marL="0" marR="0" marT="0" marB="0" anchor="ctr" anchorCtr="0"/>
                </a:tc>
                <a:tc>
                  <a:txBody>
                    <a:bodyPr/>
                    <a:p>
                      <a:pPr>
                        <a:buNone/>
                      </a:pPr>
                      <a:r>
                        <a:rPr lang="fr-BE" altLang="fr-CA" sz="1400">
                          <a:sym typeface="+mn-ea"/>
                        </a:rPr>
                        <a:t>un par utlisateur </a:t>
                      </a:r>
                      <a:endParaRPr lang="fr-BE" altLang="fr-CA" sz="1400"/>
                    </a:p>
                    <a:p>
                      <a:pPr>
                        <a:buNone/>
                      </a:pPr>
                      <a:endParaRPr lang="fr-BE" altLang="fr-CA" sz="1400"/>
                    </a:p>
                  </a:txBody>
                  <a:tcPr/>
                </a:tc>
                <a:tc>
                  <a:txBody>
                    <a:bodyPr/>
                    <a:p>
                      <a:pPr>
                        <a:buNone/>
                      </a:pPr>
                      <a:r>
                        <a:rPr lang="en-US" altLang="fr-CA" sz="1400"/>
                        <a:t>L3G4200D GYROSCOPE 3 AXES</a:t>
                      </a:r>
                      <a:endParaRPr lang="en-US" altLang="fr-CA" sz="1400"/>
                    </a:p>
                  </a:txBody>
                  <a:tcPr/>
                </a:tc>
                <a:tc>
                  <a:txBody>
                    <a:bodyPr/>
                    <a:p>
                      <a:pPr>
                        <a:buNone/>
                      </a:pPr>
                      <a:r>
                        <a:rPr lang="fr-BE" altLang="fr-CA" sz="1400"/>
                        <a:t>900 da</a:t>
                      </a:r>
                      <a:endParaRPr lang="fr-BE" altLang="fr-CA" sz="1400"/>
                    </a:p>
                  </a:txBody>
                  <a:tcPr/>
                </a:tc>
                <a:tc>
                  <a:txBody>
                    <a:bodyPr/>
                    <a:p>
                      <a:pPr>
                        <a:buNone/>
                      </a:pPr>
                      <a:r>
                        <a:rPr lang="fr-BE" altLang="fr-CA" sz="1400"/>
                        <a:t>4500 da pour 5 utilisateur </a:t>
                      </a:r>
                      <a:endParaRPr lang="fr-BE" altLang="fr-CA" sz="1400"/>
                    </a:p>
                  </a:txBody>
                  <a:tcPr/>
                </a:tc>
              </a:tr>
              <a:tr h="618490">
                <a:tc>
                  <a:txBody>
                    <a:bodyPr/>
                    <a:p>
                      <a:r>
                        <a:rPr lang="en-US" altLang="zh-CN" sz="1400"/>
                        <a:t>Caméra de surveillance</a:t>
                      </a:r>
                      <a:endParaRPr lang="en-US" altLang="zh-CN" sz="1400"/>
                    </a:p>
                  </a:txBody>
                  <a:tcPr marL="0" marR="0" marT="0" marB="0" anchor="ctr" anchorCtr="0"/>
                </a:tc>
                <a:tc>
                  <a:txBody>
                    <a:bodyPr/>
                    <a:p>
                      <a:pPr>
                        <a:buNone/>
                      </a:pPr>
                      <a:r>
                        <a:rPr lang="fr-BE" altLang="fr-CA" sz="1400">
                          <a:sym typeface="+mn-ea"/>
                        </a:rPr>
                        <a:t>une par piéce </a:t>
                      </a:r>
                      <a:endParaRPr lang="fr-BE" altLang="fr-CA" sz="1400"/>
                    </a:p>
                    <a:p>
                      <a:pPr>
                        <a:buNone/>
                      </a:pPr>
                      <a:endParaRPr lang="fr-BE" altLang="fr-CA" sz="1400"/>
                    </a:p>
                  </a:txBody>
                  <a:tcPr/>
                </a:tc>
                <a:tc>
                  <a:txBody>
                    <a:bodyPr/>
                    <a:p>
                      <a:pPr>
                        <a:buNone/>
                      </a:pPr>
                      <a:r>
                        <a:rPr lang="en-US" altLang="fr-CA" sz="1400"/>
                        <a:t>OV7670 Camera VGA</a:t>
                      </a:r>
                      <a:endParaRPr lang="en-US" altLang="fr-CA" sz="1400"/>
                    </a:p>
                  </a:txBody>
                  <a:tcPr/>
                </a:tc>
                <a:tc>
                  <a:txBody>
                    <a:bodyPr/>
                    <a:p>
                      <a:pPr>
                        <a:buNone/>
                      </a:pPr>
                      <a:r>
                        <a:rPr lang="fr-BE" altLang="fr-CA" sz="1400"/>
                        <a:t>700 da </a:t>
                      </a:r>
                      <a:endParaRPr lang="fr-BE" altLang="fr-CA" sz="1400"/>
                    </a:p>
                  </a:txBody>
                  <a:tcPr/>
                </a:tc>
                <a:tc>
                  <a:txBody>
                    <a:bodyPr/>
                    <a:p>
                      <a:pPr>
                        <a:buNone/>
                      </a:pPr>
                      <a:r>
                        <a:rPr lang="fr-BE" altLang="fr-CA" sz="1400"/>
                        <a:t>2800 da </a:t>
                      </a:r>
                      <a:endParaRPr lang="fr-BE" altLang="fr-CA" sz="1400"/>
                    </a:p>
                  </a:txBody>
                  <a:tcPr/>
                </a:tc>
              </a:tr>
              <a:tr h="821690">
                <a:tc>
                  <a:txBody>
                    <a:bodyPr/>
                    <a:p>
                      <a:r>
                        <a:rPr lang="en-US" altLang="zh-CN" sz="1400"/>
                        <a:t>Capteur de géolocalisation</a:t>
                      </a:r>
                      <a:endParaRPr lang="en-US" altLang="zh-CN" sz="1400"/>
                    </a:p>
                  </a:txBody>
                  <a:tcPr marL="0" marR="0" marT="0" marB="0" anchor="ctr" anchorCtr="0"/>
                </a:tc>
                <a:tc>
                  <a:txBody>
                    <a:bodyPr/>
                    <a:p>
                      <a:pPr>
                        <a:buNone/>
                      </a:pPr>
                      <a:r>
                        <a:rPr lang="fr-BE" altLang="fr-CA" sz="1400">
                          <a:sym typeface="+mn-ea"/>
                        </a:rPr>
                        <a:t>une par appartement </a:t>
                      </a:r>
                      <a:endParaRPr lang="fr-BE" altLang="fr-CA" sz="1400"/>
                    </a:p>
                    <a:p>
                      <a:pPr>
                        <a:buNone/>
                      </a:pPr>
                      <a:endParaRPr lang="fr-BE" altLang="fr-CA" sz="1400"/>
                    </a:p>
                  </a:txBody>
                  <a:tcPr/>
                </a:tc>
                <a:tc>
                  <a:txBody>
                    <a:bodyPr/>
                    <a:p>
                      <a:pPr>
                        <a:buNone/>
                      </a:pPr>
                      <a:r>
                        <a:rPr lang="en-US" altLang="fr-CA" sz="1400"/>
                        <a:t>GPS NEO-6M Arduino</a:t>
                      </a:r>
                      <a:endParaRPr lang="en-US" altLang="fr-CA" sz="1400"/>
                    </a:p>
                  </a:txBody>
                  <a:tcPr/>
                </a:tc>
                <a:tc>
                  <a:txBody>
                    <a:bodyPr/>
                    <a:p>
                      <a:pPr>
                        <a:buNone/>
                      </a:pPr>
                      <a:r>
                        <a:rPr lang="fr-BE" altLang="fr-CA" sz="1400"/>
                        <a:t>2000 da </a:t>
                      </a:r>
                      <a:endParaRPr lang="fr-BE" altLang="fr-CA" sz="1400"/>
                    </a:p>
                  </a:txBody>
                  <a:tcPr/>
                </a:tc>
                <a:tc>
                  <a:txBody>
                    <a:bodyPr/>
                    <a:p>
                      <a:pPr>
                        <a:buNone/>
                      </a:pPr>
                      <a:r>
                        <a:rPr lang="fr-BE" altLang="fr-CA" sz="1400"/>
                        <a:t>10000da</a:t>
                      </a:r>
                      <a:endParaRPr lang="fr-BE" altLang="fr-CA" sz="1400"/>
                    </a:p>
                  </a:txBody>
                  <a:tcPr/>
                </a:tc>
              </a:tr>
              <a:tr h="822325">
                <a:tc>
                  <a:txBody>
                    <a:bodyPr/>
                    <a:p>
                      <a:r>
                        <a:rPr lang="en-US" altLang="zh-CN" sz="1400"/>
                        <a:t>Capteur de détection de son</a:t>
                      </a:r>
                      <a:endParaRPr lang="en-US" altLang="zh-CN" sz="1400"/>
                    </a:p>
                  </a:txBody>
                  <a:tcPr marL="0" marR="0" marT="0" marB="0" anchor="ctr" anchorCtr="0"/>
                </a:tc>
                <a:tc>
                  <a:txBody>
                    <a:bodyPr/>
                    <a:p>
                      <a:pPr>
                        <a:buNone/>
                      </a:pPr>
                      <a:r>
                        <a:rPr lang="fr-BE" altLang="fr-CA" sz="1400">
                          <a:sym typeface="+mn-ea"/>
                        </a:rPr>
                        <a:t>une par piéce </a:t>
                      </a:r>
                      <a:endParaRPr lang="fr-BE" altLang="fr-CA" sz="1400"/>
                    </a:p>
                    <a:p>
                      <a:pPr>
                        <a:buNone/>
                      </a:pPr>
                      <a:endParaRPr lang="fr-BE" altLang="fr-CA" sz="1400"/>
                    </a:p>
                  </a:txBody>
                  <a:tcPr/>
                </a:tc>
                <a:tc>
                  <a:txBody>
                    <a:bodyPr/>
                    <a:p>
                      <a:pPr>
                        <a:buNone/>
                      </a:pPr>
                      <a:r>
                        <a:rPr lang="en-US" altLang="fr-CA" sz="1400"/>
                        <a:t> Module Microphone KY-037 4</a:t>
                      </a:r>
                      <a:endParaRPr lang="en-US" altLang="fr-CA" sz="1400"/>
                    </a:p>
                  </a:txBody>
                  <a:tcPr/>
                </a:tc>
                <a:tc>
                  <a:txBody>
                    <a:bodyPr/>
                    <a:p>
                      <a:pPr>
                        <a:buNone/>
                      </a:pPr>
                      <a:r>
                        <a:rPr lang="fr-BE" altLang="fr-CA" sz="1400"/>
                        <a:t>700da </a:t>
                      </a:r>
                      <a:endParaRPr lang="fr-BE" altLang="fr-CA" sz="1400"/>
                    </a:p>
                  </a:txBody>
                  <a:tcPr/>
                </a:tc>
                <a:tc>
                  <a:txBody>
                    <a:bodyPr/>
                    <a:p>
                      <a:pPr>
                        <a:buNone/>
                      </a:pPr>
                      <a:r>
                        <a:rPr lang="fr-BE" altLang="fr-CA" sz="1400"/>
                        <a:t>3500da</a:t>
                      </a:r>
                      <a:endParaRPr lang="fr-BE" altLang="fr-CA" sz="1400"/>
                    </a:p>
                  </a:txBody>
                  <a:tcPr/>
                </a:tc>
              </a:tr>
              <a:tr h="822325">
                <a:tc>
                  <a:txBody>
                    <a:bodyPr/>
                    <a:p>
                      <a:pPr>
                        <a:buNone/>
                      </a:pPr>
                      <a:r>
                        <a:rPr lang="fr-BE" altLang="fr-CA" sz="1400"/>
                        <a:t>carte rassepry pi </a:t>
                      </a:r>
                      <a:endParaRPr lang="fr-BE" altLang="fr-CA" sz="1400"/>
                    </a:p>
                  </a:txBody>
                  <a:tcPr/>
                </a:tc>
                <a:tc>
                  <a:txBody>
                    <a:bodyPr/>
                    <a:p>
                      <a:pPr>
                        <a:buNone/>
                      </a:pPr>
                      <a:r>
                        <a:rPr lang="fr-BE" altLang="fr-CA" sz="1400"/>
                        <a:t> une carte pour chaque appartement </a:t>
                      </a:r>
                      <a:endParaRPr lang="fr-BE" altLang="fr-CA" sz="1400"/>
                    </a:p>
                  </a:txBody>
                  <a:tcPr/>
                </a:tc>
                <a:tc>
                  <a:txBody>
                    <a:bodyPr/>
                    <a:p>
                      <a:pPr>
                        <a:buNone/>
                      </a:pPr>
                      <a:r>
                        <a:rPr lang="en-US" altLang="fr-CA" sz="1400"/>
                        <a:t>Kit Raspberry pi 4 Modele</a:t>
                      </a:r>
                      <a:r>
                        <a:rPr lang="fr-BE" altLang="en-US" sz="1400"/>
                        <a:t> </a:t>
                      </a:r>
                      <a:r>
                        <a:rPr lang="en-US" altLang="fr-CA" sz="1400"/>
                        <a:t>8go</a:t>
                      </a:r>
                      <a:endParaRPr lang="en-US" altLang="fr-CA" sz="1400"/>
                    </a:p>
                  </a:txBody>
                  <a:tcPr/>
                </a:tc>
                <a:tc>
                  <a:txBody>
                    <a:bodyPr/>
                    <a:p>
                      <a:pPr>
                        <a:buNone/>
                      </a:pPr>
                      <a:r>
                        <a:rPr lang="fr-BE" altLang="fr-CA" sz="1400"/>
                        <a:t>30000.00da</a:t>
                      </a:r>
                      <a:endParaRPr lang="fr-BE" altLang="fr-CA" sz="1400"/>
                    </a:p>
                  </a:txBody>
                  <a:tcPr/>
                </a:tc>
                <a:tc>
                  <a:txBody>
                    <a:bodyPr/>
                    <a:p>
                      <a:pPr>
                        <a:buNone/>
                      </a:pPr>
                      <a:r>
                        <a:rPr lang="fr-BE" altLang="fr-CA" sz="1400"/>
                        <a:t>150000 da</a:t>
                      </a:r>
                      <a:endParaRPr lang="fr-BE" altLang="fr-CA" sz="1400"/>
                    </a:p>
                  </a:txBody>
                  <a:tcPr/>
                </a:tc>
              </a:tr>
              <a:tr h="882650">
                <a:tc>
                  <a:txBody>
                    <a:bodyPr/>
                    <a:p>
                      <a:pPr>
                        <a:buNone/>
                      </a:pPr>
                      <a:r>
                        <a:rPr lang="fr-BE" altLang="fr-CA" sz="1400"/>
                        <a:t>carte jetson nano</a:t>
                      </a:r>
                      <a:endParaRPr lang="fr-BE" altLang="fr-CA" sz="1400"/>
                    </a:p>
                  </a:txBody>
                  <a:tcPr/>
                </a:tc>
                <a:tc>
                  <a:txBody>
                    <a:bodyPr/>
                    <a:p>
                      <a:pPr>
                        <a:buNone/>
                      </a:pPr>
                      <a:r>
                        <a:rPr lang="fr-BE" altLang="fr-CA" sz="1400"/>
                        <a:t>une carte de jetson nano pour 5 appartement </a:t>
                      </a:r>
                      <a:endParaRPr lang="fr-BE" altLang="fr-CA" sz="1400"/>
                    </a:p>
                  </a:txBody>
                  <a:tcPr/>
                </a:tc>
                <a:tc>
                  <a:txBody>
                    <a:bodyPr/>
                    <a:p>
                      <a:pPr>
                        <a:buNone/>
                      </a:pPr>
                      <a:r>
                        <a:rPr lang="en-US" altLang="fr-CA" sz="1400"/>
                        <a:t>NVIDIA Jetson Nano 4GB KIT DE DEVELOPPEMENT</a:t>
                      </a:r>
                      <a:endParaRPr lang="en-US" altLang="fr-CA" sz="1400"/>
                    </a:p>
                  </a:txBody>
                  <a:tcPr/>
                </a:tc>
                <a:tc>
                  <a:txBody>
                    <a:bodyPr/>
                    <a:p>
                      <a:pPr>
                        <a:buNone/>
                      </a:pPr>
                      <a:r>
                        <a:rPr lang="fr-BE" altLang="fr-CA" sz="1400"/>
                        <a:t>66000.00 da</a:t>
                      </a:r>
                      <a:endParaRPr lang="fr-BE" altLang="fr-CA" sz="1400"/>
                    </a:p>
                  </a:txBody>
                  <a:tcPr/>
                </a:tc>
                <a:tc>
                  <a:txBody>
                    <a:bodyPr/>
                    <a:p>
                      <a:pPr>
                        <a:buNone/>
                      </a:pPr>
                      <a:r>
                        <a:rPr lang="fr-BE" altLang="fr-CA" sz="1400"/>
                        <a:t>66000 da</a:t>
                      </a:r>
                      <a:endParaRPr lang="fr-BE" altLang="fr-CA" sz="1400"/>
                    </a:p>
                  </a:txBody>
                  <a:tcPr/>
                </a:tc>
              </a:tr>
              <a:tr h="650240">
                <a:tc>
                  <a:txBody>
                    <a:bodyPr/>
                    <a:p>
                      <a:pPr>
                        <a:buNone/>
                      </a:pPr>
                      <a:r>
                        <a:rPr lang="fr-BE" altLang="fr-CA" sz="1400"/>
                        <a:t>total </a:t>
                      </a:r>
                      <a:endParaRPr lang="fr-BE" altLang="fr-CA" sz="1400"/>
                    </a:p>
                  </a:txBody>
                  <a:tcPr/>
                </a:tc>
                <a:tc>
                  <a:txBody>
                    <a:bodyPr/>
                    <a:p>
                      <a:pPr>
                        <a:buNone/>
                      </a:pPr>
                      <a:r>
                        <a:rPr lang="fr-BE" altLang="fr-CA" sz="1400"/>
                        <a:t>/</a:t>
                      </a:r>
                      <a:endParaRPr lang="fr-BE" altLang="fr-CA" sz="1400"/>
                    </a:p>
                  </a:txBody>
                  <a:tcPr/>
                </a:tc>
                <a:tc>
                  <a:txBody>
                    <a:bodyPr/>
                    <a:p>
                      <a:pPr>
                        <a:buNone/>
                      </a:pPr>
                      <a:r>
                        <a:rPr lang="fr-BE" altLang="fr-CA" sz="1400"/>
                        <a:t>/</a:t>
                      </a:r>
                      <a:endParaRPr lang="fr-BE" altLang="fr-CA" sz="1400"/>
                    </a:p>
                  </a:txBody>
                  <a:tcPr/>
                </a:tc>
                <a:tc>
                  <a:txBody>
                    <a:bodyPr/>
                    <a:p>
                      <a:pPr>
                        <a:buNone/>
                      </a:pPr>
                      <a:r>
                        <a:rPr lang="fr-BE" altLang="fr-CA" sz="1400"/>
                        <a:t>/</a:t>
                      </a:r>
                      <a:endParaRPr lang="fr-BE" altLang="fr-CA" sz="1400"/>
                    </a:p>
                  </a:txBody>
                  <a:tcPr/>
                </a:tc>
                <a:tc>
                  <a:txBody>
                    <a:bodyPr/>
                    <a:p>
                      <a:pPr>
                        <a:buNone/>
                      </a:pPr>
                      <a:r>
                        <a:rPr lang="en-US" altLang="fr-CA" sz="1400"/>
                        <a:t>245 200 DZD. ​</a:t>
                      </a:r>
                      <a:endParaRPr lang="en-US" altLang="fr-CA" sz="1400"/>
                    </a:p>
                  </a:txBody>
                  <a:tcPr/>
                </a:tc>
              </a:tr>
            </a:tbl>
          </a:graphicData>
        </a:graphic>
      </p:graphicFrame>
      <p:sp>
        <p:nvSpPr>
          <p:cNvPr id="18" name="Zone de texte 17"/>
          <p:cNvSpPr txBox="1"/>
          <p:nvPr/>
        </p:nvSpPr>
        <p:spPr>
          <a:xfrm>
            <a:off x="8686165" y="1052830"/>
            <a:ext cx="5384165" cy="3107690"/>
          </a:xfrm>
          <a:prstGeom prst="rect">
            <a:avLst/>
          </a:prstGeom>
          <a:noFill/>
        </p:spPr>
        <p:txBody>
          <a:bodyPr wrap="square" rtlCol="0" anchor="t">
            <a:spAutoFit/>
          </a:bodyPr>
          <a:p>
            <a:r>
              <a:rPr lang="en-US" altLang="fr-CA" sz="2800">
                <a:solidFill>
                  <a:schemeClr val="bg1"/>
                </a:solidFill>
              </a:rPr>
              <a:t>Le</a:t>
            </a:r>
            <a:r>
              <a:rPr lang="fr-BE" altLang="en-US" sz="2800">
                <a:solidFill>
                  <a:schemeClr val="bg1"/>
                </a:solidFill>
              </a:rPr>
              <a:t> matériel pou un exemple de 5 logement  cout envion 245200 dzd pour  une duré de vie de matériel en moyenne de prés de 7 ans   avec une rentablibilité enrgitique de prés de 40 %</a:t>
            </a:r>
            <a:endParaRPr lang="en-US" altLang="fr-CA" sz="2800">
              <a:solidFill>
                <a:schemeClr val="bg1"/>
              </a:solidFill>
            </a:endParaRPr>
          </a:p>
          <a:p>
            <a:endParaRPr lang="en-US" altLang="fr-CA" sz="2800">
              <a:solidFill>
                <a:schemeClr val="bg1"/>
              </a:solidFill>
            </a:endParaRPr>
          </a:p>
        </p:txBody>
      </p:sp>
      <p:sp>
        <p:nvSpPr>
          <p:cNvPr id="3" name="Zone de texte 2"/>
          <p:cNvSpPr txBox="1"/>
          <p:nvPr/>
        </p:nvSpPr>
        <p:spPr>
          <a:xfrm>
            <a:off x="8813165" y="4525645"/>
            <a:ext cx="5384165" cy="1383665"/>
          </a:xfrm>
          <a:prstGeom prst="rect">
            <a:avLst/>
          </a:prstGeom>
          <a:noFill/>
        </p:spPr>
        <p:txBody>
          <a:bodyPr wrap="square" rtlCol="0" anchor="t">
            <a:spAutoFit/>
          </a:bodyPr>
          <a:p>
            <a:r>
              <a:rPr lang="fr-BE" sz="2800">
                <a:solidFill>
                  <a:schemeClr val="bg1"/>
                </a:solidFill>
              </a:rPr>
              <a:t>on peut ajouter  d’autre capteur mais  ce que on utilisé c’est essentiel </a:t>
            </a:r>
            <a:endParaRPr lang="fr-BE" sz="2800">
              <a:solidFill>
                <a:schemeClr val="bg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1"/>
          <p:cNvPicPr>
            <a:picLocks noChangeAspect="1"/>
          </p:cNvPicPr>
          <p:nvPr/>
        </p:nvPicPr>
        <p:blipFill>
          <a:blip r:embed="rId1"/>
          <a:stretch>
            <a:fillRect/>
          </a:stretch>
        </p:blipFill>
        <p:spPr>
          <a:xfrm>
            <a:off x="1869440" y="1188085"/>
            <a:ext cx="10173335" cy="6675120"/>
          </a:xfrm>
          <a:prstGeom prst="rect">
            <a:avLst/>
          </a:prstGeom>
        </p:spPr>
      </p:pic>
      <p:sp>
        <p:nvSpPr>
          <p:cNvPr id="2" name="Zone de texte 1"/>
          <p:cNvSpPr txBox="1"/>
          <p:nvPr/>
        </p:nvSpPr>
        <p:spPr>
          <a:xfrm>
            <a:off x="2207260" y="414655"/>
            <a:ext cx="7315200" cy="583565"/>
          </a:xfrm>
          <a:prstGeom prst="rect">
            <a:avLst/>
          </a:prstGeom>
          <a:noFill/>
        </p:spPr>
        <p:txBody>
          <a:bodyPr wrap="square" rtlCol="0" anchor="t">
            <a:spAutoFit/>
          </a:bodyPr>
          <a:p>
            <a:pPr>
              <a:buNone/>
            </a:pPr>
            <a:r>
              <a:rPr lang="fr-BE" altLang="fr-CA" sz="3200">
                <a:solidFill>
                  <a:srgbClr val="C00000"/>
                </a:solidFill>
                <a:sym typeface="+mn-ea"/>
              </a:rPr>
              <a:t>le MACHINE LEARNING </a:t>
            </a:r>
            <a:endParaRPr lang="fr-BE" altLang="fr-CA" sz="3200">
              <a:solidFill>
                <a:srgbClr val="C00000"/>
              </a:solidFill>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3"/>
          <p:cNvPicPr>
            <a:picLocks noChangeAspect="1"/>
          </p:cNvPicPr>
          <p:nvPr/>
        </p:nvPicPr>
        <p:blipFill>
          <a:blip r:embed="rId1"/>
          <a:stretch>
            <a:fillRect/>
          </a:stretch>
        </p:blipFill>
        <p:spPr>
          <a:xfrm>
            <a:off x="2205355" y="568960"/>
            <a:ext cx="10220325" cy="709168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5"/>
          <p:cNvPicPr>
            <a:picLocks noChangeAspect="1"/>
          </p:cNvPicPr>
          <p:nvPr/>
        </p:nvPicPr>
        <p:blipFill>
          <a:blip r:embed="rId1"/>
          <a:stretch>
            <a:fillRect/>
          </a:stretch>
        </p:blipFill>
        <p:spPr>
          <a:xfrm>
            <a:off x="1567815" y="426720"/>
            <a:ext cx="10655300" cy="712660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4"/>
          <p:cNvPicPr>
            <a:picLocks noChangeAspect="1"/>
          </p:cNvPicPr>
          <p:nvPr/>
        </p:nvPicPr>
        <p:blipFill>
          <a:blip r:embed="rId1"/>
          <a:stretch>
            <a:fillRect/>
          </a:stretch>
        </p:blipFill>
        <p:spPr>
          <a:xfrm>
            <a:off x="2294890" y="845820"/>
            <a:ext cx="9605010" cy="725233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p:cNvPicPr>
            <a:picLocks noChangeAspect="1"/>
          </p:cNvPicPr>
          <p:nvPr/>
        </p:nvPicPr>
        <p:blipFill>
          <a:blip r:embed="rId1"/>
          <a:stretch>
            <a:fillRect/>
          </a:stretch>
        </p:blipFill>
        <p:spPr>
          <a:xfrm>
            <a:off x="1164590" y="737870"/>
            <a:ext cx="11203940" cy="5307330"/>
          </a:xfrm>
          <a:prstGeom prst="rect">
            <a:avLst/>
          </a:prstGeom>
        </p:spPr>
      </p:pic>
      <p:sp>
        <p:nvSpPr>
          <p:cNvPr id="3" name="Zone de texte 2"/>
          <p:cNvSpPr txBox="1"/>
          <p:nvPr/>
        </p:nvSpPr>
        <p:spPr>
          <a:xfrm>
            <a:off x="1339850" y="154305"/>
            <a:ext cx="7315200" cy="583565"/>
          </a:xfrm>
          <a:prstGeom prst="rect">
            <a:avLst/>
          </a:prstGeom>
          <a:noFill/>
        </p:spPr>
        <p:txBody>
          <a:bodyPr wrap="square" rtlCol="0" anchor="t">
            <a:spAutoFit/>
          </a:bodyPr>
          <a:p>
            <a:pPr>
              <a:buNone/>
            </a:pPr>
            <a:r>
              <a:rPr lang="fr-BE" altLang="fr-CA" sz="3200">
                <a:solidFill>
                  <a:srgbClr val="C00000"/>
                </a:solidFill>
                <a:sym typeface="+mn-ea"/>
              </a:rPr>
              <a:t>DEEP LEARNING </a:t>
            </a:r>
            <a:endParaRPr lang="fr-BE" altLang="fr-CA" sz="3200">
              <a:solidFill>
                <a:srgbClr val="C00000"/>
              </a:solidFill>
              <a:sym typeface="+mn-ea"/>
            </a:endParaRPr>
          </a:p>
        </p:txBody>
      </p:sp>
      <p:sp>
        <p:nvSpPr>
          <p:cNvPr id="4" name="Zone de texte 3"/>
          <p:cNvSpPr txBox="1"/>
          <p:nvPr/>
        </p:nvSpPr>
        <p:spPr>
          <a:xfrm>
            <a:off x="1180465" y="6045200"/>
            <a:ext cx="12417425" cy="2519045"/>
          </a:xfrm>
          <a:prstGeom prst="rect">
            <a:avLst/>
          </a:prstGeom>
          <a:noFill/>
        </p:spPr>
        <p:txBody>
          <a:bodyPr wrap="square" rtlCol="0" anchor="t">
            <a:noAutofit/>
          </a:bodyPr>
          <a:p>
            <a:pPr>
              <a:buNone/>
            </a:pPr>
            <a:r>
              <a:rPr lang="en-US" altLang="fr-CA" sz="2800">
                <a:solidFill>
                  <a:schemeClr val="bg1"/>
                </a:solidFill>
                <a:sym typeface="+mn-ea"/>
              </a:rPr>
              <a:t>Dans la reconnaissance faciale, le deep learning est utilis</a:t>
            </a:r>
            <a:r>
              <a:rPr lang="en-US" altLang="en-US" sz="2800">
                <a:solidFill>
                  <a:schemeClr val="bg1"/>
                </a:solidFill>
                <a:sym typeface="+mn-ea"/>
              </a:rPr>
              <a:t>é</a:t>
            </a:r>
            <a:r>
              <a:rPr lang="en-US" altLang="fr-CA" sz="2800">
                <a:solidFill>
                  <a:schemeClr val="bg1"/>
                </a:solidFill>
                <a:sym typeface="+mn-ea"/>
              </a:rPr>
              <a:t> pour identifier et authentifier les visages avec une grande pr</a:t>
            </a:r>
            <a:r>
              <a:rPr lang="en-US" altLang="en-US" sz="2800">
                <a:solidFill>
                  <a:schemeClr val="bg1"/>
                </a:solidFill>
                <a:sym typeface="+mn-ea"/>
              </a:rPr>
              <a:t>é</a:t>
            </a:r>
            <a:r>
              <a:rPr lang="en-US" altLang="fr-CA" sz="2800">
                <a:solidFill>
                  <a:schemeClr val="bg1"/>
                </a:solidFill>
                <a:sym typeface="+mn-ea"/>
              </a:rPr>
              <a:t>cision. Les r</a:t>
            </a:r>
            <a:r>
              <a:rPr lang="en-US" altLang="en-US" sz="2800">
                <a:solidFill>
                  <a:schemeClr val="bg1"/>
                </a:solidFill>
                <a:sym typeface="+mn-ea"/>
              </a:rPr>
              <a:t>é</a:t>
            </a:r>
            <a:r>
              <a:rPr lang="en-US" altLang="fr-CA" sz="2800">
                <a:solidFill>
                  <a:schemeClr val="bg1"/>
                </a:solidFill>
                <a:sym typeface="+mn-ea"/>
              </a:rPr>
              <a:t>seaux neuronaux analysent les traits du visage et les comparent à une base de donn</a:t>
            </a:r>
            <a:r>
              <a:rPr lang="en-US" altLang="en-US" sz="2800">
                <a:solidFill>
                  <a:schemeClr val="bg1"/>
                </a:solidFill>
                <a:sym typeface="+mn-ea"/>
              </a:rPr>
              <a:t>é</a:t>
            </a:r>
            <a:r>
              <a:rPr lang="en-US" altLang="fr-CA" sz="2800">
                <a:solidFill>
                  <a:schemeClr val="bg1"/>
                </a:solidFill>
                <a:sym typeface="+mn-ea"/>
              </a:rPr>
              <a:t>es pour reconna</a:t>
            </a:r>
            <a:r>
              <a:rPr lang="en-US" altLang="en-US" sz="2800">
                <a:solidFill>
                  <a:schemeClr val="bg1"/>
                </a:solidFill>
                <a:sym typeface="+mn-ea"/>
              </a:rPr>
              <a:t>î</a:t>
            </a:r>
            <a:r>
              <a:rPr lang="en-US" altLang="fr-CA" sz="2800">
                <a:solidFill>
                  <a:schemeClr val="bg1"/>
                </a:solidFill>
                <a:sym typeface="+mn-ea"/>
              </a:rPr>
              <a:t>tre une personne. Cette technologie est utilis</a:t>
            </a:r>
            <a:r>
              <a:rPr lang="en-US" altLang="en-US" sz="2800">
                <a:solidFill>
                  <a:schemeClr val="bg1"/>
                </a:solidFill>
                <a:sym typeface="+mn-ea"/>
              </a:rPr>
              <a:t>é</a:t>
            </a:r>
            <a:r>
              <a:rPr lang="en-US" altLang="fr-CA" sz="2800">
                <a:solidFill>
                  <a:schemeClr val="bg1"/>
                </a:solidFill>
                <a:sym typeface="+mn-ea"/>
              </a:rPr>
              <a:t>e dans les syst</a:t>
            </a:r>
            <a:r>
              <a:rPr lang="en-US" altLang="en-US" sz="2800">
                <a:solidFill>
                  <a:schemeClr val="bg1"/>
                </a:solidFill>
                <a:sym typeface="+mn-ea"/>
              </a:rPr>
              <a:t>è</a:t>
            </a:r>
            <a:r>
              <a:rPr lang="en-US" altLang="fr-CA" sz="2800">
                <a:solidFill>
                  <a:schemeClr val="bg1"/>
                </a:solidFill>
                <a:sym typeface="+mn-ea"/>
              </a:rPr>
              <a:t>mes de s</a:t>
            </a:r>
            <a:r>
              <a:rPr lang="en-US" altLang="en-US" sz="2800">
                <a:solidFill>
                  <a:schemeClr val="bg1"/>
                </a:solidFill>
                <a:sym typeface="+mn-ea"/>
              </a:rPr>
              <a:t>é</a:t>
            </a:r>
            <a:r>
              <a:rPr lang="en-US" altLang="fr-CA" sz="2800">
                <a:solidFill>
                  <a:schemeClr val="bg1"/>
                </a:solidFill>
                <a:sym typeface="+mn-ea"/>
              </a:rPr>
              <a:t>curit</a:t>
            </a:r>
            <a:r>
              <a:rPr lang="en-US" altLang="en-US" sz="2800">
                <a:solidFill>
                  <a:schemeClr val="bg1"/>
                </a:solidFill>
                <a:sym typeface="+mn-ea"/>
              </a:rPr>
              <a:t>é</a:t>
            </a:r>
            <a:r>
              <a:rPr lang="en-US" altLang="fr-CA" sz="2800">
                <a:solidFill>
                  <a:schemeClr val="bg1"/>
                </a:solidFill>
                <a:sym typeface="+mn-ea"/>
              </a:rPr>
              <a:t>, les t</a:t>
            </a:r>
            <a:r>
              <a:rPr lang="en-US" altLang="en-US" sz="2800">
                <a:solidFill>
                  <a:schemeClr val="bg1"/>
                </a:solidFill>
                <a:sym typeface="+mn-ea"/>
              </a:rPr>
              <a:t>é</a:t>
            </a:r>
            <a:r>
              <a:rPr lang="en-US" altLang="fr-CA" sz="2800">
                <a:solidFill>
                  <a:schemeClr val="bg1"/>
                </a:solidFill>
                <a:sym typeface="+mn-ea"/>
              </a:rPr>
              <a:t>l</a:t>
            </a:r>
            <a:r>
              <a:rPr lang="en-US" altLang="en-US" sz="2800">
                <a:solidFill>
                  <a:schemeClr val="bg1"/>
                </a:solidFill>
                <a:sym typeface="+mn-ea"/>
              </a:rPr>
              <a:t>é</a:t>
            </a:r>
            <a:r>
              <a:rPr lang="en-US" altLang="fr-CA" sz="2800">
                <a:solidFill>
                  <a:schemeClr val="bg1"/>
                </a:solidFill>
                <a:sym typeface="+mn-ea"/>
              </a:rPr>
              <a:t>phones et m</a:t>
            </a:r>
            <a:r>
              <a:rPr lang="en-US" altLang="en-US" sz="2800">
                <a:solidFill>
                  <a:schemeClr val="bg1"/>
                </a:solidFill>
                <a:sym typeface="+mn-ea"/>
              </a:rPr>
              <a:t>ê</a:t>
            </a:r>
            <a:r>
              <a:rPr lang="en-US" altLang="fr-CA" sz="2800">
                <a:solidFill>
                  <a:schemeClr val="bg1"/>
                </a:solidFill>
                <a:sym typeface="+mn-ea"/>
              </a:rPr>
              <a:t>me dans certaines applications de surveillance.</a:t>
            </a:r>
            <a:endParaRPr lang="en-US" altLang="fr-CA" sz="2800">
              <a:solidFill>
                <a:schemeClr val="bg1"/>
              </a:solidFill>
              <a:sym typeface="+mn-ea"/>
            </a:endParaRPr>
          </a:p>
          <a:p>
            <a:pPr>
              <a:buNone/>
            </a:pPr>
            <a:endParaRPr lang="en-US" altLang="fr-CA">
              <a:solidFill>
                <a:schemeClr val="bg1"/>
              </a:solidFill>
              <a:sym typeface="+mn-ea"/>
            </a:endParaRPr>
          </a:p>
          <a:p>
            <a:pPr>
              <a:buNone/>
            </a:pPr>
            <a:endParaRPr lang="en-US" altLang="fr-CA">
              <a:solidFill>
                <a:schemeClr val="bg1"/>
              </a:solidFill>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p:cNvPicPr>
            <a:picLocks noChangeAspect="1"/>
          </p:cNvPicPr>
          <p:nvPr/>
        </p:nvPicPr>
        <p:blipFill>
          <a:blip r:embed="rId1"/>
          <a:stretch>
            <a:fillRect/>
          </a:stretch>
        </p:blipFill>
        <p:spPr>
          <a:xfrm>
            <a:off x="1617980" y="144145"/>
            <a:ext cx="10860405" cy="808545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Capture"/>
          <p:cNvPicPr>
            <a:picLocks noChangeAspect="1"/>
          </p:cNvPicPr>
          <p:nvPr/>
        </p:nvPicPr>
        <p:blipFill>
          <a:blip r:embed="rId1"/>
          <a:stretch>
            <a:fillRect/>
          </a:stretch>
        </p:blipFill>
        <p:spPr>
          <a:xfrm>
            <a:off x="419100" y="394335"/>
            <a:ext cx="13395960" cy="714502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50437" y="984409"/>
            <a:ext cx="7415927" cy="2057400"/>
          </a:xfrm>
          <a:prstGeom prst="rect">
            <a:avLst/>
          </a:prstGeom>
          <a:noFill/>
        </p:spPr>
        <p:txBody>
          <a:bodyPr wrap="square" lIns="0" tIns="0" rIns="0" bIns="0" rtlCol="0" anchor="t"/>
          <a:lstStyle/>
          <a:p>
            <a:pPr marL="0" indent="0">
              <a:lnSpc>
                <a:spcPts val="5400"/>
              </a:lnSpc>
              <a:buNone/>
            </a:pPr>
            <a:r>
              <a:rPr lang="en-US" altLang="fr-CA" sz="4300" b="1" dirty="0">
                <a:gradFill>
                  <a:gsLst>
                    <a:gs pos="0">
                      <a:srgbClr val="14CD68"/>
                    </a:gs>
                    <a:gs pos="100000">
                      <a:srgbClr val="0B6E38"/>
                    </a:gs>
                  </a:gsLst>
                  <a:lin scaled="0"/>
                </a:gradFill>
              </a:rPr>
              <a:t>Conclusion : Vers une Maison Plus Durable gr</a:t>
            </a:r>
            <a:r>
              <a:rPr lang="en-US" altLang="en-US" sz="4300" b="1" dirty="0">
                <a:gradFill>
                  <a:gsLst>
                    <a:gs pos="0">
                      <a:srgbClr val="14CD68"/>
                    </a:gs>
                    <a:gs pos="100000">
                      <a:srgbClr val="0B6E38"/>
                    </a:gs>
                  </a:gsLst>
                  <a:lin scaled="0"/>
                </a:gradFill>
              </a:rPr>
              <a:t>â</a:t>
            </a:r>
            <a:r>
              <a:rPr lang="en-US" altLang="fr-CA" sz="4300" b="1" dirty="0">
                <a:gradFill>
                  <a:gsLst>
                    <a:gs pos="0">
                      <a:srgbClr val="14CD68"/>
                    </a:gs>
                    <a:gs pos="100000">
                      <a:srgbClr val="0B6E38"/>
                    </a:gs>
                  </a:gsLst>
                  <a:lin scaled="0"/>
                </a:gradFill>
              </a:rPr>
              <a:t>ce à l'IoT</a:t>
            </a:r>
            <a:endParaRPr lang="en-US" altLang="fr-CA" sz="4300" b="1" dirty="0">
              <a:gradFill>
                <a:gsLst>
                  <a:gs pos="0">
                    <a:srgbClr val="14CD68"/>
                  </a:gs>
                  <a:gs pos="100000">
                    <a:srgbClr val="0B6E38"/>
                  </a:gs>
                </a:gsLst>
                <a:lin scaled="0"/>
              </a:gradFill>
            </a:endParaRPr>
          </a:p>
        </p:txBody>
      </p:sp>
      <p:sp>
        <p:nvSpPr>
          <p:cNvPr id="4" name="Text 1"/>
          <p:cNvSpPr/>
          <p:nvPr/>
        </p:nvSpPr>
        <p:spPr>
          <a:xfrm>
            <a:off x="6350437" y="3412093"/>
            <a:ext cx="7415927" cy="1975247"/>
          </a:xfrm>
          <a:prstGeom prst="rect">
            <a:avLst/>
          </a:prstGeom>
          <a:noFill/>
        </p:spPr>
        <p:txBody>
          <a:bodyPr wrap="square" lIns="0" tIns="0" rIns="0" bIns="0" rtlCol="0" anchor="t"/>
          <a:lstStyle/>
          <a:p>
            <a:pPr marL="0" indent="0">
              <a:lnSpc>
                <a:spcPts val="3100"/>
              </a:lnSpc>
              <a:buNone/>
            </a:pPr>
            <a:r>
              <a:rPr lang="en-US" sz="1900" dirty="0">
                <a:solidFill>
                  <a:srgbClr val="E0E4E6"/>
                </a:solidFill>
                <a:latin typeface="Barlow" panose="00000800000000000000" pitchFamily="34" charset="0"/>
                <a:ea typeface="Barlow" panose="00000800000000000000" pitchFamily="34" charset="-122"/>
                <a:cs typeface="Barlow" panose="00000800000000000000" pitchFamily="34" charset="-120"/>
              </a:rPr>
              <a:t>L'IoT représente un potentiel immense pour rendre nos maisons plus intelligentes, plus écologiques et plus durables. En connectant des appareils et des systèmes, l'IoT permet d'optimiser la consommation d'énergie, de réduire les coûts et de minimiser l'impact environnemental.</a:t>
            </a:r>
            <a:endParaRPr lang="en-US" sz="1900" dirty="0"/>
          </a:p>
        </p:txBody>
      </p:sp>
      <p:sp>
        <p:nvSpPr>
          <p:cNvPr id="5" name="Text 2"/>
          <p:cNvSpPr/>
          <p:nvPr/>
        </p:nvSpPr>
        <p:spPr>
          <a:xfrm>
            <a:off x="6350437" y="5664994"/>
            <a:ext cx="7415927" cy="1580198"/>
          </a:xfrm>
          <a:prstGeom prst="rect">
            <a:avLst/>
          </a:prstGeom>
          <a:noFill/>
        </p:spPr>
        <p:txBody>
          <a:bodyPr wrap="square" lIns="0" tIns="0" rIns="0" bIns="0" rtlCol="0" anchor="t"/>
          <a:lstStyle/>
          <a:p>
            <a:pPr marL="0" indent="0">
              <a:lnSpc>
                <a:spcPts val="3100"/>
              </a:lnSpc>
              <a:buNone/>
            </a:pPr>
            <a:r>
              <a:rPr lang="en-US" sz="1900" dirty="0">
                <a:solidFill>
                  <a:srgbClr val="E0E4E6"/>
                </a:solidFill>
                <a:latin typeface="Barlow" panose="00000800000000000000" pitchFamily="34" charset="0"/>
                <a:ea typeface="Barlow" panose="00000800000000000000" pitchFamily="34" charset="-122"/>
                <a:cs typeface="Barlow" panose="00000800000000000000" pitchFamily="34" charset="-120"/>
              </a:rPr>
              <a:t>En adoptant une approche réfléchie et en tenant compte des risques et des enjeux liés à cette technologie, nous pouvons profiter pleinement des avantages de l'IoT pour construire des maisons plus confortables, plus sûres et plus respectueuses de l'environnement.</a:t>
            </a:r>
            <a:endParaRPr lang="en-US" sz="1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4037" y="1099423"/>
            <a:ext cx="5486400" cy="685800"/>
          </a:xfrm>
          <a:prstGeom prst="rect">
            <a:avLst/>
          </a:prstGeom>
          <a:noFill/>
        </p:spPr>
        <p:txBody>
          <a:bodyPr wrap="none" lIns="0" tIns="0" rIns="0" bIns="0" rtlCol="0" anchor="t"/>
          <a:lstStyle/>
          <a:p>
            <a:pPr marL="0" indent="0" algn="l">
              <a:lnSpc>
                <a:spcPts val="5400"/>
              </a:lnSpc>
              <a:buNone/>
            </a:pPr>
            <a:r>
              <a:rPr lang="en-US" altLang="fr-CA" sz="4300" b="1" dirty="0">
                <a:gradFill>
                  <a:gsLst>
                    <a:gs pos="0">
                      <a:srgbClr val="14CD68"/>
                    </a:gs>
                    <a:gs pos="100000">
                      <a:srgbClr val="0B6E38"/>
                    </a:gs>
                  </a:gsLst>
                  <a:lin scaled="0"/>
                </a:gradFill>
              </a:rPr>
              <a:t>Recommandations</a:t>
            </a:r>
            <a:endParaRPr lang="en-US" altLang="fr-CA" sz="4300" b="1" dirty="0">
              <a:gradFill>
                <a:gsLst>
                  <a:gs pos="0">
                    <a:srgbClr val="14CD68"/>
                  </a:gs>
                  <a:gs pos="100000">
                    <a:srgbClr val="0B6E38"/>
                  </a:gs>
                </a:gsLst>
                <a:lin scaled="0"/>
              </a:gradFill>
            </a:endParaRPr>
          </a:p>
        </p:txBody>
      </p:sp>
      <p:sp>
        <p:nvSpPr>
          <p:cNvPr id="3" name="Text 1"/>
          <p:cNvSpPr/>
          <p:nvPr/>
        </p:nvSpPr>
        <p:spPr>
          <a:xfrm>
            <a:off x="864037" y="2278975"/>
            <a:ext cx="12902327" cy="790099"/>
          </a:xfrm>
          <a:prstGeom prst="rect">
            <a:avLst/>
          </a:prstGeom>
          <a:noFill/>
        </p:spPr>
        <p:txBody>
          <a:bodyPr wrap="square" lIns="0" tIns="0" rIns="0" bIns="0" rtlCol="0" anchor="t"/>
          <a:lstStyle/>
          <a:p>
            <a:pPr marL="0" indent="0">
              <a:lnSpc>
                <a:spcPts val="3100"/>
              </a:lnSpc>
              <a:buNone/>
            </a:pPr>
            <a:r>
              <a:rPr lang="en-US" sz="1900" dirty="0">
                <a:solidFill>
                  <a:srgbClr val="E0E4E6"/>
                </a:solidFill>
                <a:latin typeface="Barlow" panose="00000800000000000000" pitchFamily="34" charset="0"/>
                <a:ea typeface="Barlow" panose="00000800000000000000" pitchFamily="34" charset="-122"/>
                <a:cs typeface="Barlow" panose="00000800000000000000" pitchFamily="34" charset="-120"/>
              </a:rPr>
              <a:t>Pour tirer le meilleur parti de l'IoT pour une maison intelligente et une gestion énergétique optimisée, voici quelques recommandations clés:</a:t>
            </a:r>
            <a:endParaRPr lang="en-US" sz="1900" dirty="0"/>
          </a:p>
        </p:txBody>
      </p:sp>
      <p:sp>
        <p:nvSpPr>
          <p:cNvPr id="4" name="Text 2"/>
          <p:cNvSpPr/>
          <p:nvPr/>
        </p:nvSpPr>
        <p:spPr>
          <a:xfrm>
            <a:off x="864037" y="3346728"/>
            <a:ext cx="12902327" cy="395049"/>
          </a:xfrm>
          <a:prstGeom prst="rect">
            <a:avLst/>
          </a:prstGeom>
          <a:noFill/>
        </p:spPr>
        <p:txBody>
          <a:bodyPr wrap="none" lIns="0" tIns="0" rIns="0" bIns="0" rtlCol="0" anchor="t"/>
          <a:lstStyle/>
          <a:p>
            <a:pPr marL="342900" indent="-342900">
              <a:lnSpc>
                <a:spcPts val="3100"/>
              </a:lnSpc>
              <a:buSzPct val="100000"/>
              <a:buChar char="•"/>
            </a:pPr>
            <a:r>
              <a:rPr lang="en-US" sz="1900" dirty="0">
                <a:solidFill>
                  <a:srgbClr val="E0E4E6"/>
                </a:solidFill>
                <a:latin typeface="Barlow" panose="00000800000000000000" pitchFamily="34" charset="0"/>
                <a:ea typeface="Barlow" panose="00000800000000000000" pitchFamily="34" charset="-122"/>
                <a:cs typeface="Barlow" panose="00000800000000000000" pitchFamily="34" charset="-120"/>
              </a:rPr>
              <a:t>Comprendre vos besoins et vos objectifs.</a:t>
            </a:r>
            <a:endParaRPr lang="en-US" sz="1900" dirty="0"/>
          </a:p>
        </p:txBody>
      </p:sp>
      <p:sp>
        <p:nvSpPr>
          <p:cNvPr id="5" name="Text 3"/>
          <p:cNvSpPr/>
          <p:nvPr/>
        </p:nvSpPr>
        <p:spPr>
          <a:xfrm>
            <a:off x="864037" y="3828098"/>
            <a:ext cx="12902327" cy="395049"/>
          </a:xfrm>
          <a:prstGeom prst="rect">
            <a:avLst/>
          </a:prstGeom>
          <a:noFill/>
        </p:spPr>
        <p:txBody>
          <a:bodyPr wrap="none" lIns="0" tIns="0" rIns="0" bIns="0" rtlCol="0" anchor="t"/>
          <a:lstStyle/>
          <a:p>
            <a:pPr marL="342900" indent="-342900">
              <a:lnSpc>
                <a:spcPts val="3100"/>
              </a:lnSpc>
              <a:buSzPct val="100000"/>
              <a:buChar char="•"/>
            </a:pPr>
            <a:r>
              <a:rPr lang="en-US" sz="1900" dirty="0">
                <a:solidFill>
                  <a:srgbClr val="E0E4E6"/>
                </a:solidFill>
                <a:latin typeface="Barlow" panose="00000800000000000000" pitchFamily="34" charset="0"/>
                <a:ea typeface="Barlow" panose="00000800000000000000" pitchFamily="34" charset="-122"/>
                <a:cs typeface="Barlow" panose="00000800000000000000" pitchFamily="34" charset="-120"/>
              </a:rPr>
              <a:t>Choisir des appareils et des systèmes compatibles et interopérables.</a:t>
            </a:r>
            <a:endParaRPr lang="en-US" sz="1900" dirty="0"/>
          </a:p>
        </p:txBody>
      </p:sp>
      <p:sp>
        <p:nvSpPr>
          <p:cNvPr id="6" name="Text 4"/>
          <p:cNvSpPr/>
          <p:nvPr/>
        </p:nvSpPr>
        <p:spPr>
          <a:xfrm>
            <a:off x="864037" y="4309467"/>
            <a:ext cx="12902327" cy="395049"/>
          </a:xfrm>
          <a:prstGeom prst="rect">
            <a:avLst/>
          </a:prstGeom>
          <a:noFill/>
        </p:spPr>
        <p:txBody>
          <a:bodyPr wrap="none" lIns="0" tIns="0" rIns="0" bIns="0" rtlCol="0" anchor="t"/>
          <a:lstStyle/>
          <a:p>
            <a:pPr marL="342900" indent="-342900">
              <a:lnSpc>
                <a:spcPts val="3100"/>
              </a:lnSpc>
              <a:buSzPct val="100000"/>
              <a:buChar char="•"/>
            </a:pPr>
            <a:r>
              <a:rPr lang="en-US" sz="1900" dirty="0">
                <a:solidFill>
                  <a:srgbClr val="E0E4E6"/>
                </a:solidFill>
                <a:latin typeface="Barlow" panose="00000800000000000000" pitchFamily="34" charset="0"/>
                <a:ea typeface="Barlow" panose="00000800000000000000" pitchFamily="34" charset="-122"/>
                <a:cs typeface="Barlow" panose="00000800000000000000" pitchFamily="34" charset="-120"/>
              </a:rPr>
              <a:t>Prioriser la sécurité et la confidentialité des données.</a:t>
            </a:r>
            <a:endParaRPr lang="en-US" sz="1900" dirty="0"/>
          </a:p>
        </p:txBody>
      </p:sp>
      <p:sp>
        <p:nvSpPr>
          <p:cNvPr id="7" name="Text 5"/>
          <p:cNvSpPr/>
          <p:nvPr/>
        </p:nvSpPr>
        <p:spPr>
          <a:xfrm>
            <a:off x="864037" y="4790837"/>
            <a:ext cx="12902327" cy="395049"/>
          </a:xfrm>
          <a:prstGeom prst="rect">
            <a:avLst/>
          </a:prstGeom>
          <a:noFill/>
        </p:spPr>
        <p:txBody>
          <a:bodyPr wrap="none" lIns="0" tIns="0" rIns="0" bIns="0" rtlCol="0" anchor="t"/>
          <a:lstStyle/>
          <a:p>
            <a:pPr marL="342900" indent="-342900">
              <a:lnSpc>
                <a:spcPts val="3100"/>
              </a:lnSpc>
              <a:buSzPct val="100000"/>
              <a:buChar char="•"/>
            </a:pPr>
            <a:r>
              <a:rPr lang="en-US" sz="1900" dirty="0">
                <a:solidFill>
                  <a:srgbClr val="E0E4E6"/>
                </a:solidFill>
                <a:latin typeface="Barlow" panose="00000800000000000000" pitchFamily="34" charset="0"/>
                <a:ea typeface="Barlow" panose="00000800000000000000" pitchFamily="34" charset="-122"/>
                <a:cs typeface="Barlow" panose="00000800000000000000" pitchFamily="34" charset="-120"/>
              </a:rPr>
              <a:t>S'informer sur les options disponibles et les coûts associés.</a:t>
            </a:r>
            <a:endParaRPr lang="en-US" sz="1900" dirty="0"/>
          </a:p>
        </p:txBody>
      </p:sp>
      <p:sp>
        <p:nvSpPr>
          <p:cNvPr id="8" name="Text 6"/>
          <p:cNvSpPr/>
          <p:nvPr/>
        </p:nvSpPr>
        <p:spPr>
          <a:xfrm>
            <a:off x="864037" y="5272207"/>
            <a:ext cx="12902327" cy="395049"/>
          </a:xfrm>
          <a:prstGeom prst="rect">
            <a:avLst/>
          </a:prstGeom>
          <a:noFill/>
        </p:spPr>
        <p:txBody>
          <a:bodyPr wrap="none" lIns="0" tIns="0" rIns="0" bIns="0" rtlCol="0" anchor="t"/>
          <a:lstStyle/>
          <a:p>
            <a:pPr marL="342900" indent="-342900">
              <a:lnSpc>
                <a:spcPts val="3100"/>
              </a:lnSpc>
              <a:buSzPct val="100000"/>
              <a:buChar char="•"/>
            </a:pPr>
            <a:r>
              <a:rPr lang="en-US" sz="1900" dirty="0">
                <a:solidFill>
                  <a:srgbClr val="E0E4E6"/>
                </a:solidFill>
                <a:latin typeface="Barlow" panose="00000800000000000000" pitchFamily="34" charset="0"/>
                <a:ea typeface="Barlow" panose="00000800000000000000" pitchFamily="34" charset="-122"/>
                <a:cs typeface="Barlow" panose="00000800000000000000" pitchFamily="34" charset="-120"/>
              </a:rPr>
              <a:t>Adopter une approche progressive et commencer par des solutions simples et faciles à mettre en œuvre.</a:t>
            </a:r>
            <a:endParaRPr lang="en-US" sz="1900" dirty="0"/>
          </a:p>
        </p:txBody>
      </p:sp>
      <p:sp>
        <p:nvSpPr>
          <p:cNvPr id="9" name="Text 7"/>
          <p:cNvSpPr/>
          <p:nvPr/>
        </p:nvSpPr>
        <p:spPr>
          <a:xfrm>
            <a:off x="864037" y="5944910"/>
            <a:ext cx="12902327" cy="1185148"/>
          </a:xfrm>
          <a:prstGeom prst="rect">
            <a:avLst/>
          </a:prstGeom>
          <a:noFill/>
        </p:spPr>
        <p:txBody>
          <a:bodyPr wrap="square" lIns="0" tIns="0" rIns="0" bIns="0" rtlCol="0" anchor="t"/>
          <a:lstStyle/>
          <a:p>
            <a:pPr marL="0" indent="0">
              <a:lnSpc>
                <a:spcPts val="3100"/>
              </a:lnSpc>
              <a:buNone/>
            </a:pPr>
            <a:r>
              <a:rPr lang="en-US" sz="1900" dirty="0">
                <a:solidFill>
                  <a:srgbClr val="E0E4E6"/>
                </a:solidFill>
                <a:latin typeface="Barlow" panose="00000800000000000000" pitchFamily="34" charset="0"/>
                <a:ea typeface="Barlow" panose="00000800000000000000" pitchFamily="34" charset="-122"/>
                <a:cs typeface="Barlow" panose="00000800000000000000" pitchFamily="34" charset="-120"/>
              </a:rPr>
              <a:t>L'IoT est en constante évolution, offrant de nouvelles possibilités pour améliorer nos vies et nos maisons. En restant informés et en adoptant une approche réfléchie, nous pouvons profiter des avantages de cette technologie pour créer des espaces de vie plus intelligents, plus confortables et plus durables.</a:t>
            </a:r>
            <a:endParaRPr lang="en-US" sz="1900" dirty="0"/>
          </a:p>
        </p:txBody>
      </p:sp>
    </p:spTree>
  </p:cSld>
  <p:clrMapOvr>
    <a:masterClrMapping/>
  </p:clrMapOvr>
</p:sld>
</file>

<file path=ppt/tags/tag1.xml><?xml version="1.0" encoding="utf-8"?>
<p:tagLst xmlns:p="http://schemas.openxmlformats.org/presentationml/2006/main">
  <p:tag name="TABLE_ENDDRAG_ORIGIN_RECT" val="671*618"/>
  <p:tag name="TABLE_ENDDRAG_RECT" val="11*11*671*61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15537</Words>
  <Application>WPS Presentation</Application>
  <PresentationFormat>On-screen Show (16:9)</PresentationFormat>
  <Paragraphs>456</Paragraphs>
  <Slides>33</Slides>
  <Notes>10</Notes>
  <HiddenSlides>0</HiddenSlides>
  <MMClips>0</MMClips>
  <ScaleCrop>false</ScaleCrop>
  <HeadingPairs>
    <vt:vector size="6" baseType="variant">
      <vt:variant>
        <vt:lpstr>已用的字体</vt:lpstr>
      </vt:variant>
      <vt:variant>
        <vt:i4>19</vt:i4>
      </vt:variant>
      <vt:variant>
        <vt:lpstr>主题</vt:lpstr>
      </vt:variant>
      <vt:variant>
        <vt:i4>2</vt:i4>
      </vt:variant>
      <vt:variant>
        <vt:lpstr>幻灯片标题</vt:lpstr>
      </vt:variant>
      <vt:variant>
        <vt:i4>33</vt:i4>
      </vt:variant>
    </vt:vector>
  </HeadingPairs>
  <TitlesOfParts>
    <vt:vector size="54" baseType="lpstr">
      <vt:lpstr>Arial</vt:lpstr>
      <vt:lpstr>SimSun</vt:lpstr>
      <vt:lpstr>Wingdings</vt:lpstr>
      <vt:lpstr>Barlow</vt:lpstr>
      <vt:lpstr>Barlow</vt:lpstr>
      <vt:lpstr>Barlow</vt:lpstr>
      <vt:lpstr>Spline Sans Bold</vt:lpstr>
      <vt:lpstr>AMGDT</vt:lpstr>
      <vt:lpstr>Spline Sans Bold</vt:lpstr>
      <vt:lpstr>Spline Sans Bold</vt:lpstr>
      <vt:lpstr>Calibri</vt:lpstr>
      <vt:lpstr>Microsoft YaHei</vt:lpstr>
      <vt:lpstr>Arial Unicode MS</vt:lpstr>
      <vt:lpstr>Arial</vt:lpstr>
      <vt:lpstr>Source Sans Pro</vt:lpstr>
      <vt:lpstr>Source Sans Pro</vt:lpstr>
      <vt:lpstr>Source Sans Pro</vt:lpstr>
      <vt:lpstr>MingLiU-ExtB</vt:lpstr>
      <vt:lpstr>等线</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lattab fethi nedhale</cp:lastModifiedBy>
  <cp:revision>28</cp:revision>
  <dcterms:created xsi:type="dcterms:W3CDTF">2025-02-07T11:30:00Z</dcterms:created>
  <dcterms:modified xsi:type="dcterms:W3CDTF">2025-02-07T21:41:39Z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C6989C21940549E4A082D4BEE023C26D_13</vt:lpwstr>
  </property>
  <property fmtid="{D5CDD505-2E9C-101B-9397-08002B2CF9AE}" pid="3" name="KSOProductBuildVer">
    <vt:lpwstr>3084-12.2.0.19821</vt:lpwstr>
  </property>
</Properties>
</file>